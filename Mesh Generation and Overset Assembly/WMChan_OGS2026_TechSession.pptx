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65" r:id="rId3"/>
    <p:sldId id="257" r:id="rId4"/>
    <p:sldId id="292" r:id="rId5"/>
    <p:sldId id="290" r:id="rId6"/>
    <p:sldId id="319" r:id="rId7"/>
    <p:sldId id="320" r:id="rId8"/>
    <p:sldId id="331" r:id="rId9"/>
    <p:sldId id="325" r:id="rId10"/>
    <p:sldId id="328" r:id="rId11"/>
    <p:sldId id="324" r:id="rId12"/>
    <p:sldId id="330" r:id="rId13"/>
    <p:sldId id="329" r:id="rId14"/>
    <p:sldId id="260" r:id="rId15"/>
    <p:sldId id="307" r:id="rId16"/>
    <p:sldId id="323" r:id="rId17"/>
    <p:sldId id="326" r:id="rId18"/>
    <p:sldId id="316" r:id="rId19"/>
    <p:sldId id="332" r:id="rId20"/>
    <p:sldId id="317" r:id="rId21"/>
    <p:sldId id="318" r:id="rId22"/>
    <p:sldId id="280" r:id="rId23"/>
    <p:sldId id="28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95"/>
    <p:restoredTop sz="89863"/>
  </p:normalViewPr>
  <p:slideViewPr>
    <p:cSldViewPr snapToGrid="0" snapToObjects="1">
      <p:cViewPr varScale="1">
        <p:scale>
          <a:sx n="109" d="100"/>
          <a:sy n="109" d="100"/>
        </p:scale>
        <p:origin x="44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F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FC0BB4-6AAF-5E4C-928E-941C8DE98C53}" type="datetimeFigureOut">
              <a:rPr lang="en-AF" smtClean="0"/>
              <a:t>9/19/26</a:t>
            </a:fld>
            <a:endParaRPr lang="en-AF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F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F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F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841A3-4904-0B40-BE84-CF6702351754}" type="slidenum">
              <a:rPr lang="en-AF" smtClean="0"/>
              <a:t>‹#›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2643206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1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813225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2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3955181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3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396209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4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3253081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5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1999906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845BC-E634-BED7-0A91-98251A7A7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5FEC8-20CB-DDE1-5B02-798D51E67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206D3-6340-7F1C-DB4F-87822D63D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55CA5-5F65-CFEC-861B-CEDB1BE27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6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3806281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287E2-0152-C531-1826-BBC4D33BB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2FDF7-322A-D21B-6FA4-C05C0626F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873C5-AD04-85DE-BFE2-7701DA1DD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C1156-FA34-F2E4-E71D-FC8FD79A2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7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2498277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861C0-4D76-E8F0-78CA-8ADEBFC6A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6A4F11-55C0-6E50-AB5B-184B8E4CA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25714-E6CA-110E-6683-D49835B27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 easier to start with clean geometry input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847D8-269F-1674-5CD3-E9DFE05B3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8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1173092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1DBDD-2155-2940-EBFD-1E05871CB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61CED-3B4A-0C55-344F-9344449CA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23771F-8B30-08B6-C2C9-5FEFF82AB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E5A19-31E2-3C41-0741-4B97576FE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9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433911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9E49F-AE9F-A0C4-4DF1-618E432D3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FED3A-8C12-B2AB-1937-D34FF90FE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F48C7-E805-0360-1B84-C64DCDCF5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8120F-FF04-AAEB-846F-02FAA78EFE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10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995104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140C4-A19D-86DA-FD36-9AC6C4CA9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7746B-1AAF-CBAE-0F93-66DF7FBC4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5946C-548A-7245-1985-07C97AF57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5F28E-597B-79BB-363A-D59DA1978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11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4245719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42DBC-9BB7-4B51-73EF-DDE49190A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2DFC8-B220-67DD-CACE-FB6F5FEA7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E2FAF-C0FF-EF25-61E8-CDEB659BF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Automated algorithms exist for generating UVs starting from a surface triangulation (Mixed Integer Quadrangulation)</a:t>
            </a:r>
          </a:p>
          <a:p>
            <a:pPr marL="171450" indent="-171450">
              <a:buFontTx/>
              <a:buChar char="-"/>
            </a:pPr>
            <a:r>
              <a:rPr lang="en-US" dirty="0"/>
              <a:t>Here is an example of the poor quality UVs produced by </a:t>
            </a:r>
            <a:r>
              <a:rPr lang="en-US" dirty="0" err="1"/>
              <a:t>libigl</a:t>
            </a:r>
            <a:r>
              <a:rPr lang="en-US" dirty="0"/>
              <a:t> (a software used by companies like Adobe for geometry rendering)</a:t>
            </a:r>
          </a:p>
          <a:p>
            <a:pPr marL="171450" indent="-171450">
              <a:buFontTx/>
              <a:buChar char="-"/>
            </a:pPr>
            <a:r>
              <a:rPr lang="en-US" dirty="0"/>
              <a:t>Work is being done to study these methods and improve them for CFD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ABFEA-15B4-43D3-CF41-56155C3D2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12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3462438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6DA80-4185-2E6A-4BC9-25C05F3FD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7E445-1A53-D650-55E3-CC6005467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714E9-3EB0-5402-9038-E47EB96EC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A9868-65BB-308A-FDC2-9EE79BCDB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13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32632857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14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176871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463E5-4AA6-4D4A-1968-E85837844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2C864-16D7-00CE-BD37-47E28CEE6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F72B1-C304-F295-36D8-AC328D886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3DCF9-02AD-AFD2-05C1-A3C91786C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15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3878978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F01D9-1270-ECF5-2460-06FEE15E0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E97699-03FB-794D-3A19-B76439F5D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819E5-0143-8607-A610-B6286DCAA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2AB78-9A67-C6ED-97B8-A75EE9F040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16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19880252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2C949-35A8-A807-BF96-BDB2B9076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9F9B8-360B-E550-43C7-E974A6178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0D0C59-A9A1-F845-7726-0865617E6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3C374-1BE1-13E4-76E0-955CD28F9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17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21012403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2ECF6-AFB3-BABA-F938-F17CA7AEF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CA781-3D02-5EB7-958F-3E50EBB8F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C42807-2BF1-AFA3-D66A-8A27D51EB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04B9D-7E38-1EFF-3361-01A909562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18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25532290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9E15C-442C-F78D-9882-C2453DC88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70E3C-B888-E54A-4FD2-89C62E02B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8CFB1-2373-F656-06AD-992788E19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11553-DA5A-B395-AF7A-08EDC5080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19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29291607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24027-C0B4-64B6-06F6-C15146461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5FA3D-72F1-6F36-C031-7F1FB835C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4CBB0-074E-7240-1614-F040EF1BA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Geometry clean up</a:t>
            </a:r>
          </a:p>
          <a:p>
            <a:r>
              <a:rPr lang="en-US" dirty="0"/>
              <a:t>Manual meshing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7F36B-7F2A-D507-7D07-DF319E3A7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20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24205862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78540-F784-2190-7DF5-B3D718049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B947C-FE96-93B9-67C8-60E555684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62956-D1A4-6EF9-379E-A963680BC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EA825-6650-F0D2-B28F-18E3D89BB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21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30992779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22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11013862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841A3-4904-0B40-BE84-CF6702351754}" type="slidenum">
              <a:rPr lang="en-AF" smtClean="0"/>
              <a:t>23</a:t>
            </a:fld>
            <a:endParaRPr lang="en-AF"/>
          </a:p>
        </p:txBody>
      </p:sp>
    </p:spTree>
    <p:extLst>
      <p:ext uri="{BB962C8B-B14F-4D97-AF65-F5344CB8AC3E}">
        <p14:creationId xmlns:p14="http://schemas.microsoft.com/office/powerpoint/2010/main" val="471848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CF55-5885-BA47-9341-91AF2EFA5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1013"/>
            <a:ext cx="9144000" cy="815767"/>
          </a:xfrm>
        </p:spPr>
        <p:txBody>
          <a:bodyPr anchor="b">
            <a:normAutofit/>
          </a:bodyPr>
          <a:lstStyle>
            <a:lvl1pPr algn="ctr">
              <a:defRPr sz="2400" b="1" i="0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3E479C-49F9-D44E-A901-171B37BE9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15961-6464-7548-86D6-968F3D8B7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3DD32-00C9-D645-AC46-BF121FEBFDD6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C8908-0D87-AF42-82F6-834851B40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0B6FF-1BCF-EF45-A3C1-49C20DC67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41290-0429-DE4F-8ECB-587CFA09F83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F22749D-AF91-404D-A25B-55356E932CE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181956" y="23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CAD6A9E-0B18-C543-AF73-FF66EFF22C5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C1689379-1A0D-1E4C-8ACD-ADFC1CA797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13">
            <a:extLst>
              <a:ext uri="{FF2B5EF4-FFF2-40B4-BE49-F238E27FC236}">
                <a16:creationId xmlns:a16="http://schemas.microsoft.com/office/drawing/2014/main" id="{024DB255-B47B-C0E6-523D-B626F5C675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/>
        </p:blipFill>
        <p:spPr>
          <a:xfrm>
            <a:off x="11120880" y="210600"/>
            <a:ext cx="800182" cy="6400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6448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4673-8FE9-5545-86DF-5D05B7FA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5086D-1FEC-AF4A-A52F-CB5B12802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06BE8-0B4C-E14E-BA88-DEBE511F9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3DD32-00C9-D645-AC46-BF121FEBFDD6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67673-3ACB-F54C-AFE6-34E1F0523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5E1F6-2779-4544-87F0-9CD9A118D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41290-0429-DE4F-8ECB-587CFA09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72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0DE60-FCC3-7648-8581-906B78D9F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15886-B704-0849-83ED-85E7EECD3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51308-5692-4C40-A4BD-0B8800D9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3DD32-00C9-D645-AC46-BF121FEBFDD6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AB33A-4CC4-674C-AE30-B027C42C0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BA6AE-D353-D24E-BC24-3B8F656C1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41290-0429-DE4F-8ECB-587CFA09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48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7684E-334E-924C-BA90-572F9106A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CD4DF-7641-D54A-8F77-584725890B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56456-A5A0-5A42-9834-B76E4ED73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BF34E-0032-5B4B-8589-0E76A4D59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3DD32-00C9-D645-AC46-BF121FEBFDD6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DEF46-3A70-5240-B7F2-1EA4DE09A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4F7F3-D5A0-B944-93B1-83A821F52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41290-0429-DE4F-8ECB-587CFA09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23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7FF57-BEDC-0443-813A-9E11F895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3C954-D5E2-AF4B-B702-DBEBF061E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AD62B-C521-0543-AE50-8A7FA9C9D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F2F9F-6EFC-B74A-9269-5878557C7C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7AB162-8C25-2341-BD47-0216F44A3D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803204-9616-9D40-A558-4A8C2CBEB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3DD32-00C9-D645-AC46-BF121FEBFDD6}" type="datetimeFigureOut">
              <a:rPr lang="en-US" smtClean="0"/>
              <a:t>9/19/26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F62622-D99E-AF40-A2C2-A45BE367E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5EC7FB-63EA-BD43-9F00-18FAB8B62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41290-0429-DE4F-8ECB-587CFA09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1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92FAF-C517-AD42-BF59-883D62693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086F2-1754-C34F-8C91-7A111DE8D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3DD32-00C9-D645-AC46-BF121FEBFDD6}" type="datetimeFigureOut">
              <a:rPr lang="en-US" smtClean="0"/>
              <a:t>9/19/26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1A890B-A6C2-7B49-9F97-A475F164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024C3-EB0F-9642-8264-DF6515E78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41290-0429-DE4F-8ECB-587CFA09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982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F9323-11E0-DB40-88E1-2EA4095BC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3DD32-00C9-D645-AC46-BF121FEBFDD6}" type="datetimeFigureOut">
              <a:rPr lang="en-US" smtClean="0"/>
              <a:t>9/19/26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391725-33D6-F249-B0D9-9422150B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8BDBC-6D18-3C46-995C-8965D49D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41290-0429-DE4F-8ECB-587CFA09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479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05CD8-0E86-C54B-8AE4-859DEE481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85F5-0C7F-7B48-A3B1-1C459A0DB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07303-7232-9249-9173-F896D789F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EB401-8B67-D846-B466-4132DE6F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3DD32-00C9-D645-AC46-BF121FEBFDD6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66124-CF7D-484A-809C-51924FF2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718E2-700D-6747-B501-B4A0195E6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41290-0429-DE4F-8ECB-587CFA09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1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75F98-3B60-2047-847F-F87469BDC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B1FAEA-E81D-9E48-8EE4-526DFD131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7E9E4-6E57-9149-8878-5DB680328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9F4DD-790C-5B47-99A3-3F2EE908F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3DD32-00C9-D645-AC46-BF121FEBFDD6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3140C-2988-5947-A22F-0CB88A1CF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9A216-A41D-524B-9402-C10D8A457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41290-0429-DE4F-8ECB-587CFA09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03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8A17-49C6-C548-ACEF-BA50A38C8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F04317-215E-3740-979C-C83151B36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03454-1A62-2E46-9BD1-D71E60A71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3DD32-00C9-D645-AC46-BF121FEBFDD6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C313A-9B9C-064B-9AA0-6F8CD514B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6303A-B32C-C74C-A1FF-804A9401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41290-0429-DE4F-8ECB-587CFA09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57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ED3F8E-4286-D644-88A7-5014B551C2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D45FE1-9542-8247-909F-4238A2651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6062D-C4FB-9F41-B498-898381927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3DD32-00C9-D645-AC46-BF121FEBFDD6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8ABE9-9FE3-564C-BAB2-BD2F49B1B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2DB31-97AE-FF43-A24C-176C979C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41290-0429-DE4F-8ECB-587CFA09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89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CD8807-9F8B-0E49-9BF7-17F51639E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225A5-F739-4A4E-82B9-E00B4963A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6DD45-DF88-6A44-87DF-29634B5E4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3DD32-00C9-D645-AC46-BF121FEBFDD6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9E606-2A95-8141-BE76-3AC3AFFC9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0CB14-F1F4-7C44-8A4A-8382062EF0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41290-0429-DE4F-8ECB-587CFA09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79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image" Target="../media/image17.png"/><Relationship Id="rId3" Type="http://schemas.openxmlformats.org/officeDocument/2006/relationships/image" Target="../media/image1.jpeg"/><Relationship Id="rId7" Type="http://schemas.openxmlformats.org/officeDocument/2006/relationships/image" Target="../media/image12.emf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11" Type="http://schemas.openxmlformats.org/officeDocument/2006/relationships/image" Target="../media/image4.png"/><Relationship Id="rId5" Type="http://schemas.openxmlformats.org/officeDocument/2006/relationships/image" Target="../media/image10.emf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13" Type="http://schemas.openxmlformats.org/officeDocument/2006/relationships/image" Target="../media/image46.png"/><Relationship Id="rId18" Type="http://schemas.openxmlformats.org/officeDocument/2006/relationships/image" Target="../media/image50.png"/><Relationship Id="rId3" Type="http://schemas.openxmlformats.org/officeDocument/2006/relationships/image" Target="../media/image1.jpeg"/><Relationship Id="rId7" Type="http://schemas.openxmlformats.org/officeDocument/2006/relationships/image" Target="../media/image41.png"/><Relationship Id="rId12" Type="http://schemas.openxmlformats.org/officeDocument/2006/relationships/image" Target="../media/image45.png"/><Relationship Id="rId17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emf"/><Relationship Id="rId11" Type="http://schemas.openxmlformats.org/officeDocument/2006/relationships/image" Target="../media/image44.png"/><Relationship Id="rId5" Type="http://schemas.openxmlformats.org/officeDocument/2006/relationships/image" Target="../media/image39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8.png"/><Relationship Id="rId9" Type="http://schemas.openxmlformats.org/officeDocument/2006/relationships/image" Target="../media/image13.emf"/><Relationship Id="rId1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38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1.jpeg"/><Relationship Id="rId9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7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1.jpeg"/><Relationship Id="rId9" Type="http://schemas.openxmlformats.org/officeDocument/2006/relationships/image" Target="../media/image7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7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9" Type="http://schemas.openxmlformats.org/officeDocument/2006/relationships/image" Target="../media/image8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4A23F60-5BA1-CC4B-8DF3-1EEA24682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8AA5133-AB2D-6D4F-A981-6003BAB64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"/>
          </a:blip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9" name="Text Box 4">
            <a:extLst>
              <a:ext uri="{FF2B5EF4-FFF2-40B4-BE49-F238E27FC236}">
                <a16:creationId xmlns:a16="http://schemas.microsoft.com/office/drawing/2014/main" id="{9E6F941B-6B48-A544-8A14-12B7F7DC9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783" y="890821"/>
            <a:ext cx="927794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RECENT DEVELOPMENTS AND APPLICATIONS OF THE EPOGS AUTO-MESHING TOOLSET</a:t>
            </a: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3D2368E2-84F9-FC4C-B6F9-E4A4A6A26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4663" y="2480945"/>
            <a:ext cx="102161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William M. Chan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Andrew M. Chuen,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Jeffrey A.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Housman, Chase P. Ashby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818BBA2C-5DB3-3F45-0E0E-DE0E5ED44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80" y="6118898"/>
            <a:ext cx="104380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i="1" dirty="0"/>
              <a:t>This material is a work of the U.S. Government and is not subject to copyright protection in the United States.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20F5038-14C4-7F22-6766-FD2488A1B7F7}"/>
              </a:ext>
            </a:extLst>
          </p:cNvPr>
          <p:cNvGrpSpPr/>
          <p:nvPr/>
        </p:nvGrpSpPr>
        <p:grpSpPr>
          <a:xfrm>
            <a:off x="2888572" y="3399694"/>
            <a:ext cx="6438900" cy="863956"/>
            <a:chOff x="2888572" y="3399694"/>
            <a:chExt cx="6438900" cy="863956"/>
          </a:xfrm>
        </p:grpSpPr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id="{1BE1FAE4-DD1A-6F4F-BB01-9B01A3AD5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8572" y="3399694"/>
              <a:ext cx="64389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Computational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Aerosciences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Branch</a:t>
              </a:r>
              <a:endParaRPr lang="en-US" sz="2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Text Box 6">
              <a:extLst>
                <a:ext uri="{FF2B5EF4-FFF2-40B4-BE49-F238E27FC236}">
                  <a16:creationId xmlns:a16="http://schemas.microsoft.com/office/drawing/2014/main" id="{54E80EF4-DF91-D464-A6D7-79F0B5AB27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3479" y="3801985"/>
              <a:ext cx="488908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4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NASA Ames Research Center</a:t>
              </a:r>
            </a:p>
          </p:txBody>
        </p:sp>
      </p:grpSp>
      <p:sp>
        <p:nvSpPr>
          <p:cNvPr id="5" name="Text Box 7">
            <a:extLst>
              <a:ext uri="{FF2B5EF4-FFF2-40B4-BE49-F238E27FC236}">
                <a16:creationId xmlns:a16="http://schemas.microsoft.com/office/drawing/2014/main" id="{718C354D-6976-52DB-FF7F-8034F6E5D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523" y="4966355"/>
            <a:ext cx="1111246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Symposium on Overset Composite Grids and Solution Technology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State College, PA, Sept 21-24, 2026</a:t>
            </a:r>
          </a:p>
        </p:txBody>
      </p:sp>
    </p:spTree>
    <p:extLst>
      <p:ext uri="{BB962C8B-B14F-4D97-AF65-F5344CB8AC3E}">
        <p14:creationId xmlns:p14="http://schemas.microsoft.com/office/powerpoint/2010/main" val="227226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41"/>
    </mc:Choice>
    <mc:Fallback xmlns="">
      <p:transition spd="slow" advTm="1314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A8D2B3-732B-E603-6CF2-F789CC5E3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251" y="2479489"/>
            <a:ext cx="1202533" cy="228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D99A27-93B9-665F-2BE0-68E5CD6AF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1413" y="1190163"/>
            <a:ext cx="2954216" cy="16002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84A23F60-5BA1-CC4B-8DF3-1EEA24682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8AA5133-AB2D-6D4F-A981-6003BAB64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7">
            <a:extLst>
              <a:ext uri="{FF2B5EF4-FFF2-40B4-BE49-F238E27FC236}">
                <a16:creationId xmlns:a16="http://schemas.microsoft.com/office/drawing/2014/main" id="{F5F3FD2F-71B7-C94D-B59B-8F0ECEDCA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622" y="194088"/>
            <a:ext cx="8826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OBJECTIVES</a:t>
            </a:r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2A3E41B3-D27D-D443-823B-737658799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164" y="5431947"/>
            <a:ext cx="543230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Current talk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Alternative geometry starting 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Recent test cases (after CGT 3.0)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014C7AC5-C7B5-8244-BABC-B5D26C3A4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28" y="791882"/>
            <a:ext cx="976409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CGT 3.0 - EPOGS meshing: weeks to days, days to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hrs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Outstanding problems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geometry needs to be a clean BREP solid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Tedious repairs are frequently needed to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Fix surface mismatches due to tolerance issues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Merge fractured faces and edges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Remove/merge small faces and edges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Resolve native CAD to .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/.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igs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translation errors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 0 - 5% of meshes need manual repairs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Mesh overlap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Negative Jacobians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038E422-3913-4C8E-2C38-1D363F688D01}"/>
              </a:ext>
            </a:extLst>
          </p:cNvPr>
          <p:cNvGrpSpPr/>
          <p:nvPr/>
        </p:nvGrpSpPr>
        <p:grpSpPr>
          <a:xfrm>
            <a:off x="8781473" y="3128531"/>
            <a:ext cx="1531766" cy="1636958"/>
            <a:chOff x="7344571" y="3288016"/>
            <a:chExt cx="1531766" cy="163695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C52A2CE-6A9B-BE0E-8B5E-3E8D7E725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14398" b="13994"/>
            <a:stretch>
              <a:fillRect/>
            </a:stretch>
          </p:blipFill>
          <p:spPr>
            <a:xfrm>
              <a:off x="7344571" y="3288016"/>
              <a:ext cx="1531766" cy="1636958"/>
            </a:xfrm>
            <a:prstGeom prst="rect">
              <a:avLst/>
            </a:prstGeom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C1CA354-4445-DBCC-73D6-643D4F812D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6276" y="4412936"/>
              <a:ext cx="92298" cy="390290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C3F549-AA13-6ED1-23D4-0E5CD5BF73C7}"/>
              </a:ext>
            </a:extLst>
          </p:cNvPr>
          <p:cNvGrpSpPr/>
          <p:nvPr/>
        </p:nvGrpSpPr>
        <p:grpSpPr>
          <a:xfrm>
            <a:off x="5586834" y="4895380"/>
            <a:ext cx="2041968" cy="1887988"/>
            <a:chOff x="9038106" y="3036986"/>
            <a:chExt cx="2041968" cy="188798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4E973A7-E5B6-026A-2AEB-892774F54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38106" y="3036986"/>
              <a:ext cx="1999930" cy="1828800"/>
            </a:xfrm>
            <a:prstGeom prst="rect">
              <a:avLst/>
            </a:prstGeom>
          </p:spPr>
        </p:pic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CBDC24F-F565-C549-74FB-5008E281B1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9144" y="4348259"/>
              <a:ext cx="0" cy="576715"/>
            </a:xfrm>
            <a:prstGeom prst="straightConnector1">
              <a:avLst/>
            </a:prstGeom>
            <a:ln w="317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D6C2B35-8FFF-5F0A-5694-DA8FE37A75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85447" y="3700728"/>
              <a:ext cx="694627" cy="444942"/>
            </a:xfrm>
            <a:prstGeom prst="straightConnector1">
              <a:avLst/>
            </a:prstGeom>
            <a:ln w="317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DCFCE2A-64EB-8B0B-B509-D9DCA477CB6C}"/>
              </a:ext>
            </a:extLst>
          </p:cNvPr>
          <p:cNvGrpSpPr/>
          <p:nvPr/>
        </p:nvGrpSpPr>
        <p:grpSpPr>
          <a:xfrm>
            <a:off x="9685061" y="4924974"/>
            <a:ext cx="2162347" cy="1828800"/>
            <a:chOff x="9685061" y="4924974"/>
            <a:chExt cx="2162347" cy="182880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5F59EA5-8515-09D9-5999-9550897CF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921437" y="4924974"/>
              <a:ext cx="1925971" cy="1828800"/>
            </a:xfrm>
            <a:prstGeom prst="rect">
              <a:avLst/>
            </a:prstGeom>
          </p:spPr>
        </p:pic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D557322-81C3-F3AA-ABEA-CC36434C99A4}"/>
                </a:ext>
              </a:extLst>
            </p:cNvPr>
            <p:cNvCxnSpPr>
              <a:cxnSpLocks/>
            </p:cNvCxnSpPr>
            <p:nvPr/>
          </p:nvCxnSpPr>
          <p:spPr>
            <a:xfrm>
              <a:off x="9685061" y="5804153"/>
              <a:ext cx="505715" cy="389079"/>
            </a:xfrm>
            <a:prstGeom prst="straightConnector1">
              <a:avLst/>
            </a:prstGeom>
            <a:ln w="317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E42857D-4681-DB01-2EE4-4B76082B31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6654" y="6531937"/>
              <a:ext cx="331896" cy="165335"/>
            </a:xfrm>
            <a:prstGeom prst="straightConnector1">
              <a:avLst/>
            </a:prstGeom>
            <a:ln w="317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4338F83-43C7-4FB0-90A7-E85C37E20496}"/>
              </a:ext>
            </a:extLst>
          </p:cNvPr>
          <p:cNvGrpSpPr/>
          <p:nvPr/>
        </p:nvGrpSpPr>
        <p:grpSpPr>
          <a:xfrm>
            <a:off x="7837414" y="4907745"/>
            <a:ext cx="1709942" cy="1846029"/>
            <a:chOff x="7418715" y="4794594"/>
            <a:chExt cx="1709942" cy="1846029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8F5283BD-1734-D1D8-D039-F6BDA7C80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18715" y="4794594"/>
              <a:ext cx="1709942" cy="1828800"/>
            </a:xfrm>
            <a:prstGeom prst="rect">
              <a:avLst/>
            </a:prstGeom>
          </p:spPr>
        </p:pic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4717AA2-6FE0-6578-22CF-656E03B5E0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90014" y="6287043"/>
              <a:ext cx="310244" cy="353580"/>
            </a:xfrm>
            <a:prstGeom prst="straightConnector1">
              <a:avLst/>
            </a:prstGeom>
            <a:ln w="317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F2889DC-E75D-687F-4786-A0D47EC50A1C}"/>
              </a:ext>
            </a:extLst>
          </p:cNvPr>
          <p:cNvSpPr txBox="1"/>
          <p:nvPr/>
        </p:nvSpPr>
        <p:spPr>
          <a:xfrm>
            <a:off x="7774768" y="815238"/>
            <a:ext cx="2982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(AIAA Paper 2026-4121)</a:t>
            </a:r>
          </a:p>
        </p:txBody>
      </p:sp>
    </p:spTree>
    <p:extLst>
      <p:ext uri="{BB962C8B-B14F-4D97-AF65-F5344CB8AC3E}">
        <p14:creationId xmlns:p14="http://schemas.microsoft.com/office/powerpoint/2010/main" val="28611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789"/>
    </mc:Choice>
    <mc:Fallback xmlns="">
      <p:transition spd="slow" advTm="2878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4A23F60-5BA1-CC4B-8DF3-1EEA24682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8AA5133-AB2D-6D4F-A981-6003BAB64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7">
            <a:extLst>
              <a:ext uri="{FF2B5EF4-FFF2-40B4-BE49-F238E27FC236}">
                <a16:creationId xmlns:a16="http://schemas.microsoft.com/office/drawing/2014/main" id="{F5F3FD2F-71B7-C94D-B59B-8F0ECEDCA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0" y="457200"/>
            <a:ext cx="8826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2A3E41B3-D27D-D443-823B-737658799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7862" y="1593360"/>
            <a:ext cx="5156275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Motivation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objectives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Automation scheme review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EPOGS workflow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EPOGS starting points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Recent test cases</a:t>
            </a:r>
            <a:b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Concluding remarks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39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41"/>
    </mc:Choice>
    <mc:Fallback xmlns="">
      <p:transition spd="slow" advTm="1234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4A23F60-5BA1-CC4B-8DF3-1EEA24682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8AA5133-AB2D-6D4F-A981-6003BAB64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7">
            <a:extLst>
              <a:ext uri="{FF2B5EF4-FFF2-40B4-BE49-F238E27FC236}">
                <a16:creationId xmlns:a16="http://schemas.microsoft.com/office/drawing/2014/main" id="{F5F3FD2F-71B7-C94D-B59B-8F0ECEDCA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4384" y="200647"/>
            <a:ext cx="8826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OF MESH AUTOMATION SCHEME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8948203-D10A-2FE4-CD58-7B21997CEF80}"/>
              </a:ext>
            </a:extLst>
          </p:cNvPr>
          <p:cNvGrpSpPr/>
          <p:nvPr/>
        </p:nvGrpSpPr>
        <p:grpSpPr>
          <a:xfrm>
            <a:off x="374779" y="1297739"/>
            <a:ext cx="2500953" cy="1828800"/>
            <a:chOff x="1410087" y="713616"/>
            <a:chExt cx="2500953" cy="235562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502A92B-8944-EF1D-4942-218969659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10087" y="713616"/>
              <a:ext cx="2500953" cy="22860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1A58E4E-C506-A413-D2BF-6A3EFD90644E}"/>
                </a:ext>
              </a:extLst>
            </p:cNvPr>
            <p:cNvSpPr txBox="1"/>
            <p:nvPr/>
          </p:nvSpPr>
          <p:spPr>
            <a:xfrm>
              <a:off x="3174099" y="1656561"/>
              <a:ext cx="341760" cy="40011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28F31F-11E1-0529-CB13-E681AABD1418}"/>
                </a:ext>
              </a:extLst>
            </p:cNvPr>
            <p:cNvSpPr txBox="1"/>
            <p:nvPr/>
          </p:nvSpPr>
          <p:spPr>
            <a:xfrm>
              <a:off x="2516094" y="1399416"/>
              <a:ext cx="341760" cy="40011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EB1BD8C-6BBB-DD8E-F720-521C40759C1F}"/>
                </a:ext>
              </a:extLst>
            </p:cNvPr>
            <p:cNvSpPr txBox="1"/>
            <p:nvPr/>
          </p:nvSpPr>
          <p:spPr>
            <a:xfrm>
              <a:off x="2610033" y="2207308"/>
              <a:ext cx="341760" cy="40011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FD14D82-357F-FEBF-7F96-746FF10CCB8E}"/>
                </a:ext>
              </a:extLst>
            </p:cNvPr>
            <p:cNvSpPr txBox="1"/>
            <p:nvPr/>
          </p:nvSpPr>
          <p:spPr>
            <a:xfrm>
              <a:off x="3110841" y="949721"/>
              <a:ext cx="356188" cy="40011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26C9704-E9DB-7BFC-93F6-660E99729274}"/>
                </a:ext>
              </a:extLst>
            </p:cNvPr>
            <p:cNvSpPr txBox="1"/>
            <p:nvPr/>
          </p:nvSpPr>
          <p:spPr>
            <a:xfrm>
              <a:off x="2177868" y="2669131"/>
              <a:ext cx="370614" cy="40011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0FB69DA-D0D6-2EB2-DD0B-A386C51DF1AB}"/>
                </a:ext>
              </a:extLst>
            </p:cNvPr>
            <p:cNvCxnSpPr/>
            <p:nvPr/>
          </p:nvCxnSpPr>
          <p:spPr>
            <a:xfrm>
              <a:off x="3264103" y="1347227"/>
              <a:ext cx="0" cy="2971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BAB698B4-DB8B-61A6-109F-ACE2701DE9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44100" y="1201302"/>
              <a:ext cx="277736" cy="718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40632B4-75E3-C518-C711-66DD1EBBB2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29992" y="862919"/>
              <a:ext cx="480849" cy="15860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CA7241B-253B-F6EF-8065-3351FDDCAD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5972" y="2375943"/>
              <a:ext cx="122899" cy="3541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1687660-60BB-3FB9-B7C6-79D05D65FFFE}"/>
                </a:ext>
              </a:extLst>
            </p:cNvPr>
            <p:cNvCxnSpPr>
              <a:cxnSpLocks/>
              <a:stCxn id="39" idx="1"/>
            </p:cNvCxnSpPr>
            <p:nvPr/>
          </p:nvCxnSpPr>
          <p:spPr>
            <a:xfrm flipH="1" flipV="1">
              <a:off x="1751315" y="2680442"/>
              <a:ext cx="426553" cy="18874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222B61E-AEB7-8608-D836-8365843E8F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243" y="2815806"/>
              <a:ext cx="1118331" cy="673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D40C532-E1D3-65F4-18FD-A053C1986893}"/>
              </a:ext>
            </a:extLst>
          </p:cNvPr>
          <p:cNvSpPr txBox="1"/>
          <p:nvPr/>
        </p:nvSpPr>
        <p:spPr>
          <a:xfrm>
            <a:off x="3465" y="769744"/>
            <a:ext cx="2074799" cy="1323439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BREP Geometry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 = Face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 = Edge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 = Node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647AD91-9730-BED0-2EA4-E0AE61D63A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5118" y="915763"/>
            <a:ext cx="2828544" cy="18288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AD029EA-7451-2676-F9D8-B03FF8C7ED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4202" y="915763"/>
            <a:ext cx="2846146" cy="18288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43AF850-0EF3-BF7E-DEE4-4103F77450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3469" y="915763"/>
            <a:ext cx="2821924" cy="18288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678C580-B880-15A8-A231-8DC613A2DE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517" y="2815912"/>
            <a:ext cx="2846145" cy="1828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0E3591A-B5CE-C023-FC4F-117B2ED036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0589" y="4788033"/>
            <a:ext cx="1773817" cy="18288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F743286-0BBF-ED35-7314-D94075F78F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01" y="4788033"/>
            <a:ext cx="2805131" cy="1828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2F0F556E-AFCE-6620-91A9-26A86CD66A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05710" y="2768000"/>
            <a:ext cx="3376246" cy="1828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BA8E728-A12A-128B-6EF5-7352F1ED9C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6636" y="4788033"/>
            <a:ext cx="2423787" cy="18288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5BFFA274-F7FA-7387-2A94-C4C609EC0A0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94857" y="4788033"/>
            <a:ext cx="1721653" cy="1828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751996-25BD-E6FE-454D-203779A526F1}"/>
              </a:ext>
            </a:extLst>
          </p:cNvPr>
          <p:cNvSpPr txBox="1"/>
          <p:nvPr/>
        </p:nvSpPr>
        <p:spPr>
          <a:xfrm>
            <a:off x="3502822" y="662312"/>
            <a:ext cx="1766830" cy="400110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Node meshes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3477D9-EC0C-F430-08C9-7718DD5E0ABF}"/>
              </a:ext>
            </a:extLst>
          </p:cNvPr>
          <p:cNvSpPr txBox="1"/>
          <p:nvPr/>
        </p:nvSpPr>
        <p:spPr>
          <a:xfrm>
            <a:off x="6491352" y="639777"/>
            <a:ext cx="1752403" cy="400110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Edge meshes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E82083-F865-DE28-0177-B305690C1BE7}"/>
              </a:ext>
            </a:extLst>
          </p:cNvPr>
          <p:cNvSpPr txBox="1"/>
          <p:nvPr/>
        </p:nvSpPr>
        <p:spPr>
          <a:xfrm>
            <a:off x="9433083" y="641266"/>
            <a:ext cx="1723549" cy="400110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Face meshes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EFA74B-087D-FD12-EA26-482647AE77D9}"/>
              </a:ext>
            </a:extLst>
          </p:cNvPr>
          <p:cNvSpPr txBox="1"/>
          <p:nvPr/>
        </p:nvSpPr>
        <p:spPr>
          <a:xfrm>
            <a:off x="5386291" y="3629049"/>
            <a:ext cx="1087423" cy="1015663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Surface mesh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1F3AD8-312E-6F47-0312-7A49EFF57336}"/>
              </a:ext>
            </a:extLst>
          </p:cNvPr>
          <p:cNvSpPr txBox="1"/>
          <p:nvPr/>
        </p:nvSpPr>
        <p:spPr>
          <a:xfrm>
            <a:off x="9280423" y="3796195"/>
            <a:ext cx="2028868" cy="707886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Near-body volume meshes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021CCB-5E0A-637B-6C1F-6B31C0719515}"/>
              </a:ext>
            </a:extLst>
          </p:cNvPr>
          <p:cNvSpPr txBox="1"/>
          <p:nvPr/>
        </p:nvSpPr>
        <p:spPr>
          <a:xfrm>
            <a:off x="2955502" y="5543151"/>
            <a:ext cx="1773817" cy="1015663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Near- &amp; off-body volume meshes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277ADF-AFBB-1821-4420-2E736D94D15A}"/>
              </a:ext>
            </a:extLst>
          </p:cNvPr>
          <p:cNvSpPr txBox="1"/>
          <p:nvPr/>
        </p:nvSpPr>
        <p:spPr>
          <a:xfrm>
            <a:off x="8811374" y="5386279"/>
            <a:ext cx="1773817" cy="1015663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Domain connectivity data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4E06531-89F1-C568-E1DB-6D330C97F7D6}"/>
              </a:ext>
            </a:extLst>
          </p:cNvPr>
          <p:cNvGrpSpPr/>
          <p:nvPr/>
        </p:nvGrpSpPr>
        <p:grpSpPr>
          <a:xfrm>
            <a:off x="9153" y="3415728"/>
            <a:ext cx="3171061" cy="487503"/>
            <a:chOff x="54057" y="3354157"/>
            <a:chExt cx="3171061" cy="48750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12ACE89-E687-814F-BE31-39726C7E04AE}"/>
                </a:ext>
              </a:extLst>
            </p:cNvPr>
            <p:cNvSpPr txBox="1"/>
            <p:nvPr/>
          </p:nvSpPr>
          <p:spPr>
            <a:xfrm>
              <a:off x="54057" y="3364339"/>
              <a:ext cx="3171061" cy="40011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# Meshes     #F + #E + #N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F620A39-3ACB-D5F3-3421-D910E9FF29EA}"/>
                </a:ext>
              </a:extLst>
            </p:cNvPr>
            <p:cNvGrpSpPr/>
            <p:nvPr/>
          </p:nvGrpSpPr>
          <p:grpSpPr>
            <a:xfrm>
              <a:off x="1252187" y="3354157"/>
              <a:ext cx="342497" cy="487503"/>
              <a:chOff x="1749612" y="4010547"/>
              <a:chExt cx="342497" cy="487503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9E2541A-97C4-43F3-0B7F-5231C4470FD6}"/>
                  </a:ext>
                </a:extLst>
              </p:cNvPr>
              <p:cNvSpPr txBox="1"/>
              <p:nvPr/>
            </p:nvSpPr>
            <p:spPr>
              <a:xfrm>
                <a:off x="1758363" y="4097940"/>
                <a:ext cx="333746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~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854D0E-9106-1192-F8A3-95093EA0904C}"/>
                  </a:ext>
                </a:extLst>
              </p:cNvPr>
              <p:cNvSpPr txBox="1"/>
              <p:nvPr/>
            </p:nvSpPr>
            <p:spPr>
              <a:xfrm>
                <a:off x="1749612" y="4010547"/>
                <a:ext cx="333746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&lt;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426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789"/>
    </mc:Choice>
    <mc:Fallback xmlns="">
      <p:transition spd="slow" advTm="2878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4A23F60-5BA1-CC4B-8DF3-1EEA24682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8AA5133-AB2D-6D4F-A981-6003BAB64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7">
            <a:extLst>
              <a:ext uri="{FF2B5EF4-FFF2-40B4-BE49-F238E27FC236}">
                <a16:creationId xmlns:a16="http://schemas.microsoft.com/office/drawing/2014/main" id="{F5F3FD2F-71B7-C94D-B59B-8F0ECEDCA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9017" y="264675"/>
            <a:ext cx="8826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EPOGS WORKFLOW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610D795-A287-A83E-2E79-8E5216F7AF25}"/>
              </a:ext>
            </a:extLst>
          </p:cNvPr>
          <p:cNvGrpSpPr/>
          <p:nvPr/>
        </p:nvGrpSpPr>
        <p:grpSpPr>
          <a:xfrm>
            <a:off x="294849" y="843178"/>
            <a:ext cx="11792107" cy="6014822"/>
            <a:chOff x="218762" y="778667"/>
            <a:chExt cx="11792107" cy="6014822"/>
          </a:xfrm>
        </p:grpSpPr>
        <p:grpSp>
          <p:nvGrpSpPr>
            <p:cNvPr id="77" name="Group">
              <a:extLst>
                <a:ext uri="{FF2B5EF4-FFF2-40B4-BE49-F238E27FC236}">
                  <a16:creationId xmlns:a16="http://schemas.microsoft.com/office/drawing/2014/main" id="{A4893E1E-6ED6-63C0-409F-A30F0DD2BC87}"/>
                </a:ext>
              </a:extLst>
            </p:cNvPr>
            <p:cNvGrpSpPr/>
            <p:nvPr/>
          </p:nvGrpSpPr>
          <p:grpSpPr>
            <a:xfrm>
              <a:off x="2563296" y="5909270"/>
              <a:ext cx="5978770" cy="884219"/>
              <a:chOff x="-629897" y="-106134"/>
              <a:chExt cx="5978768" cy="884218"/>
            </a:xfrm>
          </p:grpSpPr>
          <p:grpSp>
            <p:nvGrpSpPr>
              <p:cNvPr id="98" name="Group">
                <a:extLst>
                  <a:ext uri="{FF2B5EF4-FFF2-40B4-BE49-F238E27FC236}">
                    <a16:creationId xmlns:a16="http://schemas.microsoft.com/office/drawing/2014/main" id="{26FDE8A5-454D-A3AA-2F5E-45BB2272A4B1}"/>
                  </a:ext>
                </a:extLst>
              </p:cNvPr>
              <p:cNvGrpSpPr/>
              <p:nvPr/>
            </p:nvGrpSpPr>
            <p:grpSpPr>
              <a:xfrm>
                <a:off x="-460625" y="14510"/>
                <a:ext cx="5606971" cy="656590"/>
                <a:chOff x="-594827" y="-62111"/>
                <a:chExt cx="5606966" cy="656589"/>
              </a:xfrm>
            </p:grpSpPr>
            <p:sp>
              <p:nvSpPr>
                <p:cNvPr id="100" name="Input Files for Flow Solvers">
                  <a:extLst>
                    <a:ext uri="{FF2B5EF4-FFF2-40B4-BE49-F238E27FC236}">
                      <a16:creationId xmlns:a16="http://schemas.microsoft.com/office/drawing/2014/main" id="{2DDA68E0-C70A-F5EB-C17D-385D73A4F308}"/>
                    </a:ext>
                  </a:extLst>
                </p:cNvPr>
                <p:cNvSpPr txBox="1"/>
                <p:nvPr/>
              </p:nvSpPr>
              <p:spPr>
                <a:xfrm>
                  <a:off x="-594827" y="-62111"/>
                  <a:ext cx="1901528" cy="656589"/>
                </a:xfrm>
                <a:prstGeom prst="rect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algn="ctr">
                    <a:defRPr sz="1200"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r>
                    <a:rPr sz="1800"/>
                    <a:t>Input Files for Flow Solvers</a:t>
                  </a:r>
                </a:p>
              </p:txBody>
            </p:sp>
            <p:sp>
              <p:nvSpPr>
                <p:cNvPr id="101" name="Input File for Component Aerodynamic Loads Computation">
                  <a:extLst>
                    <a:ext uri="{FF2B5EF4-FFF2-40B4-BE49-F238E27FC236}">
                      <a16:creationId xmlns:a16="http://schemas.microsoft.com/office/drawing/2014/main" id="{C63267D1-41F4-3B49-C423-D2726224957B}"/>
                    </a:ext>
                  </a:extLst>
                </p:cNvPr>
                <p:cNvSpPr txBox="1"/>
                <p:nvPr/>
              </p:nvSpPr>
              <p:spPr>
                <a:xfrm>
                  <a:off x="1517039" y="-62111"/>
                  <a:ext cx="3495100" cy="656589"/>
                </a:xfrm>
                <a:prstGeom prst="rect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algn="ctr">
                    <a:defRPr sz="1200"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r>
                    <a:rPr sz="1800" dirty="0"/>
                    <a:t>Input File for Component Aerodynamic Loads Computation</a:t>
                  </a:r>
                </a:p>
              </p:txBody>
            </p:sp>
          </p:grpSp>
          <p:sp>
            <p:nvSpPr>
              <p:cNvPr id="99" name="Rectangle">
                <a:extLst>
                  <a:ext uri="{FF2B5EF4-FFF2-40B4-BE49-F238E27FC236}">
                    <a16:creationId xmlns:a16="http://schemas.microsoft.com/office/drawing/2014/main" id="{E580043A-78FC-F3A4-D71E-2B9CD7193254}"/>
                  </a:ext>
                </a:extLst>
              </p:cNvPr>
              <p:cNvSpPr/>
              <p:nvPr/>
            </p:nvSpPr>
            <p:spPr>
              <a:xfrm>
                <a:off x="-629897" y="-106134"/>
                <a:ext cx="5978768" cy="884218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custDash>
                  <a:ds d="100000" sp="200000"/>
                </a:custDash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6DF6152-4DCF-72E3-ED93-9E640E62B398}"/>
                </a:ext>
              </a:extLst>
            </p:cNvPr>
            <p:cNvGrpSpPr/>
            <p:nvPr/>
          </p:nvGrpSpPr>
          <p:grpSpPr>
            <a:xfrm>
              <a:off x="218762" y="778667"/>
              <a:ext cx="11792107" cy="5134987"/>
              <a:chOff x="218762" y="778667"/>
              <a:chExt cx="11792107" cy="5134987"/>
            </a:xfrm>
          </p:grpSpPr>
          <p:sp>
            <p:nvSpPr>
              <p:cNvPr id="19" name="BREP Solid Geometry">
                <a:extLst>
                  <a:ext uri="{FF2B5EF4-FFF2-40B4-BE49-F238E27FC236}">
                    <a16:creationId xmlns:a16="http://schemas.microsoft.com/office/drawing/2014/main" id="{EF337CA1-2C27-93E6-C9C5-B0D1FCF0C29D}"/>
                  </a:ext>
                </a:extLst>
              </p:cNvPr>
              <p:cNvSpPr txBox="1"/>
              <p:nvPr/>
            </p:nvSpPr>
            <p:spPr>
              <a:xfrm>
                <a:off x="4092074" y="891732"/>
                <a:ext cx="2830070" cy="379591"/>
              </a:xfrm>
              <a:prstGeom prst="rect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rPr sz="1800" dirty="0"/>
                  <a:t>BREP Solid</a:t>
                </a:r>
                <a:r>
                  <a:rPr lang="en-US" sz="1800" dirty="0"/>
                  <a:t> or Sheet Body</a:t>
                </a:r>
                <a:endParaRPr sz="1800" dirty="0"/>
              </a:p>
            </p:txBody>
          </p:sp>
          <p:sp>
            <p:nvSpPr>
              <p:cNvPr id="26" name="Engineering Sketch Pad Library">
                <a:extLst>
                  <a:ext uri="{FF2B5EF4-FFF2-40B4-BE49-F238E27FC236}">
                    <a16:creationId xmlns:a16="http://schemas.microsoft.com/office/drawing/2014/main" id="{828C4FE6-FFDD-8704-ED5F-48B13905BCF3}"/>
                  </a:ext>
                </a:extLst>
              </p:cNvPr>
              <p:cNvSpPr txBox="1"/>
              <p:nvPr/>
            </p:nvSpPr>
            <p:spPr>
              <a:xfrm>
                <a:off x="1334043" y="778667"/>
                <a:ext cx="2132715" cy="656590"/>
              </a:xfrm>
              <a:prstGeom prst="rect">
                <a:avLst/>
              </a:prstGeom>
              <a:noFill/>
              <a:ln w="25400" cap="flat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defRPr sz="1200"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rPr sz="1800"/>
                  <a:t>Engineering Sketch Pad Library</a:t>
                </a:r>
              </a:p>
            </p:txBody>
          </p:sp>
          <p:sp>
            <p:nvSpPr>
              <p:cNvPr id="63" name="POGS">
                <a:extLst>
                  <a:ext uri="{FF2B5EF4-FFF2-40B4-BE49-F238E27FC236}">
                    <a16:creationId xmlns:a16="http://schemas.microsoft.com/office/drawing/2014/main" id="{9E277621-6242-FD55-ABA6-A5AFCEB9CD2B}"/>
                  </a:ext>
                </a:extLst>
              </p:cNvPr>
              <p:cNvSpPr txBox="1"/>
              <p:nvPr/>
            </p:nvSpPr>
            <p:spPr>
              <a:xfrm>
                <a:off x="5152029" y="3409476"/>
                <a:ext cx="769441" cy="379591"/>
              </a:xfrm>
              <a:prstGeom prst="rect">
                <a:avLst/>
              </a:prstGeom>
              <a:noFill/>
              <a:ln w="25400" cap="flat">
                <a:solidFill>
                  <a:srgbClr val="942192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1200">
                    <a:solidFill>
                      <a:srgbClr val="942192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rPr sz="1800" dirty="0"/>
                  <a:t>POGS</a:t>
                </a:r>
              </a:p>
            </p:txBody>
          </p:sp>
          <p:sp>
            <p:nvSpPr>
              <p:cNvPr id="65" name="Surface Grids">
                <a:extLst>
                  <a:ext uri="{FF2B5EF4-FFF2-40B4-BE49-F238E27FC236}">
                    <a16:creationId xmlns:a16="http://schemas.microsoft.com/office/drawing/2014/main" id="{A6F43642-AECC-5690-6210-0801F513FAC7}"/>
                  </a:ext>
                </a:extLst>
              </p:cNvPr>
              <p:cNvSpPr txBox="1"/>
              <p:nvPr/>
            </p:nvSpPr>
            <p:spPr>
              <a:xfrm>
                <a:off x="4786546" y="4012316"/>
                <a:ext cx="1513235" cy="379591"/>
              </a:xfrm>
              <a:prstGeom prst="rect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rPr sz="1800" dirty="0"/>
                  <a:t>Surface Grids</a:t>
                </a:r>
              </a:p>
            </p:txBody>
          </p:sp>
          <p:sp>
            <p:nvSpPr>
              <p:cNvPr id="66" name="Volume Grids">
                <a:extLst>
                  <a:ext uri="{FF2B5EF4-FFF2-40B4-BE49-F238E27FC236}">
                    <a16:creationId xmlns:a16="http://schemas.microsoft.com/office/drawing/2014/main" id="{7D9B53CC-A0B4-2A1A-C1FA-23B0B697F059}"/>
                  </a:ext>
                </a:extLst>
              </p:cNvPr>
              <p:cNvSpPr txBox="1"/>
              <p:nvPr/>
            </p:nvSpPr>
            <p:spPr>
              <a:xfrm>
                <a:off x="4772445" y="4621078"/>
                <a:ext cx="1487780" cy="379591"/>
              </a:xfrm>
              <a:prstGeom prst="rect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rPr sz="1800"/>
                  <a:t>Volume Grids</a:t>
                </a:r>
              </a:p>
            </p:txBody>
          </p:sp>
          <p:sp>
            <p:nvSpPr>
              <p:cNvPr id="67" name="Domain Connectivity Data">
                <a:extLst>
                  <a:ext uri="{FF2B5EF4-FFF2-40B4-BE49-F238E27FC236}">
                    <a16:creationId xmlns:a16="http://schemas.microsoft.com/office/drawing/2014/main" id="{0CED96EF-43D7-9D8B-0D9A-19DADDE8B12D}"/>
                  </a:ext>
                </a:extLst>
              </p:cNvPr>
              <p:cNvSpPr txBox="1"/>
              <p:nvPr/>
            </p:nvSpPr>
            <p:spPr>
              <a:xfrm>
                <a:off x="4122115" y="5279725"/>
                <a:ext cx="2769989" cy="379591"/>
              </a:xfrm>
              <a:prstGeom prst="rect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rPr sz="1800"/>
                  <a:t>Domain Connectivity Data</a:t>
                </a:r>
              </a:p>
            </p:txBody>
          </p:sp>
          <p:sp>
            <p:nvSpPr>
              <p:cNvPr id="68" name="EGADS2SRF">
                <a:extLst>
                  <a:ext uri="{FF2B5EF4-FFF2-40B4-BE49-F238E27FC236}">
                    <a16:creationId xmlns:a16="http://schemas.microsoft.com/office/drawing/2014/main" id="{18C047F0-98F3-EB6C-ED29-DF5B6767F5DE}"/>
                  </a:ext>
                </a:extLst>
              </p:cNvPr>
              <p:cNvSpPr txBox="1"/>
              <p:nvPr/>
            </p:nvSpPr>
            <p:spPr>
              <a:xfrm>
                <a:off x="4786546" y="1528340"/>
                <a:ext cx="1500411" cy="379591"/>
              </a:xfrm>
              <a:prstGeom prst="rect">
                <a:avLst/>
              </a:prstGeom>
              <a:noFill/>
              <a:ln w="25400" cap="flat">
                <a:solidFill>
                  <a:srgbClr val="942192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1200">
                    <a:solidFill>
                      <a:srgbClr val="942192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rPr sz="1800"/>
                  <a:t>EGADS2SRF</a:t>
                </a:r>
              </a:p>
            </p:txBody>
          </p:sp>
          <p:sp>
            <p:nvSpPr>
              <p:cNvPr id="69" name="Line">
                <a:extLst>
                  <a:ext uri="{FF2B5EF4-FFF2-40B4-BE49-F238E27FC236}">
                    <a16:creationId xmlns:a16="http://schemas.microsoft.com/office/drawing/2014/main" id="{9767EC72-B45A-B556-40E0-36C6DB6F59D7}"/>
                  </a:ext>
                </a:extLst>
              </p:cNvPr>
              <p:cNvSpPr/>
              <p:nvPr/>
            </p:nvSpPr>
            <p:spPr>
              <a:xfrm>
                <a:off x="5516335" y="1292138"/>
                <a:ext cx="1" cy="230788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2" name="Line">
                <a:extLst>
                  <a:ext uri="{FF2B5EF4-FFF2-40B4-BE49-F238E27FC236}">
                    <a16:creationId xmlns:a16="http://schemas.microsoft.com/office/drawing/2014/main" id="{54073656-68A9-48EC-E34F-EE157BDAC709}"/>
                  </a:ext>
                </a:extLst>
              </p:cNvPr>
              <p:cNvSpPr/>
              <p:nvPr/>
            </p:nvSpPr>
            <p:spPr>
              <a:xfrm>
                <a:off x="5536751" y="1912302"/>
                <a:ext cx="1" cy="230789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3" name="Line">
                <a:extLst>
                  <a:ext uri="{FF2B5EF4-FFF2-40B4-BE49-F238E27FC236}">
                    <a16:creationId xmlns:a16="http://schemas.microsoft.com/office/drawing/2014/main" id="{6D9BA3C3-F5AC-D6FA-4A0D-0882734969BA}"/>
                  </a:ext>
                </a:extLst>
              </p:cNvPr>
              <p:cNvSpPr/>
              <p:nvPr/>
            </p:nvSpPr>
            <p:spPr>
              <a:xfrm>
                <a:off x="5536750" y="3203583"/>
                <a:ext cx="1" cy="230789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4" name="Line">
                <a:extLst>
                  <a:ext uri="{FF2B5EF4-FFF2-40B4-BE49-F238E27FC236}">
                    <a16:creationId xmlns:a16="http://schemas.microsoft.com/office/drawing/2014/main" id="{A175CB29-86FD-163E-2982-A9F3D8D2D5FE}"/>
                  </a:ext>
                </a:extLst>
              </p:cNvPr>
              <p:cNvSpPr/>
              <p:nvPr/>
            </p:nvSpPr>
            <p:spPr>
              <a:xfrm>
                <a:off x="5540525" y="3802948"/>
                <a:ext cx="1" cy="230789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5" name="Line">
                <a:extLst>
                  <a:ext uri="{FF2B5EF4-FFF2-40B4-BE49-F238E27FC236}">
                    <a16:creationId xmlns:a16="http://schemas.microsoft.com/office/drawing/2014/main" id="{AA342DB4-742D-A7F5-C015-4C67A77073E6}"/>
                  </a:ext>
                </a:extLst>
              </p:cNvPr>
              <p:cNvSpPr/>
              <p:nvPr/>
            </p:nvSpPr>
            <p:spPr>
              <a:xfrm>
                <a:off x="5552681" y="4407304"/>
                <a:ext cx="0" cy="22860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76" name="Line">
                <a:extLst>
                  <a:ext uri="{FF2B5EF4-FFF2-40B4-BE49-F238E27FC236}">
                    <a16:creationId xmlns:a16="http://schemas.microsoft.com/office/drawing/2014/main" id="{DD3EA947-1729-4E4B-EFF7-8BDFDF4CE50E}"/>
                  </a:ext>
                </a:extLst>
              </p:cNvPr>
              <p:cNvSpPr/>
              <p:nvPr/>
            </p:nvSpPr>
            <p:spPr>
              <a:xfrm>
                <a:off x="5555380" y="5042666"/>
                <a:ext cx="1" cy="230789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8" name="Line">
                <a:extLst>
                  <a:ext uri="{FF2B5EF4-FFF2-40B4-BE49-F238E27FC236}">
                    <a16:creationId xmlns:a16="http://schemas.microsoft.com/office/drawing/2014/main" id="{4E47A643-719D-5A31-A5A8-CD11FA466024}"/>
                  </a:ext>
                </a:extLst>
              </p:cNvPr>
              <p:cNvSpPr/>
              <p:nvPr/>
            </p:nvSpPr>
            <p:spPr>
              <a:xfrm>
                <a:off x="5564247" y="5682866"/>
                <a:ext cx="1" cy="230788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79" name="Line">
                <a:extLst>
                  <a:ext uri="{FF2B5EF4-FFF2-40B4-BE49-F238E27FC236}">
                    <a16:creationId xmlns:a16="http://schemas.microsoft.com/office/drawing/2014/main" id="{589E128D-0843-1443-28DF-49D4324B6B4A}"/>
                  </a:ext>
                </a:extLst>
              </p:cNvPr>
              <p:cNvSpPr/>
              <p:nvPr/>
            </p:nvSpPr>
            <p:spPr>
              <a:xfrm flipV="1">
                <a:off x="3491421" y="1100179"/>
                <a:ext cx="551327" cy="3873"/>
              </a:xfrm>
              <a:prstGeom prst="line">
                <a:avLst/>
              </a:prstGeom>
              <a:noFill/>
              <a:ln w="25400" cap="flat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prstDash val="sysDot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80" name="Line">
                <a:extLst>
                  <a:ext uri="{FF2B5EF4-FFF2-40B4-BE49-F238E27FC236}">
                    <a16:creationId xmlns:a16="http://schemas.microsoft.com/office/drawing/2014/main" id="{EA0FBD4C-6274-15CB-3875-9AD14F69CE05}"/>
                  </a:ext>
                </a:extLst>
              </p:cNvPr>
              <p:cNvSpPr/>
              <p:nvPr/>
            </p:nvSpPr>
            <p:spPr>
              <a:xfrm flipH="1">
                <a:off x="6326433" y="1723499"/>
                <a:ext cx="86725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82" name="Mesh Repairs (if needed)">
                <a:extLst>
                  <a:ext uri="{FF2B5EF4-FFF2-40B4-BE49-F238E27FC236}">
                    <a16:creationId xmlns:a16="http://schemas.microsoft.com/office/drawing/2014/main" id="{96CD54AC-7EB9-9D9F-6C1D-0DF5A7E56BB6}"/>
                  </a:ext>
                </a:extLst>
              </p:cNvPr>
              <p:cNvSpPr txBox="1"/>
              <p:nvPr/>
            </p:nvSpPr>
            <p:spPr>
              <a:xfrm>
                <a:off x="7400327" y="4811283"/>
                <a:ext cx="1683833" cy="656590"/>
              </a:xfrm>
              <a:prstGeom prst="rect">
                <a:avLst/>
              </a:prstGeom>
              <a:noFill/>
              <a:ln w="25400" cap="flat">
                <a:solidFill>
                  <a:schemeClr val="accent2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defRPr sz="1200">
                    <a:solidFill>
                      <a:srgbClr val="942192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rPr sz="1800" dirty="0">
                    <a:solidFill>
                      <a:schemeClr val="accent2"/>
                    </a:solidFill>
                  </a:rPr>
                  <a:t>Mesh Repairs (if needed)</a:t>
                </a:r>
              </a:p>
            </p:txBody>
          </p:sp>
          <p:sp>
            <p:nvSpPr>
              <p:cNvPr id="83" name="Line">
                <a:extLst>
                  <a:ext uri="{FF2B5EF4-FFF2-40B4-BE49-F238E27FC236}">
                    <a16:creationId xmlns:a16="http://schemas.microsoft.com/office/drawing/2014/main" id="{36115549-DEC3-BCEE-BA8D-5D298E460168}"/>
                  </a:ext>
                </a:extLst>
              </p:cNvPr>
              <p:cNvSpPr/>
              <p:nvPr/>
            </p:nvSpPr>
            <p:spPr>
              <a:xfrm>
                <a:off x="6461079" y="4835815"/>
                <a:ext cx="885120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ysDot"/>
                <a:miter lim="400000"/>
                <a:headEnd type="triangle" w="med" len="med"/>
                <a:tailEnd type="triangle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84" name="Line">
                <a:extLst>
                  <a:ext uri="{FF2B5EF4-FFF2-40B4-BE49-F238E27FC236}">
                    <a16:creationId xmlns:a16="http://schemas.microsoft.com/office/drawing/2014/main" id="{0E64C226-B5D1-D624-E6D7-FD604B22CE22}"/>
                  </a:ext>
                </a:extLst>
              </p:cNvPr>
              <p:cNvSpPr/>
              <p:nvPr/>
            </p:nvSpPr>
            <p:spPr>
              <a:xfrm>
                <a:off x="6892104" y="5470919"/>
                <a:ext cx="436952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ysDot"/>
                <a:miter lim="400000"/>
                <a:headEnd type="triangle" w="med" len="med"/>
                <a:tailEnd type="triangle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85" name="Construct Geometric Components Data File">
                <a:extLst>
                  <a:ext uri="{FF2B5EF4-FFF2-40B4-BE49-F238E27FC236}">
                    <a16:creationId xmlns:a16="http://schemas.microsoft.com/office/drawing/2014/main" id="{446D66E7-D71B-FE55-342A-865D895051C2}"/>
                  </a:ext>
                </a:extLst>
              </p:cNvPr>
              <p:cNvSpPr txBox="1"/>
              <p:nvPr/>
            </p:nvSpPr>
            <p:spPr>
              <a:xfrm>
                <a:off x="7191821" y="1410116"/>
                <a:ext cx="2101724" cy="656590"/>
              </a:xfrm>
              <a:prstGeom prst="rect">
                <a:avLst/>
              </a:prstGeom>
              <a:noFill/>
              <a:ln w="25400" cap="flat">
                <a:solidFill>
                  <a:schemeClr val="accent2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defRPr sz="1200">
                    <a:solidFill>
                      <a:srgbClr val="942192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rPr sz="1800" dirty="0">
                    <a:solidFill>
                      <a:schemeClr val="accent2"/>
                    </a:solidFill>
                  </a:rPr>
                  <a:t>Geometric Components Data </a:t>
                </a:r>
              </a:p>
            </p:txBody>
          </p:sp>
          <p:sp>
            <p:nvSpPr>
              <p:cNvPr id="87" name="Rectangle">
                <a:extLst>
                  <a:ext uri="{FF2B5EF4-FFF2-40B4-BE49-F238E27FC236}">
                    <a16:creationId xmlns:a16="http://schemas.microsoft.com/office/drawing/2014/main" id="{16B166C5-2A70-F757-C2E3-0F2099BB57DD}"/>
                  </a:ext>
                </a:extLst>
              </p:cNvPr>
              <p:cNvSpPr/>
              <p:nvPr/>
            </p:nvSpPr>
            <p:spPr>
              <a:xfrm>
                <a:off x="218762" y="2149801"/>
                <a:ext cx="9789677" cy="107706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custDash>
                  <a:ds d="100000" sp="200000"/>
                </a:custDash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C49E0B03-2545-2DC4-C4FD-870FB391F12E}"/>
                  </a:ext>
                </a:extLst>
              </p:cNvPr>
              <p:cNvGrpSpPr/>
              <p:nvPr/>
            </p:nvGrpSpPr>
            <p:grpSpPr>
              <a:xfrm>
                <a:off x="377064" y="2206640"/>
                <a:ext cx="9535451" cy="943967"/>
                <a:chOff x="10847577" y="3429276"/>
                <a:chExt cx="9535451" cy="943967"/>
              </a:xfrm>
            </p:grpSpPr>
            <p:sp>
              <p:nvSpPr>
                <p:cNvPr id="93" name="Discretized Faces (untrimmed)">
                  <a:extLst>
                    <a:ext uri="{FF2B5EF4-FFF2-40B4-BE49-F238E27FC236}">
                      <a16:creationId xmlns:a16="http://schemas.microsoft.com/office/drawing/2014/main" id="{37783160-8C31-C81E-28CA-EC970F8CD391}"/>
                    </a:ext>
                  </a:extLst>
                </p:cNvPr>
                <p:cNvSpPr txBox="1"/>
                <p:nvPr/>
              </p:nvSpPr>
              <p:spPr>
                <a:xfrm>
                  <a:off x="12807452" y="3439654"/>
                  <a:ext cx="2926283" cy="933589"/>
                </a:xfrm>
                <a:prstGeom prst="rect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algn="ctr">
                    <a:defRPr sz="1200"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r>
                    <a:rPr sz="1800" dirty="0"/>
                    <a:t>Discretized Faces (untrimmed</a:t>
                  </a:r>
                  <a:r>
                    <a:rPr lang="en-US" sz="1800" dirty="0"/>
                    <a:t> with </a:t>
                  </a:r>
                  <a:r>
                    <a:rPr lang="en-US" sz="1800" dirty="0" err="1"/>
                    <a:t>iblanks</a:t>
                  </a:r>
                  <a:r>
                    <a:rPr lang="en-US" sz="1800" dirty="0"/>
                    <a:t>, or trimmed without </a:t>
                  </a:r>
                  <a:r>
                    <a:rPr lang="en-US" sz="1800" dirty="0" err="1"/>
                    <a:t>iblanks</a:t>
                  </a:r>
                  <a:r>
                    <a:rPr sz="1800" dirty="0"/>
                    <a:t>)</a:t>
                  </a:r>
                </a:p>
              </p:txBody>
            </p:sp>
            <p:sp>
              <p:nvSpPr>
                <p:cNvPr id="94" name="Discretized Edges">
                  <a:extLst>
                    <a:ext uri="{FF2B5EF4-FFF2-40B4-BE49-F238E27FC236}">
                      <a16:creationId xmlns:a16="http://schemas.microsoft.com/office/drawing/2014/main" id="{3DB01E1A-8807-1255-1D29-051B53A2C04F}"/>
                    </a:ext>
                  </a:extLst>
                </p:cNvPr>
                <p:cNvSpPr txBox="1"/>
                <p:nvPr/>
              </p:nvSpPr>
              <p:spPr>
                <a:xfrm>
                  <a:off x="18922491" y="3608239"/>
                  <a:ext cx="1460537" cy="656590"/>
                </a:xfrm>
                <a:prstGeom prst="rect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>
                    <a:defRPr sz="1200"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algn="ctr"/>
                  <a:r>
                    <a:rPr sz="1800" dirty="0"/>
                    <a:t>Discretized Edges</a:t>
                  </a:r>
                </a:p>
              </p:txBody>
            </p:sp>
            <p:sp>
              <p:nvSpPr>
                <p:cNvPr id="95" name="Topology Data">
                  <a:extLst>
                    <a:ext uri="{FF2B5EF4-FFF2-40B4-BE49-F238E27FC236}">
                      <a16:creationId xmlns:a16="http://schemas.microsoft.com/office/drawing/2014/main" id="{76786A6A-0174-B930-EBF9-F3D8CAA03D38}"/>
                    </a:ext>
                  </a:extLst>
                </p:cNvPr>
                <p:cNvSpPr txBox="1"/>
                <p:nvPr/>
              </p:nvSpPr>
              <p:spPr>
                <a:xfrm>
                  <a:off x="17619044" y="3603249"/>
                  <a:ext cx="1027096" cy="656590"/>
                </a:xfrm>
                <a:prstGeom prst="rect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>
                    <a:defRPr sz="1200"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algn="ctr"/>
                  <a:r>
                    <a:rPr sz="1800" dirty="0"/>
                    <a:t>Topology Data</a:t>
                  </a:r>
                </a:p>
              </p:txBody>
            </p:sp>
            <p:sp>
              <p:nvSpPr>
                <p:cNvPr id="96" name="POGS Input File">
                  <a:extLst>
                    <a:ext uri="{FF2B5EF4-FFF2-40B4-BE49-F238E27FC236}">
                      <a16:creationId xmlns:a16="http://schemas.microsoft.com/office/drawing/2014/main" id="{DA26A414-44AF-36B6-308A-D148139DF7DE}"/>
                    </a:ext>
                  </a:extLst>
                </p:cNvPr>
                <p:cNvSpPr txBox="1"/>
                <p:nvPr/>
              </p:nvSpPr>
              <p:spPr>
                <a:xfrm>
                  <a:off x="16080493" y="3603249"/>
                  <a:ext cx="1195564" cy="656590"/>
                </a:xfrm>
                <a:prstGeom prst="rect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>
                    <a:defRPr sz="1200"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algn="ctr"/>
                  <a:r>
                    <a:rPr sz="1800" dirty="0"/>
                    <a:t>POGS Input File</a:t>
                  </a:r>
                </a:p>
              </p:txBody>
            </p:sp>
            <p:sp>
              <p:nvSpPr>
                <p:cNvPr id="97" name="Surface Triangulation (trimmed)">
                  <a:extLst>
                    <a:ext uri="{FF2B5EF4-FFF2-40B4-BE49-F238E27FC236}">
                      <a16:creationId xmlns:a16="http://schemas.microsoft.com/office/drawing/2014/main" id="{F10692C5-6B4E-4297-AB8D-39A5D49A1D8B}"/>
                    </a:ext>
                  </a:extLst>
                </p:cNvPr>
                <p:cNvSpPr txBox="1"/>
                <p:nvPr/>
              </p:nvSpPr>
              <p:spPr>
                <a:xfrm>
                  <a:off x="10847577" y="3429276"/>
                  <a:ext cx="1568836" cy="933589"/>
                </a:xfrm>
                <a:prstGeom prst="rect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algn="ctr">
                    <a:defRPr sz="1200"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r>
                    <a:rPr sz="1800" dirty="0"/>
                    <a:t>Surface Triangulation (trimmed)</a:t>
                  </a:r>
                </a:p>
              </p:txBody>
            </p:sp>
          </p:grpSp>
          <p:sp>
            <p:nvSpPr>
              <p:cNvPr id="89" name="BREP Solid Geometry">
                <a:extLst>
                  <a:ext uri="{FF2B5EF4-FFF2-40B4-BE49-F238E27FC236}">
                    <a16:creationId xmlns:a16="http://schemas.microsoft.com/office/drawing/2014/main" id="{CCBEAFC0-4615-66E3-B29E-1702E33FB662}"/>
                  </a:ext>
                </a:extLst>
              </p:cNvPr>
              <p:cNvSpPr txBox="1"/>
              <p:nvPr/>
            </p:nvSpPr>
            <p:spPr>
              <a:xfrm>
                <a:off x="8644682" y="885158"/>
                <a:ext cx="1830956" cy="379591"/>
              </a:xfrm>
              <a:prstGeom prst="rect">
                <a:avLst/>
              </a:prstGeom>
              <a:noFill/>
              <a:ln w="25400" cap="flat">
                <a:solidFill>
                  <a:srgbClr val="0070C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rPr lang="en-US" sz="1800" dirty="0">
                    <a:solidFill>
                      <a:srgbClr val="0070C0"/>
                    </a:solidFill>
                  </a:rPr>
                  <a:t>Starting Point A</a:t>
                </a:r>
                <a:endParaRPr sz="1800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90" name="BREP Solid Geometry">
                <a:extLst>
                  <a:ext uri="{FF2B5EF4-FFF2-40B4-BE49-F238E27FC236}">
                    <a16:creationId xmlns:a16="http://schemas.microsoft.com/office/drawing/2014/main" id="{EA4ED6AF-CBA4-502E-F938-21E7D04F6324}"/>
                  </a:ext>
                </a:extLst>
              </p:cNvPr>
              <p:cNvSpPr txBox="1"/>
              <p:nvPr/>
            </p:nvSpPr>
            <p:spPr>
              <a:xfrm>
                <a:off x="10297798" y="2519113"/>
                <a:ext cx="1713071" cy="379591"/>
              </a:xfrm>
              <a:prstGeom prst="rect">
                <a:avLst/>
              </a:prstGeom>
              <a:noFill/>
              <a:ln w="25400" cap="flat">
                <a:solidFill>
                  <a:srgbClr val="0070C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rPr lang="en-US" sz="1800" dirty="0">
                    <a:solidFill>
                      <a:srgbClr val="0070C0"/>
                    </a:solidFill>
                  </a:rPr>
                  <a:t>Starting Point B</a:t>
                </a:r>
                <a:endParaRPr sz="1800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91" name="Line">
                <a:extLst>
                  <a:ext uri="{FF2B5EF4-FFF2-40B4-BE49-F238E27FC236}">
                    <a16:creationId xmlns:a16="http://schemas.microsoft.com/office/drawing/2014/main" id="{F9902976-5855-77FF-57B9-226416B1ED23}"/>
                  </a:ext>
                </a:extLst>
              </p:cNvPr>
              <p:cNvSpPr/>
              <p:nvPr/>
            </p:nvSpPr>
            <p:spPr>
              <a:xfrm flipH="1">
                <a:off x="6971470" y="1065778"/>
                <a:ext cx="1662873" cy="9155"/>
              </a:xfrm>
              <a:prstGeom prst="line">
                <a:avLst/>
              </a:prstGeom>
              <a:noFill/>
              <a:ln w="25400" cap="flat">
                <a:solidFill>
                  <a:srgbClr val="0070C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92" name="Line">
                <a:extLst>
                  <a:ext uri="{FF2B5EF4-FFF2-40B4-BE49-F238E27FC236}">
                    <a16:creationId xmlns:a16="http://schemas.microsoft.com/office/drawing/2014/main" id="{49D6A888-67D1-6B7A-C419-56FD1F2B2340}"/>
                  </a:ext>
                </a:extLst>
              </p:cNvPr>
              <p:cNvSpPr/>
              <p:nvPr/>
            </p:nvSpPr>
            <p:spPr>
              <a:xfrm flipH="1" flipV="1">
                <a:off x="9994300" y="2752720"/>
                <a:ext cx="303498" cy="0"/>
              </a:xfrm>
              <a:prstGeom prst="line">
                <a:avLst/>
              </a:prstGeom>
              <a:noFill/>
              <a:ln w="25400" cap="flat">
                <a:solidFill>
                  <a:srgbClr val="0070C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 dirty="0"/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BA8807B-BBD7-9C1D-8D88-B765017EC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2107" y="3313114"/>
            <a:ext cx="1821666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94F9E4-1158-82EE-810D-39FDA1BEAD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20" y="3298084"/>
            <a:ext cx="1821666" cy="1828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7ECAC6-8DF6-23BA-8165-ECA52E47FA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4499" y="3352222"/>
            <a:ext cx="1821666" cy="182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BCBE036-BE49-D33A-DD32-5F5075E98FA7}"/>
              </a:ext>
            </a:extLst>
          </p:cNvPr>
          <p:cNvSpPr txBox="1"/>
          <p:nvPr/>
        </p:nvSpPr>
        <p:spPr>
          <a:xfrm>
            <a:off x="7047558" y="3273432"/>
            <a:ext cx="1683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A 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|  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|  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2" name="POGS">
            <a:extLst>
              <a:ext uri="{FF2B5EF4-FFF2-40B4-BE49-F238E27FC236}">
                <a16:creationId xmlns:a16="http://schemas.microsoft.com/office/drawing/2014/main" id="{AE339422-A102-A305-1D2A-FAFD8A49494E}"/>
              </a:ext>
            </a:extLst>
          </p:cNvPr>
          <p:cNvSpPr txBox="1"/>
          <p:nvPr/>
        </p:nvSpPr>
        <p:spPr>
          <a:xfrm>
            <a:off x="6194445" y="3652935"/>
            <a:ext cx="2732098" cy="656590"/>
          </a:xfrm>
          <a:prstGeom prst="rect">
            <a:avLst/>
          </a:prstGeom>
          <a:noFill/>
          <a:ln w="25400" cap="flat">
            <a:noFill/>
            <a:prstDash val="solid"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>
              <a:defRPr sz="1200">
                <a:solidFill>
                  <a:srgbClr val="94219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ctr"/>
            <a:r>
              <a:rPr sz="1800" dirty="0"/>
              <a:t>P</a:t>
            </a:r>
            <a:r>
              <a:rPr lang="en-US" sz="1800" dirty="0"/>
              <a:t>re-processor for Overset Grid Simulations</a:t>
            </a:r>
            <a:endParaRPr sz="1800" dirty="0"/>
          </a:p>
        </p:txBody>
      </p:sp>
      <p:sp>
        <p:nvSpPr>
          <p:cNvPr id="13" name="Mesh Repairs (if needed)">
            <a:extLst>
              <a:ext uri="{FF2B5EF4-FFF2-40B4-BE49-F238E27FC236}">
                <a16:creationId xmlns:a16="http://schemas.microsoft.com/office/drawing/2014/main" id="{09D5CDEF-31DF-7A7C-9F36-0EE4481A0BF9}"/>
              </a:ext>
            </a:extLst>
          </p:cNvPr>
          <p:cNvSpPr txBox="1"/>
          <p:nvPr/>
        </p:nvSpPr>
        <p:spPr>
          <a:xfrm>
            <a:off x="9518662" y="5862771"/>
            <a:ext cx="2568294" cy="656590"/>
          </a:xfrm>
          <a:prstGeom prst="rect">
            <a:avLst/>
          </a:prstGeom>
          <a:noFill/>
          <a:ln w="25400" cap="flat">
            <a:noFill/>
            <a:prstDash val="solid"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ctr">
              <a:defRPr sz="1200">
                <a:solidFill>
                  <a:srgbClr val="94219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2"/>
                </a:solidFill>
              </a:rPr>
              <a:t>Mesh overlap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2"/>
                </a:solidFill>
              </a:rPr>
              <a:t>Negative Jacobians</a:t>
            </a:r>
            <a:endParaRPr sz="1800" dirty="0">
              <a:solidFill>
                <a:schemeClr val="accent2"/>
              </a:solidFill>
            </a:endParaRPr>
          </a:p>
        </p:txBody>
      </p:sp>
      <p:sp>
        <p:nvSpPr>
          <p:cNvPr id="15" name="Line">
            <a:extLst>
              <a:ext uri="{FF2B5EF4-FFF2-40B4-BE49-F238E27FC236}">
                <a16:creationId xmlns:a16="http://schemas.microsoft.com/office/drawing/2014/main" id="{918B6520-EA91-20BA-D390-6DBDBCC4DF75}"/>
              </a:ext>
            </a:extLst>
          </p:cNvPr>
          <p:cNvSpPr/>
          <p:nvPr/>
        </p:nvSpPr>
        <p:spPr>
          <a:xfrm>
            <a:off x="9199406" y="5578997"/>
            <a:ext cx="385078" cy="329334"/>
          </a:xfrm>
          <a:prstGeom prst="line">
            <a:avLst/>
          </a:prstGeom>
          <a:noFill/>
          <a:ln w="25400" cap="flat">
            <a:solidFill>
              <a:schemeClr val="accent2"/>
            </a:solidFill>
            <a:prstDash val="sysDot"/>
            <a:miter lim="400000"/>
            <a:headEnd type="none" w="med" len="med"/>
            <a:tailEnd type="triangle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7" name="Mesh Repairs (if needed)">
            <a:extLst>
              <a:ext uri="{FF2B5EF4-FFF2-40B4-BE49-F238E27FC236}">
                <a16:creationId xmlns:a16="http://schemas.microsoft.com/office/drawing/2014/main" id="{7202DEF7-3316-4BA1-F3FF-B3892FA180AF}"/>
              </a:ext>
            </a:extLst>
          </p:cNvPr>
          <p:cNvSpPr txBox="1"/>
          <p:nvPr/>
        </p:nvSpPr>
        <p:spPr>
          <a:xfrm>
            <a:off x="9658340" y="1474627"/>
            <a:ext cx="1904998" cy="656590"/>
          </a:xfrm>
          <a:prstGeom prst="rect">
            <a:avLst/>
          </a:prstGeom>
          <a:noFill/>
          <a:ln w="25400" cap="flat">
            <a:noFill/>
            <a:prstDash val="solid"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ctr">
              <a:defRPr sz="1200">
                <a:solidFill>
                  <a:srgbClr val="94219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1800" dirty="0">
                <a:solidFill>
                  <a:schemeClr val="accent2"/>
                </a:solidFill>
              </a:rPr>
              <a:t>List of faces in each component</a:t>
            </a:r>
          </a:p>
        </p:txBody>
      </p:sp>
    </p:spTree>
    <p:extLst>
      <p:ext uri="{BB962C8B-B14F-4D97-AF65-F5344CB8AC3E}">
        <p14:creationId xmlns:p14="http://schemas.microsoft.com/office/powerpoint/2010/main" val="2944868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789"/>
    </mc:Choice>
    <mc:Fallback xmlns="">
      <p:transition spd="slow" advTm="2878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CF464-79C6-09FB-CA41-FBF35F507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1FC0DE75-1F54-2B32-B9AD-61946BB6D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4FD023A-B303-1581-CE77-6485070D3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7">
            <a:extLst>
              <a:ext uri="{FF2B5EF4-FFF2-40B4-BE49-F238E27FC236}">
                <a16:creationId xmlns:a16="http://schemas.microsoft.com/office/drawing/2014/main" id="{DB698D47-7167-82AD-6302-996ADAAD8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9017" y="264675"/>
            <a:ext cx="88265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STARTING POINT B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Discrete Surfaces &amp; Curves, Edge/Face Topology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CDDAC82-3C23-2A28-5D44-C6A07A06D90A}"/>
              </a:ext>
            </a:extLst>
          </p:cNvPr>
          <p:cNvGrpSpPr/>
          <p:nvPr/>
        </p:nvGrpSpPr>
        <p:grpSpPr>
          <a:xfrm>
            <a:off x="420255" y="2667548"/>
            <a:ext cx="10243979" cy="2000677"/>
            <a:chOff x="205410" y="2041388"/>
            <a:chExt cx="10243979" cy="20006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A7155D0-78E7-AC15-555A-50328DF02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72359" y="2213265"/>
              <a:ext cx="1821666" cy="18288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C4CE38E-E62E-56FF-CA28-D6DBCD95E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5410" y="2199941"/>
              <a:ext cx="1821666" cy="18288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7B3D7F3-B077-B283-7FD5-3643806B3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27723" y="2160445"/>
              <a:ext cx="1821666" cy="18288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56F4BBB-F1DF-BF12-79B5-5A190E4A0DC2}"/>
                </a:ext>
              </a:extLst>
            </p:cNvPr>
            <p:cNvSpPr txBox="1"/>
            <p:nvPr/>
          </p:nvSpPr>
          <p:spPr>
            <a:xfrm>
              <a:off x="6659126" y="2041388"/>
              <a:ext cx="16838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r>
                <a:rPr lang="en-US" sz="20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A  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|  E</a:t>
              </a:r>
              <a:r>
                <a:rPr lang="en-US" sz="20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 |  F</a:t>
              </a:r>
              <a:r>
                <a:rPr lang="en-US" sz="20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838DB8E-179A-0DEA-F440-14100388F146}"/>
              </a:ext>
            </a:extLst>
          </p:cNvPr>
          <p:cNvSpPr txBox="1"/>
          <p:nvPr/>
        </p:nvSpPr>
        <p:spPr>
          <a:xfrm>
            <a:off x="1661230" y="5488373"/>
            <a:ext cx="8685391" cy="132343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(1) Output from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OpenVSP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(2) Manual construction using various tools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(3) Surface triangulation with triangles tagged by face ID (work in progress)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043E5D0-9804-68DF-873F-BB6F905EFD7B}"/>
              </a:ext>
            </a:extLst>
          </p:cNvPr>
          <p:cNvGrpSpPr/>
          <p:nvPr/>
        </p:nvGrpSpPr>
        <p:grpSpPr>
          <a:xfrm>
            <a:off x="205410" y="1046239"/>
            <a:ext cx="11543245" cy="1656818"/>
            <a:chOff x="205410" y="1046239"/>
            <a:chExt cx="11543245" cy="1656818"/>
          </a:xfrm>
        </p:grpSpPr>
        <p:sp>
          <p:nvSpPr>
            <p:cNvPr id="85" name="Construct Geometric Components Data File">
              <a:extLst>
                <a:ext uri="{FF2B5EF4-FFF2-40B4-BE49-F238E27FC236}">
                  <a16:creationId xmlns:a16="http://schemas.microsoft.com/office/drawing/2014/main" id="{F927F8F7-ECBE-D3D6-4CF3-6900FE0F0A7C}"/>
                </a:ext>
              </a:extLst>
            </p:cNvPr>
            <p:cNvSpPr txBox="1"/>
            <p:nvPr/>
          </p:nvSpPr>
          <p:spPr>
            <a:xfrm>
              <a:off x="10089434" y="1306926"/>
              <a:ext cx="1460600" cy="933589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1200">
                  <a:solidFill>
                    <a:srgbClr val="942192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1800" dirty="0">
                  <a:solidFill>
                    <a:schemeClr val="tx1"/>
                  </a:solidFill>
                </a:rPr>
                <a:t>Geometric Components Data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485D8B8-655C-0BDA-88BA-CA7A74294975}"/>
                </a:ext>
              </a:extLst>
            </p:cNvPr>
            <p:cNvGrpSpPr/>
            <p:nvPr/>
          </p:nvGrpSpPr>
          <p:grpSpPr>
            <a:xfrm>
              <a:off x="205410" y="1046239"/>
              <a:ext cx="11543245" cy="1306285"/>
              <a:chOff x="333277" y="2045937"/>
              <a:chExt cx="11543245" cy="1306285"/>
            </a:xfrm>
          </p:grpSpPr>
          <p:sp>
            <p:nvSpPr>
              <p:cNvPr id="87" name="Rectangle">
                <a:extLst>
                  <a:ext uri="{FF2B5EF4-FFF2-40B4-BE49-F238E27FC236}">
                    <a16:creationId xmlns:a16="http://schemas.microsoft.com/office/drawing/2014/main" id="{05826938-E959-EE6F-5744-9D3776DA5012}"/>
                  </a:ext>
                </a:extLst>
              </p:cNvPr>
              <p:cNvSpPr/>
              <p:nvPr/>
            </p:nvSpPr>
            <p:spPr>
              <a:xfrm>
                <a:off x="333277" y="2045937"/>
                <a:ext cx="11543245" cy="1306285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custDash>
                  <a:ds d="100000" sp="200000"/>
                </a:custDash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C961C2BB-696F-0848-2C4F-8C007D5AF045}"/>
                  </a:ext>
                </a:extLst>
              </p:cNvPr>
              <p:cNvGrpSpPr/>
              <p:nvPr/>
            </p:nvGrpSpPr>
            <p:grpSpPr>
              <a:xfrm>
                <a:off x="453151" y="2271151"/>
                <a:ext cx="9535451" cy="943967"/>
                <a:chOff x="10847577" y="3429276"/>
                <a:chExt cx="9535451" cy="943967"/>
              </a:xfrm>
            </p:grpSpPr>
            <p:sp>
              <p:nvSpPr>
                <p:cNvPr id="93" name="Discretized Faces (untrimmed)">
                  <a:extLst>
                    <a:ext uri="{FF2B5EF4-FFF2-40B4-BE49-F238E27FC236}">
                      <a16:creationId xmlns:a16="http://schemas.microsoft.com/office/drawing/2014/main" id="{04F8830A-A228-EF76-54D5-2DD5C7D6C620}"/>
                    </a:ext>
                  </a:extLst>
                </p:cNvPr>
                <p:cNvSpPr txBox="1"/>
                <p:nvPr/>
              </p:nvSpPr>
              <p:spPr>
                <a:xfrm>
                  <a:off x="12807452" y="3439654"/>
                  <a:ext cx="2926283" cy="933589"/>
                </a:xfrm>
                <a:prstGeom prst="rect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algn="ctr">
                    <a:defRPr sz="1200"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r>
                    <a:rPr sz="1800" dirty="0"/>
                    <a:t>Discretized Faces (untrimmed</a:t>
                  </a:r>
                  <a:r>
                    <a:rPr lang="en-US" sz="1800" dirty="0"/>
                    <a:t> with </a:t>
                  </a:r>
                  <a:r>
                    <a:rPr lang="en-US" sz="1800" dirty="0" err="1"/>
                    <a:t>iblanks</a:t>
                  </a:r>
                  <a:r>
                    <a:rPr lang="en-US" sz="1800" dirty="0"/>
                    <a:t>, or trimmed without </a:t>
                  </a:r>
                  <a:r>
                    <a:rPr lang="en-US" sz="1800" dirty="0" err="1"/>
                    <a:t>iblanks</a:t>
                  </a:r>
                  <a:r>
                    <a:rPr sz="1800" dirty="0"/>
                    <a:t>)</a:t>
                  </a:r>
                </a:p>
              </p:txBody>
            </p:sp>
            <p:sp>
              <p:nvSpPr>
                <p:cNvPr id="94" name="Discretized Edges">
                  <a:extLst>
                    <a:ext uri="{FF2B5EF4-FFF2-40B4-BE49-F238E27FC236}">
                      <a16:creationId xmlns:a16="http://schemas.microsoft.com/office/drawing/2014/main" id="{984BCCB5-C80B-EB98-8FE7-C4B751D42FE6}"/>
                    </a:ext>
                  </a:extLst>
                </p:cNvPr>
                <p:cNvSpPr txBox="1"/>
                <p:nvPr/>
              </p:nvSpPr>
              <p:spPr>
                <a:xfrm>
                  <a:off x="18922491" y="3608239"/>
                  <a:ext cx="1460537" cy="656590"/>
                </a:xfrm>
                <a:prstGeom prst="rect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>
                    <a:defRPr sz="1200"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algn="ctr"/>
                  <a:r>
                    <a:rPr sz="1800" dirty="0"/>
                    <a:t>Discretized Edges</a:t>
                  </a:r>
                </a:p>
              </p:txBody>
            </p:sp>
            <p:sp>
              <p:nvSpPr>
                <p:cNvPr id="95" name="Topology Data">
                  <a:extLst>
                    <a:ext uri="{FF2B5EF4-FFF2-40B4-BE49-F238E27FC236}">
                      <a16:creationId xmlns:a16="http://schemas.microsoft.com/office/drawing/2014/main" id="{8BFF3162-9421-F9C3-D308-3BAF837BE7E2}"/>
                    </a:ext>
                  </a:extLst>
                </p:cNvPr>
                <p:cNvSpPr txBox="1"/>
                <p:nvPr/>
              </p:nvSpPr>
              <p:spPr>
                <a:xfrm>
                  <a:off x="17619044" y="3603249"/>
                  <a:ext cx="1027096" cy="656590"/>
                </a:xfrm>
                <a:prstGeom prst="rect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>
                    <a:defRPr sz="1200"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algn="ctr"/>
                  <a:r>
                    <a:rPr sz="1800" dirty="0"/>
                    <a:t>Topology Data</a:t>
                  </a:r>
                </a:p>
              </p:txBody>
            </p:sp>
            <p:sp>
              <p:nvSpPr>
                <p:cNvPr id="96" name="POGS Input File">
                  <a:extLst>
                    <a:ext uri="{FF2B5EF4-FFF2-40B4-BE49-F238E27FC236}">
                      <a16:creationId xmlns:a16="http://schemas.microsoft.com/office/drawing/2014/main" id="{BC06D2BE-25D2-FB58-171A-4DF95F57DB96}"/>
                    </a:ext>
                  </a:extLst>
                </p:cNvPr>
                <p:cNvSpPr txBox="1"/>
                <p:nvPr/>
              </p:nvSpPr>
              <p:spPr>
                <a:xfrm>
                  <a:off x="16080493" y="3603249"/>
                  <a:ext cx="1195564" cy="656590"/>
                </a:xfrm>
                <a:prstGeom prst="rect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>
                    <a:defRPr sz="1200"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algn="ctr"/>
                  <a:r>
                    <a:rPr sz="1800" dirty="0"/>
                    <a:t>POGS Input File</a:t>
                  </a:r>
                </a:p>
              </p:txBody>
            </p:sp>
            <p:sp>
              <p:nvSpPr>
                <p:cNvPr id="97" name="Surface Triangulation (trimmed)">
                  <a:extLst>
                    <a:ext uri="{FF2B5EF4-FFF2-40B4-BE49-F238E27FC236}">
                      <a16:creationId xmlns:a16="http://schemas.microsoft.com/office/drawing/2014/main" id="{00135415-4754-90BC-BD8F-62A2B01FE0AC}"/>
                    </a:ext>
                  </a:extLst>
                </p:cNvPr>
                <p:cNvSpPr txBox="1"/>
                <p:nvPr/>
              </p:nvSpPr>
              <p:spPr>
                <a:xfrm>
                  <a:off x="10847577" y="3429276"/>
                  <a:ext cx="1568836" cy="933589"/>
                </a:xfrm>
                <a:prstGeom prst="rect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algn="ctr">
                    <a:defRPr sz="1200"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r>
                    <a:rPr sz="1800" dirty="0"/>
                    <a:t>Surface Triangulation (trimmed)</a:t>
                  </a:r>
                </a:p>
              </p:txBody>
            </p:sp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F1F969-6651-1261-9BAA-B36511885271}"/>
                </a:ext>
              </a:extLst>
            </p:cNvPr>
            <p:cNvSpPr txBox="1"/>
            <p:nvPr/>
          </p:nvSpPr>
          <p:spPr>
            <a:xfrm>
              <a:off x="664520" y="2297613"/>
              <a:ext cx="6023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i.tri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FD0BF3-8006-23B9-05C1-F205FE8BFA60}"/>
                </a:ext>
              </a:extLst>
            </p:cNvPr>
            <p:cNvSpPr txBox="1"/>
            <p:nvPr/>
          </p:nvSpPr>
          <p:spPr>
            <a:xfrm>
              <a:off x="3385059" y="2302947"/>
              <a:ext cx="7264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uvin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8DC8D30-BD76-7D17-9D21-563B6392BD40}"/>
                </a:ext>
              </a:extLst>
            </p:cNvPr>
            <p:cNvSpPr txBox="1"/>
            <p:nvPr/>
          </p:nvSpPr>
          <p:spPr>
            <a:xfrm>
              <a:off x="8824933" y="2297613"/>
              <a:ext cx="6110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.cur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B3427CD-7778-C98C-AF5D-41377CB35783}"/>
                </a:ext>
              </a:extLst>
            </p:cNvPr>
            <p:cNvSpPr txBox="1"/>
            <p:nvPr/>
          </p:nvSpPr>
          <p:spPr>
            <a:xfrm>
              <a:off x="7248505" y="2297613"/>
              <a:ext cx="7537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.topo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089DC86-86FA-C84A-B68A-0B37CCC1DE73}"/>
              </a:ext>
            </a:extLst>
          </p:cNvPr>
          <p:cNvSpPr txBox="1"/>
          <p:nvPr/>
        </p:nvSpPr>
        <p:spPr>
          <a:xfrm>
            <a:off x="5686141" y="2307301"/>
            <a:ext cx="939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pogs.i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491831-C1F1-7C73-D524-1D37D00938AA}"/>
              </a:ext>
            </a:extLst>
          </p:cNvPr>
          <p:cNvSpPr txBox="1"/>
          <p:nvPr/>
        </p:nvSpPr>
        <p:spPr>
          <a:xfrm>
            <a:off x="10312547" y="2321476"/>
            <a:ext cx="1024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gcomp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B570C1-91A0-4F2D-0AFD-23637BBCA2B2}"/>
              </a:ext>
            </a:extLst>
          </p:cNvPr>
          <p:cNvSpPr txBox="1"/>
          <p:nvPr/>
        </p:nvSpPr>
        <p:spPr>
          <a:xfrm>
            <a:off x="5189226" y="3156540"/>
            <a:ext cx="3272985" cy="2246769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parameter inputs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Max grid spacing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Max stretching ratio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Min grid dimension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Wall normal spacing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Fringe layers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Min donor stencil quality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5ED5F0D-5F1B-CC0A-0572-E62B6ACDFD04}"/>
              </a:ext>
            </a:extLst>
          </p:cNvPr>
          <p:cNvCxnSpPr>
            <a:cxnSpLocks/>
          </p:cNvCxnSpPr>
          <p:nvPr/>
        </p:nvCxnSpPr>
        <p:spPr>
          <a:xfrm flipV="1">
            <a:off x="6155981" y="2675126"/>
            <a:ext cx="0" cy="4572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030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789"/>
    </mc:Choice>
    <mc:Fallback xmlns="">
      <p:transition spd="slow" advTm="2878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E803B-DD0D-DF49-7D60-F9741309E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8DC941-E6BE-1426-C59D-BCAFE0586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457" y="4010132"/>
            <a:ext cx="3517158" cy="27432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02F9EC20-7628-DA7A-2C15-E80DF59C4737}"/>
              </a:ext>
            </a:extLst>
          </p:cNvPr>
          <p:cNvGrpSpPr/>
          <p:nvPr/>
        </p:nvGrpSpPr>
        <p:grpSpPr>
          <a:xfrm>
            <a:off x="1213021" y="1224898"/>
            <a:ext cx="10881807" cy="2785234"/>
            <a:chOff x="1213021" y="1224898"/>
            <a:chExt cx="10881807" cy="278523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17C774D-6A13-A749-8FF9-EAE740933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3021" y="1266932"/>
              <a:ext cx="3603631" cy="27432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CE6A36D-B7A4-362C-AFA5-F2607ADD1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91197" y="1224898"/>
              <a:ext cx="3603631" cy="27432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4601102-4EFD-5801-BD23-58502D706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10816" y="1224898"/>
              <a:ext cx="3603631" cy="27432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54BD9EE-CC22-14A2-96F5-2C27580F0465}"/>
                </a:ext>
              </a:extLst>
            </p:cNvPr>
            <p:cNvSpPr txBox="1"/>
            <p:nvPr/>
          </p:nvSpPr>
          <p:spPr>
            <a:xfrm>
              <a:off x="2002221" y="2685399"/>
              <a:ext cx="684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i.tri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0ECF7C9-D124-67CD-6776-8EF70E577F48}"/>
                </a:ext>
              </a:extLst>
            </p:cNvPr>
            <p:cNvSpPr txBox="1"/>
            <p:nvPr/>
          </p:nvSpPr>
          <p:spPr>
            <a:xfrm>
              <a:off x="5507665" y="2685399"/>
              <a:ext cx="7264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uvin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25A5F5-436D-69A0-FBBA-1BAB0D91D0AE}"/>
                </a:ext>
              </a:extLst>
            </p:cNvPr>
            <p:cNvSpPr txBox="1"/>
            <p:nvPr/>
          </p:nvSpPr>
          <p:spPr>
            <a:xfrm>
              <a:off x="9305605" y="2691090"/>
              <a:ext cx="6110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.cur</a:t>
              </a:r>
            </a:p>
          </p:txBody>
        </p:sp>
      </p:grpSp>
      <p:sp>
        <p:nvSpPr>
          <p:cNvPr id="6" name="Rectangle 6">
            <a:extLst>
              <a:ext uri="{FF2B5EF4-FFF2-40B4-BE49-F238E27FC236}">
                <a16:creationId xmlns:a16="http://schemas.microsoft.com/office/drawing/2014/main" id="{D8F128D4-5A2A-1206-8356-CB09369BE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5E0ED24-6C42-3F9E-CD66-CCA79BF5F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7">
            <a:extLst>
              <a:ext uri="{FF2B5EF4-FFF2-40B4-BE49-F238E27FC236}">
                <a16:creationId xmlns:a16="http://schemas.microsoft.com/office/drawing/2014/main" id="{C0E274D9-2DB6-4851-9013-D11F37D8A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854" y="187353"/>
            <a:ext cx="95931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STARTING POINT B – </a:t>
            </a:r>
            <a:r>
              <a:rPr lang="en-US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OpenVSP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Podwing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7586B8-7BBD-8F96-6C15-BA07EB07C6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612" y="4052166"/>
            <a:ext cx="3603631" cy="27432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AA28FFE-C08B-BE0E-D109-D1A950BA17E3}"/>
              </a:ext>
            </a:extLst>
          </p:cNvPr>
          <p:cNvSpPr txBox="1"/>
          <p:nvPr/>
        </p:nvSpPr>
        <p:spPr>
          <a:xfrm>
            <a:off x="0" y="1094063"/>
            <a:ext cx="42594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Edge/Face Topology (.topo)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Geometric components (.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gcomp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POGS input (.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pogs.i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F05C71-84FE-1AA7-BCF1-5D2C20A6DC13}"/>
              </a:ext>
            </a:extLst>
          </p:cNvPr>
          <p:cNvSpPr txBox="1"/>
          <p:nvPr/>
        </p:nvSpPr>
        <p:spPr>
          <a:xfrm>
            <a:off x="522549" y="4340110"/>
            <a:ext cx="2611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Surface grids = 62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81C0DC-2EAD-91C2-9127-BE02F237BA2C}"/>
              </a:ext>
            </a:extLst>
          </p:cNvPr>
          <p:cNvSpPr txBox="1"/>
          <p:nvPr/>
        </p:nvSpPr>
        <p:spPr>
          <a:xfrm>
            <a:off x="4470069" y="4010132"/>
            <a:ext cx="37215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Near-body grid pts = 6.8M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 Negative Jacobians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AD4A17-A51B-873F-7EC3-CD9AADFD6562}"/>
              </a:ext>
            </a:extLst>
          </p:cNvPr>
          <p:cNvSpPr txBox="1"/>
          <p:nvPr/>
        </p:nvSpPr>
        <p:spPr>
          <a:xfrm>
            <a:off x="8696403" y="4873900"/>
            <a:ext cx="33905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Total run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Surface + volume = 18s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Mac M2 laptop</a:t>
            </a:r>
          </a:p>
        </p:txBody>
      </p:sp>
    </p:spTree>
    <p:extLst>
      <p:ext uri="{BB962C8B-B14F-4D97-AF65-F5344CB8AC3E}">
        <p14:creationId xmlns:p14="http://schemas.microsoft.com/office/powerpoint/2010/main" val="99741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789"/>
    </mc:Choice>
    <mc:Fallback xmlns="">
      <p:transition spd="slow" advTm="2878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10BD2-4BED-1192-1F2B-328F04866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8C17468-5745-29B8-73D2-A45D17E95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5" y="4053840"/>
            <a:ext cx="3444536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A8DA7D-0701-8CD8-3CB0-762709131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126" y="861250"/>
            <a:ext cx="4361129" cy="2743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CEEB05-4769-06FE-9F04-C4650CDB7D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145" y="1018350"/>
            <a:ext cx="7121047" cy="27432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8BC6E106-E768-A534-ADC1-F0C2C266F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33BF4B0-DE30-2492-FBAC-D467D0780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Text Box 7">
            <a:extLst>
              <a:ext uri="{FF2B5EF4-FFF2-40B4-BE49-F238E27FC236}">
                <a16:creationId xmlns:a16="http://schemas.microsoft.com/office/drawing/2014/main" id="{6241BCBB-87B3-08C7-FE01-41C79FEA1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854" y="187353"/>
            <a:ext cx="95931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STARTING POINT B – </a:t>
            </a:r>
            <a:r>
              <a:rPr lang="en-US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OpenVSP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Generic Strut Braced Wing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88287B-214B-02F6-DDD7-B0E39F6183E3}"/>
              </a:ext>
            </a:extLst>
          </p:cNvPr>
          <p:cNvSpPr txBox="1"/>
          <p:nvPr/>
        </p:nvSpPr>
        <p:spPr>
          <a:xfrm>
            <a:off x="17496" y="3047711"/>
            <a:ext cx="29485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Grids = 464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Surface pts ~ 1.2M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Orphan pts ~ 1500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Run time ~ 1 min 8 sec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2AF759-38C0-C02A-4F76-B091C6DE4F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1261" y="3597869"/>
            <a:ext cx="3542811" cy="3200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0A6D38-A904-5CE3-8418-FF34ED7FF0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2416" y="4078860"/>
            <a:ext cx="3489710" cy="2743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4D70DD-A8BE-9869-72E5-F96B4B9AC11D}"/>
              </a:ext>
            </a:extLst>
          </p:cNvPr>
          <p:cNvSpPr txBox="1"/>
          <p:nvPr/>
        </p:nvSpPr>
        <p:spPr>
          <a:xfrm>
            <a:off x="3791668" y="3152288"/>
            <a:ext cx="35428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Volume pts ~ 74M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Defective volume grids = 15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Run time ~ 1 min 40 sec</a:t>
            </a:r>
          </a:p>
        </p:txBody>
      </p:sp>
    </p:spTree>
    <p:extLst>
      <p:ext uri="{BB962C8B-B14F-4D97-AF65-F5344CB8AC3E}">
        <p14:creationId xmlns:p14="http://schemas.microsoft.com/office/powerpoint/2010/main" val="319997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789"/>
    </mc:Choice>
    <mc:Fallback xmlns="">
      <p:transition spd="slow" advTm="2878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F7CB0-7B2F-39F1-1255-42C4FD0E6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DA9150F7-5EFF-10AC-DFD9-2A8FF3CF6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EBC01DA-9648-7112-D10B-FE64D7B5A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39597E-C3AA-F55C-EAF8-C370225C6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054818"/>
            <a:ext cx="11887200" cy="5487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62EF82-B392-78D2-9F20-083796F844A8}"/>
              </a:ext>
            </a:extLst>
          </p:cNvPr>
          <p:cNvSpPr txBox="1"/>
          <p:nvPr/>
        </p:nvSpPr>
        <p:spPr>
          <a:xfrm>
            <a:off x="6096000" y="4973081"/>
            <a:ext cx="60256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Starting geometry: Sheet or face 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Discrete inputs to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POGS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generated manually (~ 1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Topology (python script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topogenerator.py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" name="Text Box 7">
            <a:extLst>
              <a:ext uri="{FF2B5EF4-FFF2-40B4-BE49-F238E27FC236}">
                <a16:creationId xmlns:a16="http://schemas.microsoft.com/office/drawing/2014/main" id="{D2B97CF4-471F-8E48-46F0-209AA9B8E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9928" y="223821"/>
            <a:ext cx="1011999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STARTING POINT B – External Tools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CRM-NLF (Natural Laminar Flow Wing)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196221-084D-CC57-9F48-EB9CD1230789}"/>
              </a:ext>
            </a:extLst>
          </p:cNvPr>
          <p:cNvSpPr txBox="1"/>
          <p:nvPr/>
        </p:nvSpPr>
        <p:spPr>
          <a:xfrm>
            <a:off x="8222834" y="4328411"/>
            <a:ext cx="1598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Jeff Housman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D40A8-05F9-7600-8FF4-7A3F04A191C5}"/>
              </a:ext>
            </a:extLst>
          </p:cNvPr>
          <p:cNvSpPr txBox="1"/>
          <p:nvPr/>
        </p:nvSpPr>
        <p:spPr>
          <a:xfrm>
            <a:off x="1753849" y="3105834"/>
            <a:ext cx="287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Surface triangulation with face IDs (</a:t>
            </a:r>
            <a:r>
              <a:rPr lang="en-US" dirty="0">
                <a:solidFill>
                  <a:srgbClr val="0070C0"/>
                </a:solidFill>
              </a:rPr>
              <a:t>ANSA</a:t>
            </a:r>
            <a:r>
              <a:rPr lang="en-US" dirty="0"/>
              <a:t> STL)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EF62BE-E033-230E-A59D-2AC042F0B755}"/>
              </a:ext>
            </a:extLst>
          </p:cNvPr>
          <p:cNvSpPr txBox="1"/>
          <p:nvPr/>
        </p:nvSpPr>
        <p:spPr>
          <a:xfrm>
            <a:off x="1622809" y="5896411"/>
            <a:ext cx="3683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Plot3D surfaces (</a:t>
            </a:r>
            <a:r>
              <a:rPr lang="en-US" dirty="0">
                <a:solidFill>
                  <a:srgbClr val="0070C0"/>
                </a:solidFill>
              </a:rPr>
              <a:t>Pointwise</a:t>
            </a:r>
            <a:r>
              <a:rPr lang="en-US" dirty="0"/>
              <a:t>) with </a:t>
            </a:r>
            <a:r>
              <a:rPr lang="en-US" dirty="0" err="1"/>
              <a:t>iblanks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LAVA</a:t>
            </a:r>
            <a:r>
              <a:rPr lang="en-US" dirty="0"/>
              <a:t> utility </a:t>
            </a:r>
            <a:r>
              <a:rPr lang="en-US" dirty="0" err="1">
                <a:solidFill>
                  <a:srgbClr val="0070C0"/>
                </a:solidFill>
              </a:rPr>
              <a:t>quadTriProjTrim</a:t>
            </a:r>
            <a:r>
              <a:rPr lang="en-US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8B6FF9-2AF4-A6B4-D128-328D2A2FA534}"/>
              </a:ext>
            </a:extLst>
          </p:cNvPr>
          <p:cNvSpPr txBox="1"/>
          <p:nvPr/>
        </p:nvSpPr>
        <p:spPr>
          <a:xfrm>
            <a:off x="7505634" y="3152449"/>
            <a:ext cx="4631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Plot3D curves at boundaries of trimmed faces (</a:t>
            </a:r>
            <a:r>
              <a:rPr lang="en-US" dirty="0">
                <a:solidFill>
                  <a:srgbClr val="0070C0"/>
                </a:solidFill>
                <a:cs typeface="Arial" panose="020B0604020202020204" pitchFamily="34" charset="0"/>
              </a:rPr>
              <a:t>CGT/SEAMCRT</a:t>
            </a:r>
            <a:r>
              <a:rPr lang="en-US" dirty="0">
                <a:cs typeface="Arial" panose="020B0604020202020204" pitchFamily="34" charset="0"/>
              </a:rPr>
              <a:t> + minor mods in </a:t>
            </a:r>
            <a:r>
              <a:rPr lang="en-US" dirty="0">
                <a:solidFill>
                  <a:srgbClr val="0070C0"/>
                </a:solidFill>
                <a:cs typeface="Arial" panose="020B0604020202020204" pitchFamily="34" charset="0"/>
              </a:rPr>
              <a:t>OVERGRID</a:t>
            </a:r>
            <a:r>
              <a:rPr lang="en-US" dirty="0">
                <a:cs typeface="Arial" panose="020B0604020202020204" pitchFamily="34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34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789"/>
    </mc:Choice>
    <mc:Fallback xmlns="">
      <p:transition spd="slow" advTm="2878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D8A1D-110C-599B-F2C1-5A65F2F44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24C434B3-B4D4-AB5B-D91E-49AE24F68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3DFDC84-5A99-4F91-5A65-7F070CC55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FDF745-44CD-2A85-F3E2-E8EF9F9B1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167126"/>
            <a:ext cx="11887200" cy="54879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86E7D6-1608-32AE-B199-062D11553200}"/>
              </a:ext>
            </a:extLst>
          </p:cNvPr>
          <p:cNvSpPr txBox="1"/>
          <p:nvPr/>
        </p:nvSpPr>
        <p:spPr>
          <a:xfrm>
            <a:off x="2427508" y="5190088"/>
            <a:ext cx="5004590" cy="1323439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27 near-body surface grids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250K surface grid points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20 orphans (DQUAL 0.5)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Run time ~ 1 min on M2 Mac laptop</a:t>
            </a: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C97B016C-AB8E-A9E0-C9B1-411F4C712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854" y="187353"/>
            <a:ext cx="95931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STARTING POINT B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– External Tools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POGS Surface Grids for CRM-NLF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333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789"/>
    </mc:Choice>
    <mc:Fallback xmlns="">
      <p:transition spd="slow" advTm="2878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7B1E9-A10F-78CF-77BC-6FB9A5EE8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EC80BD6F-42AE-37F0-5171-FD8ED25E4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3DD0673-914A-72AE-F2FC-EEC7CA7BD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FF7B0C-BE63-7E7E-983B-1E5AF620A4CB}"/>
              </a:ext>
            </a:extLst>
          </p:cNvPr>
          <p:cNvSpPr txBox="1"/>
          <p:nvPr/>
        </p:nvSpPr>
        <p:spPr>
          <a:xfrm>
            <a:off x="2502174" y="5883466"/>
            <a:ext cx="69060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UVs generated for faces with 2, 3, or 4 edges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Transfinite interpolation, surface projection, &amp; smoothing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46D477-2509-7AF4-12F0-3ED1413400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394" b="16186"/>
          <a:stretch>
            <a:fillRect/>
          </a:stretch>
        </p:blipFill>
        <p:spPr>
          <a:xfrm>
            <a:off x="645185" y="1436693"/>
            <a:ext cx="4027465" cy="23056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8259DF9-9447-2611-29BF-B7034A49BBF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415" b="16098"/>
          <a:stretch>
            <a:fillRect/>
          </a:stretch>
        </p:blipFill>
        <p:spPr>
          <a:xfrm>
            <a:off x="1172217" y="3517622"/>
            <a:ext cx="4023223" cy="23056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D18D2E1-640B-C228-ECCE-B5F3426E601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9670" b="15842"/>
          <a:stretch>
            <a:fillRect/>
          </a:stretch>
        </p:blipFill>
        <p:spPr>
          <a:xfrm>
            <a:off x="6996560" y="3324904"/>
            <a:ext cx="4023223" cy="23056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2825CFF-68E4-4A9E-36DD-E503C088B8BD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066" b="16447"/>
          <a:stretch>
            <a:fillRect/>
          </a:stretch>
        </p:blipFill>
        <p:spPr>
          <a:xfrm>
            <a:off x="7034343" y="867658"/>
            <a:ext cx="4023223" cy="23056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23E5BBB-68A3-E1ED-B8C5-738B7AA80245}"/>
              </a:ext>
            </a:extLst>
          </p:cNvPr>
          <p:cNvSpPr txBox="1"/>
          <p:nvPr/>
        </p:nvSpPr>
        <p:spPr>
          <a:xfrm>
            <a:off x="3604451" y="5143173"/>
            <a:ext cx="1653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Coons Patch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92449D-383D-D2B9-BAD5-811E6BAEE56D}"/>
              </a:ext>
            </a:extLst>
          </p:cNvPr>
          <p:cNvSpPr txBox="1"/>
          <p:nvPr/>
        </p:nvSpPr>
        <p:spPr>
          <a:xfrm>
            <a:off x="8005436" y="5451226"/>
            <a:ext cx="41152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and Smooth: 100 iterations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DBB27D1-DC8D-485E-6A31-4868677EE641}"/>
              </a:ext>
            </a:extLst>
          </p:cNvPr>
          <p:cNvCxnSpPr>
            <a:cxnSpLocks/>
          </p:cNvCxnSpPr>
          <p:nvPr/>
        </p:nvCxnSpPr>
        <p:spPr>
          <a:xfrm>
            <a:off x="5195440" y="5204723"/>
            <a:ext cx="1713299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9451643-16D6-ED2A-AC20-43B299B209D6}"/>
              </a:ext>
            </a:extLst>
          </p:cNvPr>
          <p:cNvCxnSpPr>
            <a:cxnSpLocks/>
          </p:cNvCxnSpPr>
          <p:nvPr/>
        </p:nvCxnSpPr>
        <p:spPr>
          <a:xfrm>
            <a:off x="3006878" y="3170333"/>
            <a:ext cx="0" cy="91927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994C298-9D3F-43BD-C16C-87C1AB114EFC}"/>
              </a:ext>
            </a:extLst>
          </p:cNvPr>
          <p:cNvCxnSpPr>
            <a:cxnSpLocks/>
          </p:cNvCxnSpPr>
          <p:nvPr/>
        </p:nvCxnSpPr>
        <p:spPr>
          <a:xfrm flipV="1">
            <a:off x="7730265" y="3143415"/>
            <a:ext cx="0" cy="88464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4D016BC-B7D7-42E7-FCB7-5A06CAA61F3E}"/>
              </a:ext>
            </a:extLst>
          </p:cNvPr>
          <p:cNvSpPr txBox="1"/>
          <p:nvPr/>
        </p:nvSpPr>
        <p:spPr>
          <a:xfrm>
            <a:off x="771701" y="3694222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triangulation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4E96F8-EFA3-94FD-0095-F7C8B7EB79D0}"/>
              </a:ext>
            </a:extLst>
          </p:cNvPr>
          <p:cNvSpPr txBox="1"/>
          <p:nvPr/>
        </p:nvSpPr>
        <p:spPr>
          <a:xfrm>
            <a:off x="7934103" y="2970278"/>
            <a:ext cx="4257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and Smooth: 1000 iterations</a:t>
            </a:r>
          </a:p>
        </p:txBody>
      </p:sp>
      <p:sp>
        <p:nvSpPr>
          <p:cNvPr id="29" name="Text Box 7">
            <a:extLst>
              <a:ext uri="{FF2B5EF4-FFF2-40B4-BE49-F238E27FC236}">
                <a16:creationId xmlns:a16="http://schemas.microsoft.com/office/drawing/2014/main" id="{5B0FAFCE-24AE-03F7-FFA1-75BFFAA6A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854" y="187353"/>
            <a:ext cx="95931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STARTING POINT B –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Surface Triangulation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10053-2B0E-7930-9427-F3D564B76281}"/>
              </a:ext>
            </a:extLst>
          </p:cNvPr>
          <p:cNvSpPr txBox="1"/>
          <p:nvPr/>
        </p:nvSpPr>
        <p:spPr>
          <a:xfrm>
            <a:off x="5172557" y="1034753"/>
            <a:ext cx="1565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Chase Ashby</a:t>
            </a:r>
          </a:p>
        </p:txBody>
      </p:sp>
    </p:spTree>
    <p:extLst>
      <p:ext uri="{BB962C8B-B14F-4D97-AF65-F5344CB8AC3E}">
        <p14:creationId xmlns:p14="http://schemas.microsoft.com/office/powerpoint/2010/main" val="564516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789"/>
    </mc:Choice>
    <mc:Fallback xmlns="">
      <p:transition spd="slow" advTm="28789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855DA-107E-BD91-6A08-6D4AA93A4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130665CE-827E-03FE-EB38-C725D48C4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A03C6C2-63C6-F50D-3D58-78F8A063B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E814DB-6228-1F63-C52C-DB10A279207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292B33"/>
              </a:clrFrom>
              <a:clrTo>
                <a:srgbClr val="292B33">
                  <a:alpha val="0"/>
                </a:srgbClr>
              </a:clrTo>
            </a:clrChange>
          </a:blip>
          <a:srcRect t="8208" b="13581"/>
          <a:stretch>
            <a:fillRect/>
          </a:stretch>
        </p:blipFill>
        <p:spPr>
          <a:xfrm>
            <a:off x="830113" y="1144743"/>
            <a:ext cx="10531773" cy="51892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A7450A-3D54-F6B7-688A-BC1020BFD61D}"/>
              </a:ext>
            </a:extLst>
          </p:cNvPr>
          <p:cNvSpPr txBox="1"/>
          <p:nvPr/>
        </p:nvSpPr>
        <p:spPr>
          <a:xfrm>
            <a:off x="802013" y="5904927"/>
            <a:ext cx="103324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Auto-generated quads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Insufficient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quality for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resolving surface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features in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high-fidelity CFD computations 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1683F1CC-6C0F-8C0B-E63F-30E24CE98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7558" y="245187"/>
            <a:ext cx="838686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AUTO-QUADDING EXAMPLE USING GEOMETRY PROCESSING LIBRARY </a:t>
            </a:r>
            <a:r>
              <a:rPr lang="en-US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libigl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232146-2B07-F4B5-63AB-5C9A88C45F1B}"/>
              </a:ext>
            </a:extLst>
          </p:cNvPr>
          <p:cNvSpPr txBox="1"/>
          <p:nvPr/>
        </p:nvSpPr>
        <p:spPr>
          <a:xfrm>
            <a:off x="5854821" y="1763727"/>
            <a:ext cx="2719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NASA’s High-Lift CRM</a:t>
            </a:r>
          </a:p>
        </p:txBody>
      </p:sp>
    </p:spTree>
    <p:extLst>
      <p:ext uri="{BB962C8B-B14F-4D97-AF65-F5344CB8AC3E}">
        <p14:creationId xmlns:p14="http://schemas.microsoft.com/office/powerpoint/2010/main" val="90512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789"/>
    </mc:Choice>
    <mc:Fallback xmlns="">
      <p:transition spd="slow" advTm="2878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CE5F8-77BF-C0F1-5597-BD4E37C14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AFA28EB2-0879-2988-C265-5DF7B53B9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2C87C5A-8839-C0F6-885A-D63E8BCAF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E6C2327-FC9E-9662-ADEB-7724F58927FF}"/>
              </a:ext>
            </a:extLst>
          </p:cNvPr>
          <p:cNvGrpSpPr/>
          <p:nvPr/>
        </p:nvGrpSpPr>
        <p:grpSpPr>
          <a:xfrm>
            <a:off x="1830336" y="1207129"/>
            <a:ext cx="9148643" cy="1538323"/>
            <a:chOff x="2396917" y="1748543"/>
            <a:chExt cx="9148643" cy="1538323"/>
          </a:xfrm>
        </p:grpSpPr>
        <p:sp>
          <p:nvSpPr>
            <p:cNvPr id="4" name="Discretized Faces (untrimmed)">
              <a:extLst>
                <a:ext uri="{FF2B5EF4-FFF2-40B4-BE49-F238E27FC236}">
                  <a16:creationId xmlns:a16="http://schemas.microsoft.com/office/drawing/2014/main" id="{7EFC21AB-0794-B4E2-F485-94438382FB48}"/>
                </a:ext>
              </a:extLst>
            </p:cNvPr>
            <p:cNvSpPr txBox="1"/>
            <p:nvPr/>
          </p:nvSpPr>
          <p:spPr>
            <a:xfrm>
              <a:off x="7897069" y="1748543"/>
              <a:ext cx="3648491" cy="410369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12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000" dirty="0"/>
                <a:t>Discretized Faces</a:t>
              </a:r>
            </a:p>
          </p:txBody>
        </p:sp>
        <p:sp>
          <p:nvSpPr>
            <p:cNvPr id="5" name="Discretized Edges">
              <a:extLst>
                <a:ext uri="{FF2B5EF4-FFF2-40B4-BE49-F238E27FC236}">
                  <a16:creationId xmlns:a16="http://schemas.microsoft.com/office/drawing/2014/main" id="{F552D84D-7E08-0738-4A03-9A7C90E6B658}"/>
                </a:ext>
              </a:extLst>
            </p:cNvPr>
            <p:cNvSpPr txBox="1"/>
            <p:nvPr/>
          </p:nvSpPr>
          <p:spPr>
            <a:xfrm>
              <a:off x="7887861" y="2262843"/>
              <a:ext cx="3645244" cy="410369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12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algn="ctr"/>
              <a:r>
                <a:rPr sz="2000" dirty="0"/>
                <a:t>Discretized Edges</a:t>
              </a:r>
            </a:p>
          </p:txBody>
        </p:sp>
        <p:sp>
          <p:nvSpPr>
            <p:cNvPr id="7" name="Topology Data">
              <a:extLst>
                <a:ext uri="{FF2B5EF4-FFF2-40B4-BE49-F238E27FC236}">
                  <a16:creationId xmlns:a16="http://schemas.microsoft.com/office/drawing/2014/main" id="{AEC083B6-9657-C4C4-669E-CB7F16933DEA}"/>
                </a:ext>
              </a:extLst>
            </p:cNvPr>
            <p:cNvSpPr txBox="1"/>
            <p:nvPr/>
          </p:nvSpPr>
          <p:spPr>
            <a:xfrm>
              <a:off x="7900316" y="2757142"/>
              <a:ext cx="3645244" cy="410369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12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algn="ctr"/>
              <a:r>
                <a:rPr sz="2000" dirty="0"/>
                <a:t>Topology Data</a:t>
              </a:r>
            </a:p>
          </p:txBody>
        </p:sp>
        <p:sp>
          <p:nvSpPr>
            <p:cNvPr id="9" name="Surface Triangulation (trimmed)">
              <a:extLst>
                <a:ext uri="{FF2B5EF4-FFF2-40B4-BE49-F238E27FC236}">
                  <a16:creationId xmlns:a16="http://schemas.microsoft.com/office/drawing/2014/main" id="{A108682C-111A-590A-8831-33AFA5908DA5}"/>
                </a:ext>
              </a:extLst>
            </p:cNvPr>
            <p:cNvSpPr txBox="1"/>
            <p:nvPr/>
          </p:nvSpPr>
          <p:spPr>
            <a:xfrm>
              <a:off x="2396917" y="1984234"/>
              <a:ext cx="1956025" cy="1025922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12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000" dirty="0"/>
                <a:t>Surface Triangulation (trimmed)</a:t>
              </a:r>
            </a:p>
          </p:txBody>
        </p:sp>
        <p:sp>
          <p:nvSpPr>
            <p:cNvPr id="12" name="Surface Triangulation (trimmed)">
              <a:extLst>
                <a:ext uri="{FF2B5EF4-FFF2-40B4-BE49-F238E27FC236}">
                  <a16:creationId xmlns:a16="http://schemas.microsoft.com/office/drawing/2014/main" id="{094F92DA-5200-AB8C-29AF-42F87A402550}"/>
                </a:ext>
              </a:extLst>
            </p:cNvPr>
            <p:cNvSpPr txBox="1"/>
            <p:nvPr/>
          </p:nvSpPr>
          <p:spPr>
            <a:xfrm>
              <a:off x="4935111" y="2236417"/>
              <a:ext cx="1956025" cy="410369"/>
            </a:xfrm>
            <a:prstGeom prst="rect">
              <a:avLst/>
            </a:prstGeom>
            <a:ln w="28575">
              <a:solidFill>
                <a:srgbClr val="0070C0"/>
              </a:solidFill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12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 sz="2000" dirty="0">
                  <a:solidFill>
                    <a:srgbClr val="0070C0"/>
                  </a:solidFill>
                </a:rPr>
                <a:t>AUTOQUAD</a:t>
              </a:r>
              <a:endParaRPr sz="2000" dirty="0">
                <a:solidFill>
                  <a:srgbClr val="0070C0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F2863D9-E9CE-200F-F42D-4E368A1A04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1136" y="2028962"/>
              <a:ext cx="1005933" cy="41034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0B6265D-80EA-774D-0212-1FC2825182AE}"/>
                </a:ext>
              </a:extLst>
            </p:cNvPr>
            <p:cNvCxnSpPr>
              <a:cxnSpLocks/>
            </p:cNvCxnSpPr>
            <p:nvPr/>
          </p:nvCxnSpPr>
          <p:spPr>
            <a:xfrm>
              <a:off x="6891136" y="2460284"/>
              <a:ext cx="996725" cy="7744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EF307FE-8D4E-9687-4A8C-25826E24C52E}"/>
                </a:ext>
              </a:extLst>
            </p:cNvPr>
            <p:cNvCxnSpPr>
              <a:cxnSpLocks/>
            </p:cNvCxnSpPr>
            <p:nvPr/>
          </p:nvCxnSpPr>
          <p:spPr>
            <a:xfrm>
              <a:off x="6891136" y="2460284"/>
              <a:ext cx="1005933" cy="458996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ABCEE53-76BF-6385-8FAD-2B159DFB40BA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4352943" y="2439302"/>
              <a:ext cx="582168" cy="230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36C8035-9FF8-54E0-03FC-2916E3606AF1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5913124" y="2646786"/>
              <a:ext cx="0" cy="64008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2" name="Text Box 7">
            <a:extLst>
              <a:ext uri="{FF2B5EF4-FFF2-40B4-BE49-F238E27FC236}">
                <a16:creationId xmlns:a16="http://schemas.microsoft.com/office/drawing/2014/main" id="{9D394729-B258-8192-428A-2A96FE17B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854" y="187353"/>
            <a:ext cx="95931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STARTING POINT B – Surface Triangulation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Quadrangulation Software (work in progress)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47544E-A392-21BD-D6EE-47E8A63303D0}"/>
              </a:ext>
            </a:extLst>
          </p:cNvPr>
          <p:cNvSpPr txBox="1"/>
          <p:nvPr/>
        </p:nvSpPr>
        <p:spPr>
          <a:xfrm>
            <a:off x="1205346" y="2703612"/>
            <a:ext cx="9565439" cy="4093428"/>
          </a:xfrm>
          <a:prstGeom prst="rect">
            <a:avLst/>
          </a:prstGeom>
          <a:noFill/>
          <a:ln w="25400">
            <a:solidFill>
              <a:schemeClr val="dk1"/>
            </a:solidFill>
          </a:ln>
        </p:spPr>
        <p:txBody>
          <a:bodyPr wrap="non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Starting point: surface triangulation &amp; small set of user configuration options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Detect edges, corners, &amp; compute local &amp; global topological information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Decompose into regions bounded by surface features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Tessellate each region into quads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2, 3, or 4 edges - TFI interior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&gt; 4 edges - Mixed Integer Quadrangulation (MIQ) solver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Explore constrained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quandrangulation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methods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maximize fidelity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minimize quad face count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90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789"/>
    </mc:Choice>
    <mc:Fallback xmlns="">
      <p:transition spd="slow" advTm="2878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Box 7">
            <a:extLst>
              <a:ext uri="{FF2B5EF4-FFF2-40B4-BE49-F238E27FC236}">
                <a16:creationId xmlns:a16="http://schemas.microsoft.com/office/drawing/2014/main" id="{931FC90C-5D38-6041-D8BC-BC22BBA92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856" y="690133"/>
            <a:ext cx="377034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Geometric variation</a:t>
            </a:r>
            <a:endPara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Mesh parameter variation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A23F60-5BA1-CC4B-8DF3-1EEA24682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8AA5133-AB2D-6D4F-A981-6003BAB64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7">
            <a:extLst>
              <a:ext uri="{FF2B5EF4-FFF2-40B4-BE49-F238E27FC236}">
                <a16:creationId xmlns:a16="http://schemas.microsoft.com/office/drawing/2014/main" id="{F5F3FD2F-71B7-C94D-B59B-8F0ECEDCA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425" y="239375"/>
            <a:ext cx="69405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CASES (2020 – 2026)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5E5F022-E432-E5D3-7FEA-9DD0509E0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163" y="4887527"/>
            <a:ext cx="2428988" cy="1600200"/>
          </a:xfrm>
          <a:prstGeom prst="rect">
            <a:avLst/>
          </a:prstGeom>
        </p:spPr>
      </p:pic>
      <p:pic>
        <p:nvPicPr>
          <p:cNvPr id="5" name="Picture 4" descr="A colorful rocket with a white background&#10;&#10;Description automatically generated">
            <a:extLst>
              <a:ext uri="{FF2B5EF4-FFF2-40B4-BE49-F238E27FC236}">
                <a16:creationId xmlns:a16="http://schemas.microsoft.com/office/drawing/2014/main" id="{03BEB570-46B9-F18D-DE36-CBDD9087E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63" y="2079876"/>
            <a:ext cx="2131782" cy="1097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968196-1F67-EC13-84DF-DAED074612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428" y="3224681"/>
            <a:ext cx="2222500" cy="1143000"/>
          </a:xfrm>
          <a:prstGeom prst="rect">
            <a:avLst/>
          </a:prstGeom>
        </p:spPr>
      </p:pic>
      <p:pic>
        <p:nvPicPr>
          <p:cNvPr id="9" name="Picture 8" descr="A colorful model of a plane&#10;&#10;Description automatically generated">
            <a:extLst>
              <a:ext uri="{FF2B5EF4-FFF2-40B4-BE49-F238E27FC236}">
                <a16:creationId xmlns:a16="http://schemas.microsoft.com/office/drawing/2014/main" id="{A4D1F073-C295-6F39-CE4C-6BE32FF8B8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80" y="3930263"/>
            <a:ext cx="2220605" cy="11430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E30B5506-555B-D460-94D5-27BC14612FA2}"/>
              </a:ext>
            </a:extLst>
          </p:cNvPr>
          <p:cNvGrpSpPr/>
          <p:nvPr/>
        </p:nvGrpSpPr>
        <p:grpSpPr>
          <a:xfrm>
            <a:off x="3334344" y="1976792"/>
            <a:ext cx="5442241" cy="2614740"/>
            <a:chOff x="4340477" y="2102998"/>
            <a:chExt cx="5442241" cy="2614740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02A5FCC-53A0-BD2C-E3AB-D76B994B5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184688" y="3324571"/>
              <a:ext cx="2489356" cy="1143000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7D1D603D-B580-3F6E-C57D-840561055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15058" y="2102998"/>
              <a:ext cx="1778841" cy="1143000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AAE21F8-9806-EFF0-2832-7626ABAE7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40477" y="2674498"/>
              <a:ext cx="1483970" cy="1143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8F896C9-71C1-78AF-585C-8603B47B7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715590" y="2127069"/>
              <a:ext cx="2067128" cy="11430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66B1FC2-B5DE-4B9D-C108-B01BE554D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810829" y="3574738"/>
              <a:ext cx="1487905" cy="11430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48C4F1F-F0B8-EFEF-564A-9BFAE2C35F7C}"/>
              </a:ext>
            </a:extLst>
          </p:cNvPr>
          <p:cNvGrpSpPr/>
          <p:nvPr/>
        </p:nvGrpSpPr>
        <p:grpSpPr>
          <a:xfrm>
            <a:off x="157869" y="5282472"/>
            <a:ext cx="4109116" cy="1371600"/>
            <a:chOff x="2435441" y="4998848"/>
            <a:chExt cx="4109116" cy="13716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1900E5B-2EE7-4205-EAD3-943CBDEA7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35441" y="4998848"/>
              <a:ext cx="1369705" cy="13716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1377117-CF70-9645-7D94-6BAB776B7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805146" y="4998848"/>
              <a:ext cx="1369706" cy="13716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8C54B11-2CA2-F458-3298-91F6BE163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174851" y="4998848"/>
              <a:ext cx="1369706" cy="13716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5FD35BE-620E-BB5F-FE5B-D2FA5A37A57E}"/>
                </a:ext>
              </a:extLst>
            </p:cNvPr>
            <p:cNvSpPr txBox="1"/>
            <p:nvPr/>
          </p:nvSpPr>
          <p:spPr>
            <a:xfrm>
              <a:off x="2680137" y="5901945"/>
              <a:ext cx="6153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L1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B308C4D-A4A4-792E-1BF5-754682D11751}"/>
                </a:ext>
              </a:extLst>
            </p:cNvPr>
            <p:cNvSpPr txBox="1"/>
            <p:nvPr/>
          </p:nvSpPr>
          <p:spPr>
            <a:xfrm>
              <a:off x="4007160" y="5901945"/>
              <a:ext cx="6153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L3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E1ACA8B-3B6C-22B1-5712-49EE48A4CC9E}"/>
                </a:ext>
              </a:extLst>
            </p:cNvPr>
            <p:cNvSpPr txBox="1"/>
            <p:nvPr/>
          </p:nvSpPr>
          <p:spPr>
            <a:xfrm>
              <a:off x="5376866" y="5895207"/>
              <a:ext cx="6153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L6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1A5D6DF-82D0-2666-0DB6-B5DCCE7D7E3F}"/>
              </a:ext>
            </a:extLst>
          </p:cNvPr>
          <p:cNvSpPr txBox="1"/>
          <p:nvPr/>
        </p:nvSpPr>
        <p:spPr>
          <a:xfrm>
            <a:off x="137899" y="787974"/>
            <a:ext cx="40275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AIAA Drag Prediction Workshop 8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15 Configurations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40 Grid systems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6 level mesh families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7BED51-57E6-5E5F-F285-2BFF1B0C873E}"/>
              </a:ext>
            </a:extLst>
          </p:cNvPr>
          <p:cNvSpPr txBox="1"/>
          <p:nvPr/>
        </p:nvSpPr>
        <p:spPr>
          <a:xfrm>
            <a:off x="4593556" y="5910739"/>
            <a:ext cx="23005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Test Environment Sting On/Off Study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7E0C76-4990-FEF4-0086-D9C5A841FB47}"/>
              </a:ext>
            </a:extLst>
          </p:cNvPr>
          <p:cNvSpPr txBox="1"/>
          <p:nvPr/>
        </p:nvSpPr>
        <p:spPr>
          <a:xfrm>
            <a:off x="4521856" y="1562389"/>
            <a:ext cx="3036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eVTOL Concept Vehicles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85F22D-3897-6166-4A7F-2219CDE4C5E8}"/>
              </a:ext>
            </a:extLst>
          </p:cNvPr>
          <p:cNvSpPr txBox="1"/>
          <p:nvPr/>
        </p:nvSpPr>
        <p:spPr>
          <a:xfrm>
            <a:off x="9080671" y="933073"/>
            <a:ext cx="28095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Wind Tunnel Tests</a:t>
            </a: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&amp; Hardware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82BE9E-439A-0409-BC0D-FCD8742550E0}"/>
              </a:ext>
            </a:extLst>
          </p:cNvPr>
          <p:cNvSpPr txBox="1"/>
          <p:nvPr/>
        </p:nvSpPr>
        <p:spPr>
          <a:xfrm>
            <a:off x="2421574" y="4462768"/>
            <a:ext cx="2795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AIAA Paper 2026-4121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D84258E-4832-2197-B962-09E7D1603C38}"/>
              </a:ext>
            </a:extLst>
          </p:cNvPr>
          <p:cNvGrpSpPr/>
          <p:nvPr/>
        </p:nvGrpSpPr>
        <p:grpSpPr>
          <a:xfrm>
            <a:off x="9080671" y="1679766"/>
            <a:ext cx="2944633" cy="2827502"/>
            <a:chOff x="9080671" y="1679766"/>
            <a:chExt cx="2944633" cy="2827502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106EBCA-B8E5-7B4E-A338-CEC1A36018EA}"/>
                </a:ext>
              </a:extLst>
            </p:cNvPr>
            <p:cNvGrpSpPr/>
            <p:nvPr/>
          </p:nvGrpSpPr>
          <p:grpSpPr>
            <a:xfrm>
              <a:off x="9836349" y="2019077"/>
              <a:ext cx="1981200" cy="1828800"/>
              <a:chOff x="6770283" y="2442023"/>
              <a:chExt cx="1981200" cy="1828800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5FE14648-D57B-74B4-CCBB-4EF02D663D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rcRect b="3356"/>
              <a:stretch>
                <a:fillRect/>
              </a:stretch>
            </p:blipFill>
            <p:spPr>
              <a:xfrm>
                <a:off x="6770283" y="2442023"/>
                <a:ext cx="1981200" cy="1828800"/>
              </a:xfrm>
              <a:prstGeom prst="rect">
                <a:avLst/>
              </a:prstGeom>
            </p:spPr>
          </p:pic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673DD92-F739-28C5-8409-224E846524AF}"/>
                  </a:ext>
                </a:extLst>
              </p:cNvPr>
              <p:cNvSpPr/>
              <p:nvPr/>
            </p:nvSpPr>
            <p:spPr>
              <a:xfrm>
                <a:off x="7557683" y="4036788"/>
                <a:ext cx="476708" cy="1560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51885FE-248F-863E-8028-AC4900B54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080671" y="2221268"/>
              <a:ext cx="1202533" cy="22860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5F6C865-9C0C-2C02-9B1A-FA4ED01DFB0D}"/>
                </a:ext>
              </a:extLst>
            </p:cNvPr>
            <p:cNvSpPr txBox="1"/>
            <p:nvPr/>
          </p:nvSpPr>
          <p:spPr>
            <a:xfrm>
              <a:off x="9181324" y="1679766"/>
              <a:ext cx="28439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AIAA Paper 2025-3384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D1D0867-E9FE-A5E9-FA14-B4BDA8876F95}"/>
                </a:ext>
              </a:extLst>
            </p:cNvPr>
            <p:cNvSpPr txBox="1"/>
            <p:nvPr/>
          </p:nvSpPr>
          <p:spPr>
            <a:xfrm>
              <a:off x="10351022" y="3796181"/>
              <a:ext cx="137571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Tiltwing Test Rig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A047518-8292-2EEE-3B42-EBDD7A3A6271}"/>
              </a:ext>
            </a:extLst>
          </p:cNvPr>
          <p:cNvGrpSpPr/>
          <p:nvPr/>
        </p:nvGrpSpPr>
        <p:grpSpPr>
          <a:xfrm>
            <a:off x="8800223" y="4737538"/>
            <a:ext cx="3090015" cy="1916534"/>
            <a:chOff x="8800223" y="4737538"/>
            <a:chExt cx="3090015" cy="1916534"/>
          </a:xfrm>
        </p:grpSpPr>
        <p:pic>
          <p:nvPicPr>
            <p:cNvPr id="13" name="Picture 12" descr="A picture containing toothbrush, indoor, writing implement, brush&#10;&#10;AI-generated content may be incorrect.">
              <a:extLst>
                <a:ext uri="{FF2B5EF4-FFF2-40B4-BE49-F238E27FC236}">
                  <a16:creationId xmlns:a16="http://schemas.microsoft.com/office/drawing/2014/main" id="{EEF22F94-2564-0A9E-3897-FCA73B1A0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21571" y="4737538"/>
              <a:ext cx="1868667" cy="18288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BE96176-5398-2F46-6F49-50F0BFD5A5FD}"/>
                </a:ext>
              </a:extLst>
            </p:cNvPr>
            <p:cNvSpPr txBox="1"/>
            <p:nvPr/>
          </p:nvSpPr>
          <p:spPr>
            <a:xfrm>
              <a:off x="8800223" y="5946186"/>
              <a:ext cx="157243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Multi-Rotor Testbed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996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597"/>
    </mc:Choice>
    <mc:Fallback xmlns="">
      <p:transition spd="slow" advTm="28597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F3DDD-62EB-7CAC-6D7D-2187D41F6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CFAA4B8-5DB0-F8D7-4CE2-69E797649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2975" y="991285"/>
            <a:ext cx="4163981" cy="27432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6EEB7E98-6567-F53B-18B1-DB824DCC3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29B10D51-AE8A-C67B-688D-47ABFDBD1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 Box 7">
            <a:extLst>
              <a:ext uri="{FF2B5EF4-FFF2-40B4-BE49-F238E27FC236}">
                <a16:creationId xmlns:a16="http://schemas.microsoft.com/office/drawing/2014/main" id="{ED543B28-71E4-D2B9-B3BA-69ACB5FC1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2552" y="212675"/>
            <a:ext cx="88265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AIAA DRAG PREDICTION WORKSHOP-8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Wing/Body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Tail-On/-Off Sting-On-/Off Study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390D29-5227-6665-578D-64D2FDDCE5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524" y="2368332"/>
            <a:ext cx="2732372" cy="13716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DEA40172-7A6D-A6BC-EA66-C5C139499970}"/>
              </a:ext>
            </a:extLst>
          </p:cNvPr>
          <p:cNvGrpSpPr/>
          <p:nvPr/>
        </p:nvGrpSpPr>
        <p:grpSpPr>
          <a:xfrm>
            <a:off x="5532573" y="3931920"/>
            <a:ext cx="6659427" cy="2926080"/>
            <a:chOff x="5532573" y="1328887"/>
            <a:chExt cx="6659427" cy="29260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7DC90EE-7CE5-EF52-8CD4-DB23D4D745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73" y="1328887"/>
              <a:ext cx="3292644" cy="292608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A3273D2-6D92-AE42-DBA0-A41D91F2A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99356" y="1328887"/>
              <a:ext cx="3292644" cy="2926080"/>
            </a:xfrm>
            <a:prstGeom prst="rect">
              <a:avLst/>
            </a:prstGeom>
          </p:spPr>
        </p:pic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290DFA0-A56E-F190-20B8-127D9C0F9589}"/>
                </a:ext>
              </a:extLst>
            </p:cNvPr>
            <p:cNvCxnSpPr/>
            <p:nvPr/>
          </p:nvCxnSpPr>
          <p:spPr>
            <a:xfrm flipV="1">
              <a:off x="6078162" y="2614863"/>
              <a:ext cx="0" cy="60960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667F95E-6B6A-CE11-D02C-1436967C1385}"/>
                </a:ext>
              </a:extLst>
            </p:cNvPr>
            <p:cNvCxnSpPr/>
            <p:nvPr/>
          </p:nvCxnSpPr>
          <p:spPr>
            <a:xfrm flipV="1">
              <a:off x="9503152" y="2614863"/>
              <a:ext cx="0" cy="60960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F7839BF-1FA1-C422-2F24-6F705E14F7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8112" y="991285"/>
            <a:ext cx="3420095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74FDA9-E324-F804-A48E-0058EBD454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609" y="2362885"/>
            <a:ext cx="3004272" cy="1371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103158-3D91-3B5A-6785-A391C9C50337}"/>
              </a:ext>
            </a:extLst>
          </p:cNvPr>
          <p:cNvSpPr txBox="1"/>
          <p:nvPr/>
        </p:nvSpPr>
        <p:spPr>
          <a:xfrm>
            <a:off x="7376" y="3926473"/>
            <a:ext cx="56108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Meshing turn around time for each case</a:t>
            </a:r>
          </a:p>
          <a:p>
            <a:endParaRPr 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Run Time       12 – 18 mins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Repair Time    2 – 3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hrs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8DFC1A-391F-291E-5418-FD17BEA3C008}"/>
              </a:ext>
            </a:extLst>
          </p:cNvPr>
          <p:cNvSpPr txBox="1"/>
          <p:nvPr/>
        </p:nvSpPr>
        <p:spPr>
          <a:xfrm>
            <a:off x="205410" y="1634834"/>
            <a:ext cx="15034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Wing-body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DF17A3-6A4A-4CA4-F3C8-10D80F8BC13E}"/>
              </a:ext>
            </a:extLst>
          </p:cNvPr>
          <p:cNvSpPr txBox="1"/>
          <p:nvPr/>
        </p:nvSpPr>
        <p:spPr>
          <a:xfrm>
            <a:off x="3706737" y="1634834"/>
            <a:ext cx="15034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Wing-body-sting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F35838-342A-F53B-4141-5A99C0873867}"/>
              </a:ext>
            </a:extLst>
          </p:cNvPr>
          <p:cNvSpPr txBox="1"/>
          <p:nvPr/>
        </p:nvSpPr>
        <p:spPr>
          <a:xfrm>
            <a:off x="6107490" y="1634834"/>
            <a:ext cx="15034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Wing-body-tail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914C17-138C-E5BE-B93D-297A141BDD81}"/>
              </a:ext>
            </a:extLst>
          </p:cNvPr>
          <p:cNvSpPr txBox="1"/>
          <p:nvPr/>
        </p:nvSpPr>
        <p:spPr>
          <a:xfrm>
            <a:off x="10181956" y="1634834"/>
            <a:ext cx="15034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Wing-body-tail-sting</a:t>
            </a:r>
          </a:p>
        </p:txBody>
      </p:sp>
    </p:spTree>
    <p:extLst>
      <p:ext uri="{BB962C8B-B14F-4D97-AF65-F5344CB8AC3E}">
        <p14:creationId xmlns:p14="http://schemas.microsoft.com/office/powerpoint/2010/main" val="1813613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597"/>
    </mc:Choice>
    <mc:Fallback xmlns="">
      <p:transition spd="slow" advTm="28597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7A648-9A61-3D90-C11A-0ED9ADD00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4A4C8829-387E-9EED-004D-CDCD70DFE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5E4F281-EA64-5202-D45A-EA917AA23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 Box 7">
            <a:extLst>
              <a:ext uri="{FF2B5EF4-FFF2-40B4-BE49-F238E27FC236}">
                <a16:creationId xmlns:a16="http://schemas.microsoft.com/office/drawing/2014/main" id="{4A420C65-329D-4F32-6D2B-E01F5C9C9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0" y="158760"/>
            <a:ext cx="88265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Manual Vs EPOGS Grids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Convergence (LAVA)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Wing/body/tail, M = 0.85, Re = 5x10</a:t>
            </a:r>
            <a:r>
              <a:rPr lang="en-US" sz="2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solidFill>
                  <a:schemeClr val="tx1"/>
                </a:solidFill>
                <a:latin typeface="Symbol" pitchFamily="2" charset="2"/>
                <a:cs typeface="Arial" panose="020B0604020202020204" pitchFamily="34" charset="0"/>
              </a:rPr>
              <a:t>a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3.5</a:t>
            </a:r>
            <a:r>
              <a:rPr lang="en-US" sz="2400" b="1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3DB110-E350-61D8-1B58-FF0D1CF70273}"/>
              </a:ext>
            </a:extLst>
          </p:cNvPr>
          <p:cNvSpPr txBox="1"/>
          <p:nvPr/>
        </p:nvSpPr>
        <p:spPr>
          <a:xfrm>
            <a:off x="1394216" y="3060995"/>
            <a:ext cx="603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D54FA6-8A80-D155-CAEB-AD6C52DA85EE}"/>
              </a:ext>
            </a:extLst>
          </p:cNvPr>
          <p:cNvSpPr txBox="1"/>
          <p:nvPr/>
        </p:nvSpPr>
        <p:spPr>
          <a:xfrm>
            <a:off x="3883919" y="2569445"/>
            <a:ext cx="603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9CB6D0-F342-9E81-F6DC-A904557D3236}"/>
              </a:ext>
            </a:extLst>
          </p:cNvPr>
          <p:cNvSpPr txBox="1"/>
          <p:nvPr/>
        </p:nvSpPr>
        <p:spPr>
          <a:xfrm>
            <a:off x="2753748" y="2196024"/>
            <a:ext cx="603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71367E-A234-D89A-46AB-EC307447E332}"/>
              </a:ext>
            </a:extLst>
          </p:cNvPr>
          <p:cNvSpPr txBox="1"/>
          <p:nvPr/>
        </p:nvSpPr>
        <p:spPr>
          <a:xfrm>
            <a:off x="2195643" y="3047515"/>
            <a:ext cx="1167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EPOGS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030B2B-69E2-EBDF-CD4B-63FBE58F52BA}"/>
              </a:ext>
            </a:extLst>
          </p:cNvPr>
          <p:cNvSpPr txBox="1"/>
          <p:nvPr/>
        </p:nvSpPr>
        <p:spPr>
          <a:xfrm>
            <a:off x="9602411" y="338385"/>
            <a:ext cx="1532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Jordon Won</a:t>
            </a:r>
          </a:p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UC Davis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3E3996E-F1F1-28F6-E237-A2E95A35B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68" y="3899006"/>
            <a:ext cx="5485581" cy="2971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9B0162D-AA52-D310-D7AB-1E0A6B1D56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207" y="990575"/>
            <a:ext cx="5485581" cy="2971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57911EB-0FB0-7186-1DDD-9743C30A1D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2206" y="3899006"/>
            <a:ext cx="5485581" cy="29718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D1ED5ED-23F9-A517-4310-FB85DA68F3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420" y="984716"/>
            <a:ext cx="5259371" cy="29718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34D79CC-BE38-32F1-E149-46E74A3DEBAB}"/>
              </a:ext>
            </a:extLst>
          </p:cNvPr>
          <p:cNvSpPr txBox="1"/>
          <p:nvPr/>
        </p:nvSpPr>
        <p:spPr>
          <a:xfrm>
            <a:off x="2150247" y="3028890"/>
            <a:ext cx="603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E419D2-B656-D882-5A42-E1B85AA0B489}"/>
              </a:ext>
            </a:extLst>
          </p:cNvPr>
          <p:cNvSpPr txBox="1"/>
          <p:nvPr/>
        </p:nvSpPr>
        <p:spPr>
          <a:xfrm>
            <a:off x="5190330" y="3060995"/>
            <a:ext cx="603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F780DA-4386-EC80-5483-94E54576ED3A}"/>
              </a:ext>
            </a:extLst>
          </p:cNvPr>
          <p:cNvSpPr txBox="1"/>
          <p:nvPr/>
        </p:nvSpPr>
        <p:spPr>
          <a:xfrm>
            <a:off x="3708807" y="2241691"/>
            <a:ext cx="603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D8F53F-E4B0-787F-F7B2-D42CD0F31D87}"/>
              </a:ext>
            </a:extLst>
          </p:cNvPr>
          <p:cNvSpPr txBox="1"/>
          <p:nvPr/>
        </p:nvSpPr>
        <p:spPr>
          <a:xfrm>
            <a:off x="3492577" y="3157003"/>
            <a:ext cx="1167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EPOGS</a:t>
            </a:r>
          </a:p>
        </p:txBody>
      </p:sp>
    </p:spTree>
    <p:extLst>
      <p:ext uri="{BB962C8B-B14F-4D97-AF65-F5344CB8AC3E}">
        <p14:creationId xmlns:p14="http://schemas.microsoft.com/office/powerpoint/2010/main" val="3688370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597"/>
    </mc:Choice>
    <mc:Fallback xmlns="">
      <p:transition spd="slow" advTm="28597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9117F-72B0-A8FD-C4E1-DC6FBB071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A2B79D32-0D44-8EAF-2C09-3E7FA8F84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E4D0531-480B-C9A0-FFA7-867F2B16A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 Box 7">
            <a:extLst>
              <a:ext uri="{FF2B5EF4-FFF2-40B4-BE49-F238E27FC236}">
                <a16:creationId xmlns:a16="http://schemas.microsoft.com/office/drawing/2014/main" id="{F4DE7E94-C17A-D73B-B73A-71332A934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972" y="129242"/>
            <a:ext cx="88265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OVERFLOW &amp; LAVA on EPOGS Grids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Wing-Body-Tail Sting On/Off Study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4742F03-7393-CA6E-C74F-5634DD8939C5}"/>
              </a:ext>
            </a:extLst>
          </p:cNvPr>
          <p:cNvGrpSpPr/>
          <p:nvPr/>
        </p:nvGrpSpPr>
        <p:grpSpPr>
          <a:xfrm>
            <a:off x="6439586" y="4016146"/>
            <a:ext cx="5029200" cy="2743200"/>
            <a:chOff x="6228222" y="4016891"/>
            <a:chExt cx="5029200" cy="274320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ECA92F5-7611-719B-B9D2-9F6031954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28222" y="4016891"/>
              <a:ext cx="5029200" cy="2743200"/>
            </a:xfrm>
            <a:prstGeom prst="rect">
              <a:avLst/>
            </a:prstGeom>
          </p:spPr>
        </p:pic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325C03DC-4EAD-73AC-9DE8-32630230F9B2}"/>
                </a:ext>
              </a:extLst>
            </p:cNvPr>
            <p:cNvSpPr/>
            <p:nvPr/>
          </p:nvSpPr>
          <p:spPr>
            <a:xfrm>
              <a:off x="6986913" y="4211765"/>
              <a:ext cx="1356850" cy="437533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1F3D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1F3D7C"/>
                  </a:solidFill>
                  <a:latin typeface="Century Gothic" panose="020B0502020202020204" pitchFamily="34" charset="0"/>
                </a:rPr>
                <a:t>sting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916E85AB-BEDE-2788-ED6F-1F9AC857192E}"/>
                </a:ext>
              </a:extLst>
            </p:cNvPr>
            <p:cNvSpPr/>
            <p:nvPr/>
          </p:nvSpPr>
          <p:spPr>
            <a:xfrm>
              <a:off x="9232071" y="5310146"/>
              <a:ext cx="1356850" cy="437533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1F3D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1F3D7C"/>
                  </a:solidFill>
                  <a:latin typeface="Century Gothic" panose="020B0502020202020204" pitchFamily="34" charset="0"/>
                </a:rPr>
                <a:t>no sting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5316DF0-A160-8D75-58A8-4FB668C7D948}"/>
                </a:ext>
              </a:extLst>
            </p:cNvPr>
            <p:cNvCxnSpPr>
              <a:cxnSpLocks/>
            </p:cNvCxnSpPr>
            <p:nvPr/>
          </p:nvCxnSpPr>
          <p:spPr>
            <a:xfrm>
              <a:off x="7665338" y="4695343"/>
              <a:ext cx="257316" cy="340533"/>
            </a:xfrm>
            <a:prstGeom prst="straightConnector1">
              <a:avLst/>
            </a:prstGeom>
            <a:ln w="38100">
              <a:solidFill>
                <a:srgbClr val="1F3D7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E2B0EBD-A22F-9E8D-4059-7700AB1D04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61586" y="4981368"/>
              <a:ext cx="282414" cy="328778"/>
            </a:xfrm>
            <a:prstGeom prst="straightConnector1">
              <a:avLst/>
            </a:prstGeom>
            <a:ln w="38100">
              <a:solidFill>
                <a:srgbClr val="1F3D7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CAAAE78-F1E1-4187-A81E-AF30B67CE041}"/>
              </a:ext>
            </a:extLst>
          </p:cNvPr>
          <p:cNvSpPr txBox="1"/>
          <p:nvPr/>
        </p:nvSpPr>
        <p:spPr>
          <a:xfrm>
            <a:off x="9470535" y="308257"/>
            <a:ext cx="1422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Jordon Won</a:t>
            </a:r>
          </a:p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UC Davis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488CA54-DF2B-5CE0-00B3-FE63D663E4A4}"/>
              </a:ext>
            </a:extLst>
          </p:cNvPr>
          <p:cNvGrpSpPr/>
          <p:nvPr/>
        </p:nvGrpSpPr>
        <p:grpSpPr>
          <a:xfrm>
            <a:off x="6332397" y="1043991"/>
            <a:ext cx="4855975" cy="2743200"/>
            <a:chOff x="6228222" y="1043991"/>
            <a:chExt cx="4855975" cy="2743200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FF34DBF-4B1B-8D15-A7B0-894C2988C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28222" y="1043991"/>
              <a:ext cx="4855975" cy="2743200"/>
            </a:xfrm>
            <a:prstGeom prst="rect">
              <a:avLst/>
            </a:prstGeom>
          </p:spPr>
        </p:pic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9C388446-AC22-C53B-1D29-7E78A06FF3F6}"/>
                </a:ext>
              </a:extLst>
            </p:cNvPr>
            <p:cNvSpPr/>
            <p:nvPr/>
          </p:nvSpPr>
          <p:spPr>
            <a:xfrm>
              <a:off x="7197325" y="1545017"/>
              <a:ext cx="1356850" cy="437533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1F3D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1F3D7C"/>
                  </a:solidFill>
                  <a:latin typeface="Century Gothic" panose="020B0502020202020204" pitchFamily="34" charset="0"/>
                </a:rPr>
                <a:t>no sting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6A4ACEC-1B3D-9127-5988-5528439A80FF}"/>
                </a:ext>
              </a:extLst>
            </p:cNvPr>
            <p:cNvCxnSpPr>
              <a:cxnSpLocks/>
            </p:cNvCxnSpPr>
            <p:nvPr/>
          </p:nvCxnSpPr>
          <p:spPr>
            <a:xfrm>
              <a:off x="8582515" y="1982550"/>
              <a:ext cx="279071" cy="315494"/>
            </a:xfrm>
            <a:prstGeom prst="straightConnector1">
              <a:avLst/>
            </a:prstGeom>
            <a:ln w="38100">
              <a:solidFill>
                <a:srgbClr val="1F3D7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7B664BAF-DC14-1EA3-EF9C-75DD3E122463}"/>
                </a:ext>
              </a:extLst>
            </p:cNvPr>
            <p:cNvSpPr/>
            <p:nvPr/>
          </p:nvSpPr>
          <p:spPr>
            <a:xfrm>
              <a:off x="9503531" y="2713964"/>
              <a:ext cx="1356850" cy="437533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1F3D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1F3D7C"/>
                  </a:solidFill>
                  <a:latin typeface="Century Gothic" panose="020B0502020202020204" pitchFamily="34" charset="0"/>
                </a:rPr>
                <a:t>sting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4084628-DE38-7FD4-F10D-3635A09B31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23518" y="2365716"/>
              <a:ext cx="247007" cy="298373"/>
            </a:xfrm>
            <a:prstGeom prst="straightConnector1">
              <a:avLst/>
            </a:prstGeom>
            <a:ln w="38100">
              <a:solidFill>
                <a:srgbClr val="1F3D7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ADB829B-66E1-1B5D-8712-BFDA7578001B}"/>
              </a:ext>
            </a:extLst>
          </p:cNvPr>
          <p:cNvGrpSpPr/>
          <p:nvPr/>
        </p:nvGrpSpPr>
        <p:grpSpPr>
          <a:xfrm>
            <a:off x="892892" y="1043991"/>
            <a:ext cx="4762263" cy="2743200"/>
            <a:chOff x="927612" y="1043991"/>
            <a:chExt cx="4762263" cy="27432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6C81E8F-2C97-B1F7-D4FD-5234E227A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7612" y="1043991"/>
              <a:ext cx="4762263" cy="2743200"/>
            </a:xfrm>
            <a:prstGeom prst="rect">
              <a:avLst/>
            </a:prstGeom>
          </p:spPr>
        </p:pic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D42078AA-88D5-C66D-700D-E66D264A03C8}"/>
                </a:ext>
              </a:extLst>
            </p:cNvPr>
            <p:cNvSpPr/>
            <p:nvPr/>
          </p:nvSpPr>
          <p:spPr>
            <a:xfrm>
              <a:off x="1893509" y="1272602"/>
              <a:ext cx="1356850" cy="437533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1F3D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1F3D7C"/>
                  </a:solidFill>
                  <a:latin typeface="Century Gothic" panose="020B0502020202020204" pitchFamily="34" charset="0"/>
                </a:rPr>
                <a:t>no sting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9B0CF274-9BE8-FDA8-1595-43F2807B85D2}"/>
                </a:ext>
              </a:extLst>
            </p:cNvPr>
            <p:cNvSpPr/>
            <p:nvPr/>
          </p:nvSpPr>
          <p:spPr>
            <a:xfrm>
              <a:off x="4178777" y="2035737"/>
              <a:ext cx="1356850" cy="437533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1F3D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1F3D7C"/>
                  </a:solidFill>
                  <a:latin typeface="Century Gothic" panose="020B0502020202020204" pitchFamily="34" charset="0"/>
                </a:rPr>
                <a:t>sting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94D350F-1AED-B873-3573-B334F251B69B}"/>
                </a:ext>
              </a:extLst>
            </p:cNvPr>
            <p:cNvCxnSpPr>
              <a:cxnSpLocks/>
            </p:cNvCxnSpPr>
            <p:nvPr/>
          </p:nvCxnSpPr>
          <p:spPr>
            <a:xfrm>
              <a:off x="2722559" y="1780999"/>
              <a:ext cx="279071" cy="315494"/>
            </a:xfrm>
            <a:prstGeom prst="straightConnector1">
              <a:avLst/>
            </a:prstGeom>
            <a:ln w="38100">
              <a:solidFill>
                <a:srgbClr val="1F3D7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1A855D5-CE66-0424-7433-CECF896885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62548" y="1737364"/>
              <a:ext cx="247007" cy="298373"/>
            </a:xfrm>
            <a:prstGeom prst="straightConnector1">
              <a:avLst/>
            </a:prstGeom>
            <a:ln w="38100">
              <a:solidFill>
                <a:srgbClr val="1F3D7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AF2151A-C76E-A009-DF4D-0EB8F40C1319}"/>
              </a:ext>
            </a:extLst>
          </p:cNvPr>
          <p:cNvGrpSpPr/>
          <p:nvPr/>
        </p:nvGrpSpPr>
        <p:grpSpPr>
          <a:xfrm>
            <a:off x="693822" y="3995266"/>
            <a:ext cx="5534400" cy="2743200"/>
            <a:chOff x="833900" y="4016891"/>
            <a:chExt cx="5534400" cy="27432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8370605-556E-040C-9559-365F73F7A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3900" y="4016891"/>
              <a:ext cx="4855975" cy="2743200"/>
            </a:xfrm>
            <a:prstGeom prst="rect">
              <a:avLst/>
            </a:prstGeom>
          </p:spPr>
        </p:pic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990FCBA0-17C2-6C77-05B8-E491D017FF63}"/>
                </a:ext>
              </a:extLst>
            </p:cNvPr>
            <p:cNvSpPr/>
            <p:nvPr/>
          </p:nvSpPr>
          <p:spPr>
            <a:xfrm>
              <a:off x="5011450" y="5747679"/>
              <a:ext cx="1356850" cy="437533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1F3D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1F3D7C"/>
                  </a:solidFill>
                  <a:latin typeface="Century Gothic" panose="020B0502020202020204" pitchFamily="34" charset="0"/>
                </a:rPr>
                <a:t>no sting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F6013327-E17F-B5F8-1D0B-74DCDB328B6C}"/>
                </a:ext>
              </a:extLst>
            </p:cNvPr>
            <p:cNvSpPr/>
            <p:nvPr/>
          </p:nvSpPr>
          <p:spPr>
            <a:xfrm>
              <a:off x="5011450" y="5114326"/>
              <a:ext cx="1356850" cy="437533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1F3D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1F3D7C"/>
                  </a:solidFill>
                  <a:latin typeface="Century Gothic" panose="020B0502020202020204" pitchFamily="34" charset="0"/>
                </a:rPr>
                <a:t>sting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9744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597"/>
    </mc:Choice>
    <mc:Fallback xmlns="">
      <p:transition spd="slow" advTm="28597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37378-0A1C-0EFD-61AF-4FA878E17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9B05B3C4-A561-51B6-E996-C43639B4A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9B714E4-D879-3F52-AF1A-CC98E9AB0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7">
            <a:extLst>
              <a:ext uri="{FF2B5EF4-FFF2-40B4-BE49-F238E27FC236}">
                <a16:creationId xmlns:a16="http://schemas.microsoft.com/office/drawing/2014/main" id="{9B95C8A3-2345-2AB6-D95B-57CF1BEFB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6453" y="215821"/>
            <a:ext cx="86582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PROPROTOR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(in progress)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6F734D-57E6-3C38-C954-1B98EFF134EC}"/>
              </a:ext>
            </a:extLst>
          </p:cNvPr>
          <p:cNvSpPr txBox="1"/>
          <p:nvPr/>
        </p:nvSpPr>
        <p:spPr>
          <a:xfrm>
            <a:off x="9231658" y="1072923"/>
            <a:ext cx="26949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Surface grids = 73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Surface pts = 0.16M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Run Time ~ 45 sec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279D61-C418-9CA1-00D4-7698A2921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94" y="1155779"/>
            <a:ext cx="2880918" cy="5486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254EB5-C655-32D7-1E75-99210E166D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081" y="3506984"/>
            <a:ext cx="2952206" cy="3200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0E9754-B0D5-2F54-9817-F0F6905C67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7484" y="3506984"/>
            <a:ext cx="2939143" cy="3200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2A60C3F-C93A-B981-C465-19EF550CD291}"/>
              </a:ext>
            </a:extLst>
          </p:cNvPr>
          <p:cNvSpPr txBox="1"/>
          <p:nvPr/>
        </p:nvSpPr>
        <p:spPr>
          <a:xfrm>
            <a:off x="4472245" y="1072924"/>
            <a:ext cx="41866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2017 Joby prototype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Vertical Lift Proprotor Noise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NASA 14 x 22 ft tunnel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152111-B540-8329-5CF5-9FA8B057405C}"/>
              </a:ext>
            </a:extLst>
          </p:cNvPr>
          <p:cNvSpPr txBox="1"/>
          <p:nvPr/>
        </p:nvSpPr>
        <p:spPr>
          <a:xfrm>
            <a:off x="1799327" y="4102179"/>
            <a:ext cx="2449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Nacelle - stationary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D4FCF2-2F0B-691D-C9FB-D3AF4957DB60}"/>
              </a:ext>
            </a:extLst>
          </p:cNvPr>
          <p:cNvSpPr txBox="1"/>
          <p:nvPr/>
        </p:nvSpPr>
        <p:spPr>
          <a:xfrm>
            <a:off x="1722985" y="1132225"/>
            <a:ext cx="20649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Rotor - spinning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292CE7-3284-C391-B845-A9C50CB0E17B}"/>
              </a:ext>
            </a:extLst>
          </p:cNvPr>
          <p:cNvSpPr txBox="1"/>
          <p:nvPr/>
        </p:nvSpPr>
        <p:spPr>
          <a:xfrm>
            <a:off x="2884285" y="2073190"/>
            <a:ext cx="886172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Geometry from scanned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Two disjoint bodies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Mesh single blade intersected with hub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Duplicate blade component grids to get 5-blade set (not implemented yet)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B562DF-2D43-404F-4190-2F6CAAAEE2A5}"/>
              </a:ext>
            </a:extLst>
          </p:cNvPr>
          <p:cNvSpPr txBox="1"/>
          <p:nvPr/>
        </p:nvSpPr>
        <p:spPr>
          <a:xfrm>
            <a:off x="6775215" y="3902124"/>
            <a:ext cx="1183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Blade tip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D2D27B-0B56-06E4-74FD-BB3E84111CF6}"/>
              </a:ext>
            </a:extLst>
          </p:cNvPr>
          <p:cNvSpPr txBox="1"/>
          <p:nvPr/>
        </p:nvSpPr>
        <p:spPr>
          <a:xfrm>
            <a:off x="8192115" y="5934293"/>
            <a:ext cx="1398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Blade/hub junction</a:t>
            </a:r>
          </a:p>
        </p:txBody>
      </p:sp>
    </p:spTree>
    <p:extLst>
      <p:ext uri="{BB962C8B-B14F-4D97-AF65-F5344CB8AC3E}">
        <p14:creationId xmlns:p14="http://schemas.microsoft.com/office/powerpoint/2010/main" val="417256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597"/>
    </mc:Choice>
    <mc:Fallback xmlns="">
      <p:transition spd="slow" advTm="28597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350EA-797B-4929-A2BE-14BC761DB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209A3FD-3F42-C162-676E-35B6EDEC2B66}"/>
              </a:ext>
            </a:extLst>
          </p:cNvPr>
          <p:cNvGrpSpPr/>
          <p:nvPr/>
        </p:nvGrpSpPr>
        <p:grpSpPr>
          <a:xfrm>
            <a:off x="3665827" y="3592076"/>
            <a:ext cx="4346647" cy="3200400"/>
            <a:chOff x="3486625" y="3541205"/>
            <a:chExt cx="4346647" cy="320040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1282B51-0E39-5C3B-B274-BCDE00C20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86625" y="3541205"/>
              <a:ext cx="3999212" cy="32004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EDD8F61-ECA6-A65C-DDFC-56C9E4257B96}"/>
                </a:ext>
              </a:extLst>
            </p:cNvPr>
            <p:cNvSpPr txBox="1"/>
            <p:nvPr/>
          </p:nvSpPr>
          <p:spPr>
            <a:xfrm>
              <a:off x="3538096" y="4238462"/>
              <a:ext cx="765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Vane</a:t>
              </a:r>
            </a:p>
            <a:p>
              <a:pPr algn="ctr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x25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7A6BFA4-E571-32B0-451D-784A85D2BDA7}"/>
                </a:ext>
              </a:extLst>
            </p:cNvPr>
            <p:cNvSpPr txBox="1"/>
            <p:nvPr/>
          </p:nvSpPr>
          <p:spPr>
            <a:xfrm>
              <a:off x="6991375" y="3999429"/>
              <a:ext cx="84189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Blade</a:t>
              </a:r>
            </a:p>
            <a:p>
              <a:pPr algn="ctr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x19</a:t>
              </a:r>
            </a:p>
          </p:txBody>
        </p:sp>
      </p:grpSp>
      <p:sp>
        <p:nvSpPr>
          <p:cNvPr id="6" name="Rectangle 6">
            <a:extLst>
              <a:ext uri="{FF2B5EF4-FFF2-40B4-BE49-F238E27FC236}">
                <a16:creationId xmlns:a16="http://schemas.microsoft.com/office/drawing/2014/main" id="{5BFFCDDD-C80C-7F0C-574E-43CDC04FD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8F24C38-4D9C-1D28-1CD0-479D90DF5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7">
            <a:extLst>
              <a:ext uri="{FF2B5EF4-FFF2-40B4-BE49-F238E27FC236}">
                <a16:creationId xmlns:a16="http://schemas.microsoft.com/office/drawing/2014/main" id="{76824F03-C1BD-B1EE-61B8-9B78CF09E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1771" y="172184"/>
            <a:ext cx="964268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NIFTI -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Non-Intrusive Flow Distortion Measurements within a Turbofan Intake</a:t>
            </a:r>
          </a:p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AIAA Propulsion Aero Prediction Workshop 7</a:t>
            </a:r>
            <a:endPara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E32C34C-8F98-5305-6410-182C6A31B6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1655" y="1209003"/>
            <a:ext cx="4022256" cy="18288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E70E008-D10C-04F4-27CA-FF1AEDC50E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034" y="2866862"/>
            <a:ext cx="2958957" cy="2743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323B563-2BFB-E996-B890-EC35CD34F1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4345" y="4004580"/>
            <a:ext cx="3670973" cy="2743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4431493-EE6F-4753-DE05-EC48B09E0991}"/>
              </a:ext>
            </a:extLst>
          </p:cNvPr>
          <p:cNvSpPr txBox="1"/>
          <p:nvPr/>
        </p:nvSpPr>
        <p:spPr>
          <a:xfrm>
            <a:off x="5976254" y="985262"/>
            <a:ext cx="26260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Surface grids = 108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Surface pts = 0.2M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Run Time ~ 1 min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204C0C-775C-7E14-9488-C294E985A092}"/>
              </a:ext>
            </a:extLst>
          </p:cNvPr>
          <p:cNvSpPr txBox="1"/>
          <p:nvPr/>
        </p:nvSpPr>
        <p:spPr>
          <a:xfrm>
            <a:off x="-170538" y="5776813"/>
            <a:ext cx="38289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Grid spacing on shroud inner surface not auto-adjusted to resolve blade tip clearance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A137B3-FBEC-C07D-DC01-F5B7ED4BC6F2}"/>
              </a:ext>
            </a:extLst>
          </p:cNvPr>
          <p:cNvSpPr txBox="1"/>
          <p:nvPr/>
        </p:nvSpPr>
        <p:spPr>
          <a:xfrm>
            <a:off x="-3704" y="1029788"/>
            <a:ext cx="17685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Sheet body with opening at exit plane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3CED072-01E9-81DA-0690-8BE3D5EDA696}"/>
              </a:ext>
            </a:extLst>
          </p:cNvPr>
          <p:cNvCxnSpPr>
            <a:cxnSpLocks/>
          </p:cNvCxnSpPr>
          <p:nvPr/>
        </p:nvCxnSpPr>
        <p:spPr>
          <a:xfrm>
            <a:off x="932625" y="2123403"/>
            <a:ext cx="86903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1B09681-BFCC-9C3C-F884-37560A6F2A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0162" y="1160117"/>
            <a:ext cx="2355156" cy="2743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785F5F-ACEB-A66E-F486-48A127470951}"/>
              </a:ext>
            </a:extLst>
          </p:cNvPr>
          <p:cNvSpPr txBox="1"/>
          <p:nvPr/>
        </p:nvSpPr>
        <p:spPr>
          <a:xfrm flipH="1">
            <a:off x="10709066" y="2988917"/>
            <a:ext cx="61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54B0EE8-75BB-BF2E-AC1E-3DF3122F576D}"/>
              </a:ext>
            </a:extLst>
          </p:cNvPr>
          <p:cNvGrpSpPr/>
          <p:nvPr/>
        </p:nvGrpSpPr>
        <p:grpSpPr>
          <a:xfrm>
            <a:off x="7190504" y="2134227"/>
            <a:ext cx="2447315" cy="1828800"/>
            <a:chOff x="7190504" y="2134227"/>
            <a:chExt cx="2447315" cy="1828800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E7452085-583F-290F-57E3-8C4A63718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90504" y="2134227"/>
              <a:ext cx="2447315" cy="18288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C9942BF-CDE7-1DEF-7899-D0D476CA3B93}"/>
                </a:ext>
              </a:extLst>
            </p:cNvPr>
            <p:cNvSpPr txBox="1"/>
            <p:nvPr/>
          </p:nvSpPr>
          <p:spPr>
            <a:xfrm>
              <a:off x="8775280" y="3195431"/>
              <a:ext cx="86253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Blade Tip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59DC6CF-77DC-8433-E604-52C191D0FE25}"/>
              </a:ext>
            </a:extLst>
          </p:cNvPr>
          <p:cNvSpPr txBox="1"/>
          <p:nvPr/>
        </p:nvSpPr>
        <p:spPr>
          <a:xfrm flipH="1">
            <a:off x="11134456" y="5884534"/>
            <a:ext cx="844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Blade</a:t>
            </a:r>
          </a:p>
        </p:txBody>
      </p:sp>
    </p:spTree>
    <p:extLst>
      <p:ext uri="{BB962C8B-B14F-4D97-AF65-F5344CB8AC3E}">
        <p14:creationId xmlns:p14="http://schemas.microsoft.com/office/powerpoint/2010/main" val="2364419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597"/>
    </mc:Choice>
    <mc:Fallback xmlns="">
      <p:transition spd="slow" advTm="28597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59E45-7CC9-6D87-51AB-4B490935A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6C099168-6C1D-8DCD-549B-3350440C5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212C055-E550-14F9-1B25-33B7AB561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7">
            <a:extLst>
              <a:ext uri="{FF2B5EF4-FFF2-40B4-BE49-F238E27FC236}">
                <a16:creationId xmlns:a16="http://schemas.microsoft.com/office/drawing/2014/main" id="{2EE81F4C-CB0F-2988-A04A-278ACEFE7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887" y="212752"/>
            <a:ext cx="86582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STARSHIP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45E03A-BBD2-7F6E-81FA-AF9F20249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69" y="1027920"/>
            <a:ext cx="3166508" cy="274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EE79F6-1BC4-458A-47E2-ACC17BE4AA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2339" y="3200400"/>
            <a:ext cx="3662332" cy="3657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096396-51B8-E6DD-5D6E-4D967B9176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0374" y="3162246"/>
            <a:ext cx="3662332" cy="3657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DB0847-ED1C-4615-A509-6BD3B37CEE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661" y="4076646"/>
            <a:ext cx="3441226" cy="2743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A7AF4E-9807-0244-0C9D-F70D1EA19652}"/>
              </a:ext>
            </a:extLst>
          </p:cNvPr>
          <p:cNvSpPr txBox="1"/>
          <p:nvPr/>
        </p:nvSpPr>
        <p:spPr>
          <a:xfrm>
            <a:off x="7667629" y="891635"/>
            <a:ext cx="46115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New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Treatment of rounded nozzle lips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Grid point distribution enhancements on round components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8CD3C-BD6C-A9B4-D824-B60BFB1976C5}"/>
              </a:ext>
            </a:extLst>
          </p:cNvPr>
          <p:cNvSpPr txBox="1"/>
          <p:nvPr/>
        </p:nvSpPr>
        <p:spPr>
          <a:xfrm>
            <a:off x="4046340" y="849576"/>
            <a:ext cx="36623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Components included so far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Main 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Fwd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flap (x 2) &amp; aft flap (x 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Raptors (x 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Raceways (x 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Drogues (x 4)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380590-3A15-F0DC-6770-AEA376B54977}"/>
              </a:ext>
            </a:extLst>
          </p:cNvPr>
          <p:cNvSpPr txBox="1"/>
          <p:nvPr/>
        </p:nvSpPr>
        <p:spPr>
          <a:xfrm>
            <a:off x="169294" y="803409"/>
            <a:ext cx="25456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Grids = 798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Surface pts ~1.5M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Run time ~ 5 mins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A719FE-633D-72D5-9FA0-BCD6695D0875}"/>
              </a:ext>
            </a:extLst>
          </p:cNvPr>
          <p:cNvSpPr txBox="1"/>
          <p:nvPr/>
        </p:nvSpPr>
        <p:spPr>
          <a:xfrm>
            <a:off x="2621705" y="2876096"/>
            <a:ext cx="25456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Volume pts ~ 67M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Run time ~ 1m 10s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20 defective meshes</a:t>
            </a:r>
          </a:p>
        </p:txBody>
      </p:sp>
    </p:spTree>
    <p:extLst>
      <p:ext uri="{BB962C8B-B14F-4D97-AF65-F5344CB8AC3E}">
        <p14:creationId xmlns:p14="http://schemas.microsoft.com/office/powerpoint/2010/main" val="100735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597"/>
    </mc:Choice>
    <mc:Fallback xmlns="">
      <p:transition spd="slow" advTm="28597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A50B5-C7E9-CB3B-A76B-1004F71B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61E58C03-F121-F805-3547-27E74F72D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593" y="2297875"/>
            <a:ext cx="4619811" cy="4572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E9C6EB-473A-8290-3AF2-EBCF24991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92" y="775647"/>
            <a:ext cx="2771887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006A50-92DF-2EC7-C9AE-1A77DA419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1925" y="1251957"/>
            <a:ext cx="4733245" cy="27432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F54E1450-2A25-D479-AA3D-CF7471DC5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2EF2A89-4FF8-4CA6-8F93-591889CF8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7">
            <a:extLst>
              <a:ext uri="{FF2B5EF4-FFF2-40B4-BE49-F238E27FC236}">
                <a16:creationId xmlns:a16="http://schemas.microsoft.com/office/drawing/2014/main" id="{46331D84-3694-821C-6E98-42A287DA1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7639" y="232918"/>
            <a:ext cx="86582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AIAA HIGH-LIFT PREDICTION WORKSHOP 6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CASE 2.1 (in progress)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95A869-2B48-B80D-3963-116397033A6D}"/>
              </a:ext>
            </a:extLst>
          </p:cNvPr>
          <p:cNvSpPr txBox="1"/>
          <p:nvPr/>
        </p:nvSpPr>
        <p:spPr>
          <a:xfrm>
            <a:off x="3255942" y="1037021"/>
            <a:ext cx="26354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Grids = 292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Surface pts ~0.47M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Orphan pts = 300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Run time ~ 2 mins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589783-7838-092F-3505-A9E2C0C209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5989" y="4089070"/>
            <a:ext cx="2771887" cy="274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3CA554-315F-4C91-F999-85FDE9EE62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826" y="4114800"/>
            <a:ext cx="2771887" cy="274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C5CC74-BFD8-2875-439B-FC2967BDC5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6759" y="872468"/>
            <a:ext cx="2587095" cy="256032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92DD5D6-82C1-E14B-5E28-E994ED57833B}"/>
              </a:ext>
            </a:extLst>
          </p:cNvPr>
          <p:cNvCxnSpPr>
            <a:cxnSpLocks/>
          </p:cNvCxnSpPr>
          <p:nvPr/>
        </p:nvCxnSpPr>
        <p:spPr>
          <a:xfrm flipH="1" flipV="1">
            <a:off x="5741289" y="4943007"/>
            <a:ext cx="537784" cy="3337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3819119-437C-AF15-05BA-0707369E3CA6}"/>
              </a:ext>
            </a:extLst>
          </p:cNvPr>
          <p:cNvCxnSpPr>
            <a:cxnSpLocks/>
          </p:cNvCxnSpPr>
          <p:nvPr/>
        </p:nvCxnSpPr>
        <p:spPr>
          <a:xfrm>
            <a:off x="736271" y="4400995"/>
            <a:ext cx="61412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64A968F-35AF-6DCB-F5CA-808DB0D29D54}"/>
              </a:ext>
            </a:extLst>
          </p:cNvPr>
          <p:cNvSpPr txBox="1"/>
          <p:nvPr/>
        </p:nvSpPr>
        <p:spPr>
          <a:xfrm>
            <a:off x="16449" y="3500252"/>
            <a:ext cx="26678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Finite-thickness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t.e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along open boundary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866C43-2A2C-12A7-0992-8D9DBF14A340}"/>
              </a:ext>
            </a:extLst>
          </p:cNvPr>
          <p:cNvSpPr txBox="1"/>
          <p:nvPr/>
        </p:nvSpPr>
        <p:spPr>
          <a:xfrm>
            <a:off x="6213584" y="4895886"/>
            <a:ext cx="27718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Node meshes around double saddle points</a:t>
            </a:r>
          </a:p>
        </p:txBody>
      </p:sp>
    </p:spTree>
    <p:extLst>
      <p:ext uri="{BB962C8B-B14F-4D97-AF65-F5344CB8AC3E}">
        <p14:creationId xmlns:p14="http://schemas.microsoft.com/office/powerpoint/2010/main" val="4185744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597"/>
    </mc:Choice>
    <mc:Fallback xmlns="">
      <p:transition spd="slow" advTm="28597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4A23F60-5BA1-CC4B-8DF3-1EEA24682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8AA5133-AB2D-6D4F-A981-6003BAB64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7">
            <a:extLst>
              <a:ext uri="{FF2B5EF4-FFF2-40B4-BE49-F238E27FC236}">
                <a16:creationId xmlns:a16="http://schemas.microsoft.com/office/drawing/2014/main" id="{F5F3FD2F-71B7-C94D-B59B-8F0ECEDCA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7877" y="150167"/>
            <a:ext cx="8826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CONCLUDING REMARKS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91771F51-556C-E04E-A8A4-85D5B7DCC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590" y="641509"/>
            <a:ext cx="10607117" cy="615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EPOGS Toolset part of CGT 3.0 public release (May, 2026)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 software of its kind that attempts to automate creation of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Overset surface &amp; volume grids, domain connectivity data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files for flow solver &amp; component aerodynamic loads computation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Original geometry starting point: BREP solid</a:t>
            </a:r>
          </a:p>
          <a:p>
            <a:pPr lvl="2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geometry starting points can reduce turn around 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BREP sheet bodies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BREP-like discretized surfaces &amp; edges, topology data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OpenVSP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output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Manual construction using various tools: ANSA, Pointwise, CGT, topology script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Surface triangulation (in progress)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DPW8 sting on/off study shows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Good agreement 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aeroloads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between (1) manual &amp; EPOGS grids, (2) OVERFLOW &amp; LAVA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Convergence rates for EPOGS grids comparable to that of manual grids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meshing time on recent complex geometry test cases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(1) SBW,                (2) Proprotor,   (3) DPW8 wing/body/tail/sting on/off study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(4) NIFTI engine,   (5) Starship,    (6) HLPW6 Case 2.1</a:t>
            </a:r>
          </a:p>
        </p:txBody>
      </p:sp>
    </p:spTree>
    <p:extLst>
      <p:ext uri="{BB962C8B-B14F-4D97-AF65-F5344CB8AC3E}">
        <p14:creationId xmlns:p14="http://schemas.microsoft.com/office/powerpoint/2010/main" val="31754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288"/>
    </mc:Choice>
    <mc:Fallback xmlns="">
      <p:transition spd="slow" advTm="52288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4A23F60-5BA1-CC4B-8DF3-1EEA24682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956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chemeClr val="tx1"/>
                </a:solidFill>
                <a:latin typeface="Times" pitchFamily="-10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8AA5133-AB2D-6D4F-A981-6003BAB64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410" y="60960"/>
            <a:ext cx="128636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7">
            <a:extLst>
              <a:ext uri="{FF2B5EF4-FFF2-40B4-BE49-F238E27FC236}">
                <a16:creationId xmlns:a16="http://schemas.microsoft.com/office/drawing/2014/main" id="{F5F3FD2F-71B7-C94D-B59B-8F0ECEDCA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8530" y="656206"/>
            <a:ext cx="8826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</a:p>
        </p:txBody>
      </p:sp>
      <p:sp>
        <p:nvSpPr>
          <p:cNvPr id="24" name="Text Box 7">
            <a:extLst>
              <a:ext uri="{FF2B5EF4-FFF2-40B4-BE49-F238E27FC236}">
                <a16:creationId xmlns:a16="http://schemas.microsoft.com/office/drawing/2014/main" id="{DC585D45-D29B-B843-8220-67A18F424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6969" y="1778544"/>
            <a:ext cx="8998061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Funding from NASA Projects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Subsonic Vehicle Technologies (SVT)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           Integrated Methods and Research (IMR)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Subsonic Flight Demonstrator (SFD) 	</a:t>
            </a:r>
          </a:p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 Computational Resources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NASA Advanced Supercomputing (NAS) Facility</a:t>
            </a:r>
          </a:p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 Geometry &amp; Data Support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Guy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Schauerhamer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(CFD Research Corp.)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Jordon Won (UC Davis)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Raymond Wang (Princeton University)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46506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46"/>
    </mc:Choice>
    <mc:Fallback xmlns="">
      <p:transition spd="slow" advTm="7946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8741</TotalTime>
  <Words>1571</Words>
  <Application>Microsoft Macintosh PowerPoint</Application>
  <PresentationFormat>Widescreen</PresentationFormat>
  <Paragraphs>345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Century Gothic</vt:lpstr>
      <vt:lpstr>Courier New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Chan, William M. (ARC-TNA)</dc:creator>
  <cp:lastModifiedBy>Chan, William M. (ARC-TNA)</cp:lastModifiedBy>
  <cp:revision>797</cp:revision>
  <cp:lastPrinted>2026-06-03T22:37:03Z</cp:lastPrinted>
  <dcterms:created xsi:type="dcterms:W3CDTF">2022-01-13T21:30:01Z</dcterms:created>
  <dcterms:modified xsi:type="dcterms:W3CDTF">2026-09-19T20:31:58Z</dcterms:modified>
</cp:coreProperties>
</file>