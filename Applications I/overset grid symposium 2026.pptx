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59.png" ContentType="image/png"/>
  <Override PartName="/ppt/media/image56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55.png" ContentType="image/png"/>
  <Override PartName="/ppt/media/image42.svg" ContentType="image/svg"/>
  <Override PartName="/ppt/media/image53.png" ContentType="image/png"/>
  <Override PartName="/ppt/media/image35.png" ContentType="image/png"/>
  <Override PartName="/ppt/media/image22.svg" ContentType="image/svg"/>
  <Override PartName="/ppt/media/image57.png" ContentType="image/png"/>
  <Override PartName="/ppt/media/image44.svg" ContentType="image/svg"/>
  <Override PartName="/ppt/media/image20.png" ContentType="image/png"/>
  <Override PartName="/ppt/media/image47.png" ContentType="image/png"/>
  <Override PartName="/ppt/media/image10.png" ContentType="image/png"/>
  <Override PartName="/ppt/media/media54.mp4" ContentType="video/mp4"/>
  <Override PartName="/ppt/media/image67.jpeg" ContentType="image/jpeg"/>
  <Override PartName="/ppt/media/image34.svg" ContentType="image/svg"/>
  <Override PartName="/ppt/media/image1.jpeg" ContentType="image/jpeg"/>
  <Override PartName="/ppt/media/image21.png" ContentType="image/png"/>
  <Override PartName="/ppt/media/image58.png" ContentType="image/png"/>
  <Override PartName="/ppt/media/image65.png" ContentType="image/png"/>
  <Override PartName="/ppt/media/image64.jpeg" ContentType="image/jpeg"/>
  <Override PartName="/ppt/media/image28.svg" ContentType="image/svg"/>
  <Override PartName="/ppt/media/image61.png" ContentType="image/png"/>
  <Override PartName="/ppt/media/image3.png" ContentType="image/png"/>
  <Override PartName="/ppt/media/image5.tif" ContentType="image/tiff"/>
  <Override PartName="/ppt/media/image41.png" ContentType="image/png"/>
  <Override PartName="/ppt/media/image63.png" ContentType="image/png"/>
  <Override PartName="/ppt/media/image27.png" ContentType="image/png"/>
  <Override PartName="/ppt/media/image39.png" ContentType="image/png"/>
  <Override PartName="/ppt/media/image26.svg" ContentType="image/svg"/>
  <Override PartName="/ppt/media/image62.png" ContentType="image/png"/>
  <Override PartName="/ppt/media/image25.png" ContentType="image/png"/>
  <Override PartName="/ppt/media/image29.png" ContentType="image/png"/>
  <Override PartName="/ppt/media/image15.png" ContentType="image/png"/>
  <Override PartName="/ppt/media/image60.png" ContentType="image/png"/>
  <Override PartName="/ppt/media/image6.jpeg" ContentType="image/jpeg"/>
  <Override PartName="/ppt/media/image9.png" ContentType="image/png"/>
  <Override PartName="/ppt/media/image12.jpeg" ContentType="image/jpeg"/>
  <Override PartName="/ppt/media/image18.png" ContentType="image/png"/>
  <Override PartName="/ppt/media/image23.png" ContentType="image/png"/>
  <Override PartName="/ppt/media/image19.svg" ContentType="image/svg"/>
  <Override PartName="/ppt/media/media14.mp4" ContentType="video/mp4"/>
  <Override PartName="/ppt/media/image66.jpeg" ContentType="image/jpeg"/>
  <Override PartName="/ppt/media/image24.svg" ContentType="image/svg"/>
  <Override PartName="/ppt/media/image37.png" ContentType="image/png"/>
  <Override PartName="/ppt/media/image4.png" ContentType="image/png"/>
  <Override PartName="/ppt/media/image13.png" ContentType="image/png"/>
  <Override PartName="/ppt/media/image7.png" ContentType="image/png"/>
  <Override PartName="/ppt/media/image16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30.svg" ContentType="image/svg"/>
  <Override PartName="/ppt/media/image43.png" ContentType="image/png"/>
  <Override PartName="/ppt/media/image2.jpeg" ContentType="image/jpeg"/>
  <Override PartName="/ppt/media/image31.png" ContentType="image/png"/>
  <Override PartName="/ppt/media/image45.png" ContentType="image/png"/>
  <Override PartName="/ppt/media/image33.png" ContentType="image/png"/>
  <Override PartName="/ppt/media/image32.svg" ContentType="image/svg"/>
  <Override PartName="/ppt/media/media52.mp4" ContentType="video/mp4"/>
  <Override PartName="/ppt/media/image36.svg" ContentType="image/svg"/>
  <Override PartName="/ppt/media/image49.png" ContentType="image/png"/>
  <Override PartName="/ppt/media/image38.svg" ContentType="image/svg"/>
  <Override PartName="/ppt/media/image40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_rels/notesSlide2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7.xml.rels" ContentType="application/vnd.openxmlformats-package.relationships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6881813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82401D6-5B6B-42CD-AD67-C5BF101F610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Arial"/>
              </a:rPr>
              <a:t>Many rotors/propellers with nacelles, pylons, wings and connecting struts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9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A062F3-8FDF-4B7B-AB11-96AE52F0FCC4}" type="slidenum">
              <a:rPr b="0" lang="it-IT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Look at wing reynolds number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30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3C5555-EA8D-4DD3-BD25-8CDCEB09F095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</a:ln>
        </p:spPr>
        <p:txBody>
          <a:bodyPr lIns="89640" rIns="8964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GenMR is closed source and author refuses to explain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Paulo tried having DUST run as mid fidelity it didn't work (I don't know why)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Heterogeneous CPU-GPU multi-solver framework based on RANS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31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84FE7A-BCDD-4B07-BD29-AD1D95A09930}" type="slidenum">
              <a:rPr b="0" lang="en-US" sz="1100" spc="-1" strike="noStrike">
                <a:solidFill>
                  <a:schemeClr val="dk1"/>
                </a:solidFill>
                <a:latin typeface="Times New Roman"/>
              </a:rPr>
              <a:t>8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Heterogeneous CPU-GPU multi-solver framework based on RANS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32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BB8B80-961C-4C57-9660-B6F0B9CAAF8E}" type="slidenum">
              <a:rPr b="0" lang="en-US" sz="1100" spc="-1" strike="noStrike">
                <a:solidFill>
                  <a:schemeClr val="dk1"/>
                </a:solidFill>
                <a:latin typeface="Times New Roman"/>
              </a:rPr>
              <a:t>8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325440" y="698400"/>
            <a:ext cx="6207840" cy="349164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R means what?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What is an element?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Y+1 means y coordinate in the j first layer of the mesh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Talk about how we have three background meshes to properly get wake interactions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33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2383A8-C870-4F34-A380-E446D311B7CE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RPM of the motors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Velocity of the craft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The collectives, and attitude relative to horizon need to be adjusted and will show later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34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724684-07E8-45BE-AF85-7C8996F4A296}" type="slidenum">
              <a:rPr b="0" lang="en-US" sz="1100" spc="-1" strike="noStrike">
                <a:solidFill>
                  <a:schemeClr val="dk1"/>
                </a:solidFill>
                <a:latin typeface="Times New Roman"/>
              </a:rPr>
              <a:t>8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Interpolated using PCHIP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35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DDD734-7C33-4C30-A29B-B289CBB5E394}" type="slidenum">
              <a:rPr b="0" lang="en-US" sz="1100" spc="-1" strike="noStrike">
                <a:solidFill>
                  <a:schemeClr val="dk1"/>
                </a:solidFill>
                <a:latin typeface="Times New Roman"/>
              </a:rPr>
              <a:t>8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Int using PCHIP to get Attitude Y then differentiated to get omega 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36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0E4138-FBEC-4792-B33A-428DFE47966A}" type="slidenum">
              <a:rPr b="0" lang="en-US" sz="1100" spc="-1" strike="noStrike">
                <a:solidFill>
                  <a:schemeClr val="dk1"/>
                </a:solidFill>
                <a:latin typeface="Times New Roman"/>
              </a:rPr>
              <a:t>8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343080" y="698400"/>
            <a:ext cx="6195240" cy="34855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Reference ACUM and or implementation of BPM into ACUM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37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BEBE46-7E5E-4DB7-9328-EAB3942C5B4D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325440" y="698400"/>
            <a:ext cx="6207840" cy="349164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Here we see the effects of lower interactions on acoustics (for installed rotor system)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38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102ABF-4EE8-41FE-9CFF-C425E83F7A04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325440" y="698400"/>
            <a:ext cx="6207840" cy="349164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040" cy="4181760"/>
          </a:xfrm>
          <a:prstGeom prst="rect">
            <a:avLst/>
          </a:prstGeom>
          <a:noFill/>
          <a:ln w="0">
            <a:noFill/>
          </a:ln>
        </p:spPr>
        <p:txBody>
          <a:bodyPr lIns="87480" rIns="87480" tIns="87480" bIns="87480" anchor="t">
            <a:noAutofit/>
          </a:bodyPr>
          <a:p>
            <a:pPr marL="2160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Different observer set, ground plane, 5-6 dB reduction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39"/>
          </p:nvPr>
        </p:nvSpPr>
        <p:spPr>
          <a:xfrm>
            <a:off x="3898080" y="8830800"/>
            <a:ext cx="2981520" cy="463320"/>
          </a:xfrm>
          <a:prstGeom prst="rect">
            <a:avLst/>
          </a:prstGeom>
          <a:noFill/>
          <a:ln w="0">
            <a:noFill/>
          </a:ln>
        </p:spPr>
        <p:txBody>
          <a:bodyPr lIns="89640" rIns="8964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AFB2D5-B7C3-40E0-B4E6-EFE210B6DBDE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31040" y="877680"/>
            <a:ext cx="107056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94720" y="1547640"/>
            <a:ext cx="107056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6CF125C-6505-4FE4-87B2-1145F5725BF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31040" y="877680"/>
            <a:ext cx="107056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94720" y="1547640"/>
            <a:ext cx="107056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25DEEF-1888-4B7A-9014-9CD9A1EBC09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10"/>
          <p:cNvSpPr/>
          <p:nvPr/>
        </p:nvSpPr>
        <p:spPr>
          <a:xfrm>
            <a:off x="0" y="0"/>
            <a:ext cx="6095160" cy="875520"/>
          </a:xfrm>
          <a:prstGeom prst="rect">
            <a:avLst/>
          </a:prstGeom>
          <a:solidFill>
            <a:schemeClr val="dk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620" spc="-1" strike="noStrike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" name="Shape 11"/>
          <p:cNvSpPr/>
          <p:nvPr/>
        </p:nvSpPr>
        <p:spPr>
          <a:xfrm>
            <a:off x="6095880" y="0"/>
            <a:ext cx="6095160" cy="875520"/>
          </a:xfrm>
          <a:prstGeom prst="rect">
            <a:avLst/>
          </a:prstGeom>
          <a:solidFill>
            <a:schemeClr val="accent2"/>
          </a:solidFill>
          <a:ln w="9525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620" spc="-1" strike="noStrike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2" name="Shape 12"/>
          <p:cNvSpPr/>
          <p:nvPr/>
        </p:nvSpPr>
        <p:spPr>
          <a:xfrm>
            <a:off x="0" y="876240"/>
            <a:ext cx="12197160" cy="64692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100000">
                <a:srgbClr val="00000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620" spc="-1" strike="noStrike">
              <a:solidFill>
                <a:srgbClr val="ffffff"/>
              </a:solidFill>
              <a:latin typeface="Calibri"/>
              <a:ea typeface="Calibri"/>
            </a:endParaRPr>
          </a:p>
        </p:txBody>
      </p:sp>
      <p:grpSp>
        <p:nvGrpSpPr>
          <p:cNvPr id="3" name="Shape 13"/>
          <p:cNvGrpSpPr/>
          <p:nvPr/>
        </p:nvGrpSpPr>
        <p:grpSpPr>
          <a:xfrm>
            <a:off x="20520" y="10080"/>
            <a:ext cx="895320" cy="839160"/>
            <a:chOff x="20520" y="10080"/>
            <a:chExt cx="895320" cy="839160"/>
          </a:xfrm>
        </p:grpSpPr>
        <p:sp>
          <p:nvSpPr>
            <p:cNvPr id="4" name="Shape 14"/>
            <p:cNvSpPr/>
            <p:nvPr/>
          </p:nvSpPr>
          <p:spPr>
            <a:xfrm>
              <a:off x="51120" y="43200"/>
              <a:ext cx="820800" cy="78516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1720" rIns="81720" tIns="40680" bIns="406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620" spc="-1" strike="noStrike">
                <a:solidFill>
                  <a:srgbClr val="ffffff"/>
                </a:solidFill>
                <a:latin typeface="Calibri"/>
                <a:ea typeface="Calibri"/>
              </a:endParaRPr>
            </a:p>
          </p:txBody>
        </p:sp>
        <p:pic>
          <p:nvPicPr>
            <p:cNvPr id="5" name="Shape 15" descr="umd_logo.jpg"/>
            <p:cNvPicPr/>
            <p:nvPr/>
          </p:nvPicPr>
          <p:blipFill>
            <a:blip r:embed="rId2"/>
            <a:stretch/>
          </p:blipFill>
          <p:spPr>
            <a:xfrm>
              <a:off x="20520" y="10080"/>
              <a:ext cx="895320" cy="8391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6" name="Shape 19" descr="evolution.jpg"/>
          <p:cNvPicPr/>
          <p:nvPr/>
        </p:nvPicPr>
        <p:blipFill>
          <a:blip r:embed="rId3"/>
          <a:srcRect l="0" t="73452" r="80787" b="1073"/>
          <a:stretch/>
        </p:blipFill>
        <p:spPr>
          <a:xfrm>
            <a:off x="11330640" y="21960"/>
            <a:ext cx="847440" cy="84060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94720" y="1547640"/>
            <a:ext cx="107056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1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CB70C63-0E01-4159-B380-29BDB0EFE188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"/>
          <p:cNvPicPr/>
          <p:nvPr/>
        </p:nvPicPr>
        <p:blipFill>
          <a:blip r:embed="rId2"/>
          <a:stretch/>
        </p:blipFill>
        <p:spPr>
          <a:xfrm>
            <a:off x="0" y="912600"/>
            <a:ext cx="12191400" cy="26640"/>
          </a:xfrm>
          <a:prstGeom prst="rect">
            <a:avLst/>
          </a:prstGeom>
          <a:ln w="0">
            <a:noFill/>
          </a:ln>
        </p:spPr>
      </p:pic>
      <p:pic>
        <p:nvPicPr>
          <p:cNvPr id="13" name="Picture 36" descr="informal2"/>
          <p:cNvPicPr/>
          <p:nvPr/>
        </p:nvPicPr>
        <p:blipFill>
          <a:blip r:embed="rId3"/>
          <a:stretch/>
        </p:blipFill>
        <p:spPr>
          <a:xfrm>
            <a:off x="11301480" y="65880"/>
            <a:ext cx="867960" cy="84060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E4DB2E-D559-41B6-B7CB-F4716FC141AC}" type="slidenum">
              <a:rPr b="1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7" descr=""/>
          <p:cNvPicPr/>
          <p:nvPr/>
        </p:nvPicPr>
        <p:blipFill>
          <a:blip r:embed="rId2"/>
          <a:stretch/>
        </p:blipFill>
        <p:spPr>
          <a:xfrm>
            <a:off x="0" y="912600"/>
            <a:ext cx="12191400" cy="26640"/>
          </a:xfrm>
          <a:prstGeom prst="rect">
            <a:avLst/>
          </a:prstGeom>
          <a:ln w="0">
            <a:noFill/>
          </a:ln>
        </p:spPr>
      </p:pic>
      <p:pic>
        <p:nvPicPr>
          <p:cNvPr id="19" name="Picture 36" descr="informal2"/>
          <p:cNvPicPr/>
          <p:nvPr/>
        </p:nvPicPr>
        <p:blipFill>
          <a:blip r:embed="rId3"/>
          <a:stretch/>
        </p:blipFill>
        <p:spPr>
          <a:xfrm>
            <a:off x="11242440" y="91440"/>
            <a:ext cx="752040" cy="730800"/>
          </a:xfrm>
          <a:prstGeom prst="rect">
            <a:avLst/>
          </a:prstGeom>
          <a:ln w="0">
            <a:noFill/>
          </a:ln>
        </p:spPr>
      </p:pic>
      <p:sp>
        <p:nvSpPr>
          <p:cNvPr id="20" name="Slide Number Placeholder 1"/>
          <p:cNvSpPr/>
          <p:nvPr/>
        </p:nvSpPr>
        <p:spPr>
          <a:xfrm>
            <a:off x="896076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fld id="{EB63A852-3A5B-4BA6-AEF4-A7C401B7C553}" type="slidenum">
              <a:rPr b="1" lang="en-US" sz="16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tif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video" Target="../media/media14.mp4"/><Relationship Id="rId2" Type="http://schemas.microsoft.com/office/2007/relationships/media" Target="../media/media14.mp4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sv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sv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sv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svg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image" Target="../media/image39.png"/><Relationship Id="rId4" Type="http://schemas.openxmlformats.org/officeDocument/2006/relationships/image" Target="../media/image40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sv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sv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video" Target="../media/media52.mp4"/><Relationship Id="rId4" Type="http://schemas.microsoft.com/office/2007/relationships/media" Target="../media/media52.mp4"/><Relationship Id="rId5" Type="http://schemas.openxmlformats.org/officeDocument/2006/relationships/image" Target="../media/image53.png"/><Relationship Id="rId6" Type="http://schemas.openxmlformats.org/officeDocument/2006/relationships/video" Target="../media/media54.mp4"/><Relationship Id="rId7" Type="http://schemas.microsoft.com/office/2007/relationships/media" Target="../media/media54.mp4"/><Relationship Id="rId8" Type="http://schemas.openxmlformats.org/officeDocument/2006/relationships/image" Target="../media/image5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4.jpeg"/><Relationship Id="rId2" Type="http://schemas.openxmlformats.org/officeDocument/2006/relationships/image" Target="../media/image65.png"/><Relationship Id="rId3" Type="http://schemas.openxmlformats.org/officeDocument/2006/relationships/image" Target="../media/image66.jpeg"/><Relationship Id="rId4" Type="http://schemas.openxmlformats.org/officeDocument/2006/relationships/image" Target="../media/image67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/>
          </p:nvPr>
        </p:nvSpPr>
        <p:spPr>
          <a:xfrm>
            <a:off x="893880" y="2723400"/>
            <a:ext cx="10705680" cy="240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3680" indent="0" algn="ctr">
              <a:lnSpc>
                <a:spcPct val="100000"/>
              </a:lnSpc>
              <a:spcBef>
                <a:spcPts val="456"/>
              </a:spcBef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1"/>
                </a:solidFill>
                <a:latin typeface="Arial"/>
                <a:ea typeface="Arial"/>
              </a:rPr>
              <a:t>Acoustic Analysis of CRC-10 Takeoff Maneuver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83680" indent="0" algn="ctr">
              <a:lnSpc>
                <a:spcPct val="100000"/>
              </a:lnSpc>
              <a:spcBef>
                <a:spcPts val="456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Tague Carlyon (PhD Student)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83680" indent="0" algn="ctr">
              <a:lnSpc>
                <a:spcPct val="100000"/>
              </a:lnSpc>
              <a:spcBef>
                <a:spcPts val="456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Dr. Paulo Arias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83680" indent="0" algn="ctr">
              <a:lnSpc>
                <a:spcPct val="100000"/>
              </a:lnSpc>
              <a:spcBef>
                <a:spcPts val="456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Dr. James Baeder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6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51E59F8-8DAC-46C9-935B-450D9919389B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103320" y="884160"/>
            <a:ext cx="84304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Overset Grid Symposium 2026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80" spc="-1" strike="noStrike">
                <a:solidFill>
                  <a:schemeClr val="lt1"/>
                </a:solidFill>
                <a:latin typeface="Arial"/>
                <a:ea typeface="Arial"/>
              </a:rPr>
              <a:t>Motivation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ubtitle 2"/>
          <p:cNvSpPr/>
          <p:nvPr/>
        </p:nvSpPr>
        <p:spPr>
          <a:xfrm>
            <a:off x="767880" y="1725480"/>
            <a:ext cx="9143280" cy="5131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Complexity of Advanced Air Mobility (AAM) Aircraft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Different modes for hover and cruise, e.g.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Larger number of interacting components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Advances in CFD/CAA and HPC systems capabilities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Need for an accurate knowledge of the unsteady air loads for understanding </a:t>
            </a:r>
            <a:r>
              <a:rPr b="1" lang="en-US" sz="2200" spc="-1" strike="noStrike">
                <a:solidFill>
                  <a:schemeClr val="accent2"/>
                </a:solidFill>
                <a:latin typeface="Calibri"/>
                <a:ea typeface="Calibri"/>
              </a:rPr>
              <a:t>noise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Isolated versus build-up versus installed in cruise and hover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Interactions during transitional flight (hover-to-cruise and cruise-to-hover)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Phasing of rotors may be important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Goals require coupling to flight mechanics analysis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Ramifications of non-periodicity on performance, vibrations and noise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" name="Group 4"/>
          <p:cNvGrpSpPr/>
          <p:nvPr/>
        </p:nvGrpSpPr>
        <p:grpSpPr>
          <a:xfrm>
            <a:off x="9348120" y="1971000"/>
            <a:ext cx="1860480" cy="1419840"/>
            <a:chOff x="9348120" y="1971000"/>
            <a:chExt cx="1860480" cy="1419840"/>
          </a:xfrm>
        </p:grpSpPr>
        <p:pic>
          <p:nvPicPr>
            <p:cNvPr id="37" name="Picture 6" descr="A picture containing sky, outdoor, appliance&#10;&#10;Description automatically generated"/>
            <p:cNvPicPr/>
            <p:nvPr/>
          </p:nvPicPr>
          <p:blipFill>
            <a:blip r:embed="rId1"/>
            <a:srcRect l="6863" t="12453" r="10997" b="2805"/>
            <a:stretch/>
          </p:blipFill>
          <p:spPr>
            <a:xfrm>
              <a:off x="9348120" y="2019960"/>
              <a:ext cx="1860480" cy="1370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8" name="TextBox 9"/>
            <p:cNvSpPr/>
            <p:nvPr/>
          </p:nvSpPr>
          <p:spPr>
            <a:xfrm>
              <a:off x="9478440" y="1971000"/>
              <a:ext cx="1468800" cy="42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100" spc="-1" strike="noStrike">
                  <a:solidFill>
                    <a:srgbClr val="00000a"/>
                  </a:solidFill>
                  <a:latin typeface="Arial"/>
                  <a:ea typeface="Calibri"/>
                </a:rPr>
                <a:t>Bell: Autonomous Pod Transport</a:t>
              </a:r>
              <a:r>
                <a:rPr b="1" lang="en-US" sz="1100" spc="-1" strike="noStrike">
                  <a:solidFill>
                    <a:srgbClr val="000000"/>
                  </a:solidFill>
                  <a:latin typeface="Arial"/>
                  <a:ea typeface="Yu Mincho"/>
                </a:rPr>
                <a:t> 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" name="Group 3"/>
          <p:cNvGrpSpPr/>
          <p:nvPr/>
        </p:nvGrpSpPr>
        <p:grpSpPr>
          <a:xfrm>
            <a:off x="9348120" y="4123440"/>
            <a:ext cx="1963800" cy="1393920"/>
            <a:chOff x="9348120" y="4123440"/>
            <a:chExt cx="1963800" cy="1393920"/>
          </a:xfrm>
        </p:grpSpPr>
        <p:pic>
          <p:nvPicPr>
            <p:cNvPr id="40" name="Picture 7" descr="A picture containing ground, plane, aircraft, red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9495360" y="4146480"/>
              <a:ext cx="1816560" cy="1370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" name="TextBox 10"/>
            <p:cNvSpPr/>
            <p:nvPr/>
          </p:nvSpPr>
          <p:spPr>
            <a:xfrm>
              <a:off x="9348120" y="4123440"/>
              <a:ext cx="1468800" cy="42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100" spc="-1" strike="noStrike">
                  <a:solidFill>
                    <a:schemeClr val="lt1"/>
                  </a:solidFill>
                  <a:latin typeface="Arial"/>
                  <a:ea typeface="Calibri"/>
                </a:rPr>
                <a:t>Kitty-Hawk: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en-US" sz="1100" spc="-1" strike="noStrike">
                  <a:solidFill>
                    <a:schemeClr val="lt1"/>
                  </a:solidFill>
                  <a:latin typeface="Arial"/>
                  <a:ea typeface="Arial"/>
                </a:rPr>
                <a:t>Heaviside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PlaceHolder 2"/>
          <p:cNvSpPr>
            <a:spLocks noGrp="1"/>
          </p:cNvSpPr>
          <p:nvPr>
            <p:ph type="sldNum" idx="7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9756D92-9088-4C8E-9E22-210601F00B25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80" spc="-1" strike="noStrike">
                <a:solidFill>
                  <a:schemeClr val="lt1"/>
                </a:solidFill>
                <a:latin typeface="Arial"/>
                <a:ea typeface="Arial"/>
              </a:rPr>
              <a:t>Model Geometry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Picture 12" descr="A picture containing knife, weapon, fork&#10;&#10;Description automatically generated"/>
          <p:cNvPicPr/>
          <p:nvPr/>
        </p:nvPicPr>
        <p:blipFill>
          <a:blip r:embed="rId1"/>
          <a:srcRect l="2003" t="6855" r="0" b="5061"/>
          <a:stretch/>
        </p:blipFill>
        <p:spPr>
          <a:xfrm>
            <a:off x="8554320" y="1686960"/>
            <a:ext cx="2116080" cy="1269000"/>
          </a:xfrm>
          <a:prstGeom prst="rect">
            <a:avLst/>
          </a:prstGeom>
          <a:ln w="0">
            <a:noFill/>
          </a:ln>
        </p:spPr>
      </p:pic>
      <p:sp>
        <p:nvSpPr>
          <p:cNvPr id="45" name="Content Placeholder 2"/>
          <p:cNvSpPr/>
          <p:nvPr/>
        </p:nvSpPr>
        <p:spPr>
          <a:xfrm>
            <a:off x="182880" y="1850760"/>
            <a:ext cx="7905960" cy="48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Quadrotor Biplane Tailsitter chosen: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Complex aircraft, large number of interacting components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Unique and intricate transitions between flight modes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Airframe</a:t>
            </a:r>
            <a:r>
              <a:rPr b="0" lang="en-US" sz="3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CRC-10 from ARL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Scaled up by 3.5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Gross take-off weight – 80 lbs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Rotors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T-MOTOR G28 x 9.2 rotor blades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Truncated at 7% radius to apply collective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9"/>
              </a:spcBef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9"/>
              </a:spcBef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18"/>
          <p:cNvSpPr/>
          <p:nvPr/>
        </p:nvSpPr>
        <p:spPr>
          <a:xfrm>
            <a:off x="8263800" y="2906280"/>
            <a:ext cx="26974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T-Motor G28x9.2 blades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21"/>
          <p:cNvSpPr/>
          <p:nvPr/>
        </p:nvSpPr>
        <p:spPr>
          <a:xfrm>
            <a:off x="8275320" y="6440400"/>
            <a:ext cx="26974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Final model dimensions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Content Placeholder 10" descr="Diagram&#10;&#10;Description automatically generated"/>
          <p:cNvPicPr/>
          <p:nvPr/>
        </p:nvPicPr>
        <p:blipFill>
          <a:blip r:embed="rId2"/>
          <a:srcRect l="3136" t="1428" r="827" b="3245"/>
          <a:stretch/>
        </p:blipFill>
        <p:spPr>
          <a:xfrm>
            <a:off x="7467480" y="3177360"/>
            <a:ext cx="3835080" cy="3292920"/>
          </a:xfrm>
          <a:prstGeom prst="rect">
            <a:avLst/>
          </a:prstGeom>
          <a:ln w="0">
            <a:noFill/>
          </a:ln>
        </p:spPr>
      </p:pic>
      <p:sp>
        <p:nvSpPr>
          <p:cNvPr id="49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E85558B-CE7C-43AF-850D-4922DF76090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03320" y="884160"/>
            <a:ext cx="84304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80" spc="-1" strike="noStrike">
                <a:solidFill>
                  <a:schemeClr val="lt1"/>
                </a:solidFill>
                <a:latin typeface="Arial"/>
                <a:ea typeface="Arial"/>
              </a:rPr>
              <a:t>Transition Simulation Methodology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8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0FC7E1D-9EA3-49B2-84C0-5DCD0091A045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ubtitle 2"/>
          <p:cNvSpPr/>
          <p:nvPr/>
        </p:nvSpPr>
        <p:spPr>
          <a:xfrm>
            <a:off x="1849320" y="2397240"/>
            <a:ext cx="3469320" cy="352548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Flight Dynamics Model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In-house code </a:t>
            </a: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GenMR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Create realistic model of CRC biplane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Low fidelity aerodynamics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Generate controls and trajectory data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ubtitle 2"/>
          <p:cNvSpPr/>
          <p:nvPr/>
        </p:nvSpPr>
        <p:spPr>
          <a:xfrm>
            <a:off x="6872760" y="2397240"/>
            <a:ext cx="3785760" cy="3525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High-Fidelity Aerodynamics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In-house CFD framework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Mercury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Develop maneuver capabilities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Prescribe maneuver from GenMR model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80" spc="-1" strike="noStrike">
                <a:solidFill>
                  <a:schemeClr val="lt1"/>
                </a:solidFill>
                <a:latin typeface="Arial"/>
                <a:ea typeface="Arial"/>
              </a:rPr>
              <a:t>Mercury CFD Framework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ubtitle 2"/>
          <p:cNvSpPr/>
          <p:nvPr/>
        </p:nvSpPr>
        <p:spPr>
          <a:xfrm>
            <a:off x="131040" y="2303640"/>
            <a:ext cx="6116760" cy="3915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t">
            <a:noAutofit/>
          </a:bodyPr>
          <a:p>
            <a:pPr marL="343080" indent="-34308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HAMSTR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 (Hamiltonian/Strand Solver)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Unstructured solver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Near-body meshes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GARFIELD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 (GPU-Accelerated Rotor Flow Field Solver)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Structured solver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Off-body meshes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TIOGA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 (Topology Independent Overset Grid Assembler)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Data Exchange between solvers and meshes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marL="226800"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1" lang="en-US" sz="700" spc="-1" strike="noStrike">
                <a:solidFill>
                  <a:schemeClr val="dk1"/>
                </a:solidFill>
                <a:latin typeface="Calibri"/>
                <a:ea typeface="Arial"/>
              </a:rPr>
              <a:t> 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9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02D15DA-59C8-4B70-A8E2-7617394A74F8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2" name="Content Placeholder 5" descr="Diagram, text&#10;&#10;Description automatically generated"/>
          <p:cNvPicPr/>
          <p:nvPr/>
        </p:nvPicPr>
        <p:blipFill>
          <a:blip r:embed="rId1"/>
          <a:stretch/>
        </p:blipFill>
        <p:spPr>
          <a:xfrm>
            <a:off x="6663600" y="1728720"/>
            <a:ext cx="4545720" cy="4406040"/>
          </a:xfrm>
          <a:prstGeom prst="rect">
            <a:avLst/>
          </a:prstGeom>
          <a:ln w="0">
            <a:noFill/>
          </a:ln>
        </p:spPr>
      </p:pic>
      <p:sp>
        <p:nvSpPr>
          <p:cNvPr id="63" name="TextBox 8"/>
          <p:cNvSpPr/>
          <p:nvPr/>
        </p:nvSpPr>
        <p:spPr>
          <a:xfrm>
            <a:off x="10006200" y="5723280"/>
            <a:ext cx="89712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s-CR" sz="1200" spc="-1" strike="noStrike">
                <a:solidFill>
                  <a:srgbClr val="000000"/>
                </a:solidFill>
                <a:latin typeface="Arial"/>
                <a:ea typeface="Arial"/>
              </a:rPr>
              <a:t>Acoustics ACM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" name="Straight Arrow Connector 9"/>
          <p:cNvCxnSpPr/>
          <p:nvPr/>
        </p:nvCxnSpPr>
        <p:spPr>
          <a:xfrm>
            <a:off x="9660960" y="5954040"/>
            <a:ext cx="345600" cy="7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65" name="Straight Connector 10"/>
          <p:cNvCxnSpPr/>
          <p:nvPr/>
        </p:nvCxnSpPr>
        <p:spPr>
          <a:xfrm flipV="1">
            <a:off x="7066080" y="4507560"/>
            <a:ext cx="998640" cy="36108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66" name="Straight Connector 11"/>
          <p:cNvCxnSpPr/>
          <p:nvPr/>
        </p:nvCxnSpPr>
        <p:spPr>
          <a:xfrm flipV="1">
            <a:off x="9942840" y="2839680"/>
            <a:ext cx="1006920" cy="32364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80" spc="-1" strike="noStrike">
                <a:solidFill>
                  <a:schemeClr val="lt1"/>
                </a:solidFill>
                <a:latin typeface="Arial"/>
                <a:ea typeface="Arial"/>
              </a:rPr>
              <a:t>Mercury CFD Framework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ubtitle 2"/>
          <p:cNvSpPr/>
          <p:nvPr/>
        </p:nvSpPr>
        <p:spPr>
          <a:xfrm>
            <a:off x="131040" y="2066400"/>
            <a:ext cx="6116760" cy="4118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t">
            <a:noAutofit/>
          </a:bodyPr>
          <a:p>
            <a:pPr marL="343080" indent="-34308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HAMSTR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 (Hamiltonian/Strand Solver)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WENO-5 reconstruction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BDF2 time stepping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Roe Flux scheme (Harten entropy fix, Rapier's Low-Mach correction)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Arial"/>
              </a:rPr>
              <a:t>Spalart allmaras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DDLGS solver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GARFIELD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 (GPU-Accelerated Rotor Flow Field Solver)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WENO-5 reconstruction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BDF2 time stepping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Roe Flux scheme (Harten entropy fix, no Rapier)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Arial"/>
              </a:rPr>
              <a:t>Spalart allmaras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7360" indent="-347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DDLGS solver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10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8D015CE-FF62-4E0E-82F8-C0F0A90A3061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2" name="Content Placeholder 5" descr="Diagram, text&#10;&#10;Description automatically generated"/>
          <p:cNvPicPr/>
          <p:nvPr/>
        </p:nvPicPr>
        <p:blipFill>
          <a:blip r:embed="rId1"/>
          <a:stretch/>
        </p:blipFill>
        <p:spPr>
          <a:xfrm>
            <a:off x="6663600" y="1728720"/>
            <a:ext cx="4545720" cy="4406040"/>
          </a:xfrm>
          <a:prstGeom prst="rect">
            <a:avLst/>
          </a:prstGeom>
          <a:ln w="0">
            <a:noFill/>
          </a:ln>
        </p:spPr>
      </p:pic>
      <p:sp>
        <p:nvSpPr>
          <p:cNvPr id="73" name="TextBox 8"/>
          <p:cNvSpPr/>
          <p:nvPr/>
        </p:nvSpPr>
        <p:spPr>
          <a:xfrm>
            <a:off x="10006200" y="5723280"/>
            <a:ext cx="89712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s-CR" sz="1200" spc="-1" strike="noStrike">
                <a:solidFill>
                  <a:srgbClr val="000000"/>
                </a:solidFill>
                <a:latin typeface="Arial"/>
                <a:ea typeface="Arial"/>
              </a:rPr>
              <a:t>Acoustics ACM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4" name="Straight Arrow Connector 9"/>
          <p:cNvCxnSpPr/>
          <p:nvPr/>
        </p:nvCxnSpPr>
        <p:spPr>
          <a:xfrm>
            <a:off x="9660960" y="5954040"/>
            <a:ext cx="345600" cy="7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75" name="Straight Connector 10"/>
          <p:cNvCxnSpPr/>
          <p:nvPr/>
        </p:nvCxnSpPr>
        <p:spPr>
          <a:xfrm flipV="1">
            <a:off x="7066080" y="4507560"/>
            <a:ext cx="998640" cy="36108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76" name="Straight Connector 11"/>
          <p:cNvCxnSpPr/>
          <p:nvPr/>
        </p:nvCxnSpPr>
        <p:spPr>
          <a:xfrm flipV="1">
            <a:off x="9942840" y="2839680"/>
            <a:ext cx="1006920" cy="32364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7" descr=""/>
          <p:cNvPicPr/>
          <p:nvPr/>
        </p:nvPicPr>
        <p:blipFill>
          <a:blip r:embed="rId1"/>
          <a:stretch/>
        </p:blipFill>
        <p:spPr>
          <a:xfrm>
            <a:off x="1388160" y="1933200"/>
            <a:ext cx="3715920" cy="3303720"/>
          </a:xfrm>
          <a:prstGeom prst="rect">
            <a:avLst/>
          </a:prstGeom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Computational Mesh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Content Placeholder 5" descr="A screenshot of a game&#10;&#10;Description automatically generated with medium confidence"/>
          <p:cNvPicPr/>
          <p:nvPr/>
        </p:nvPicPr>
        <p:blipFill>
          <a:blip r:embed="rId2"/>
          <a:srcRect l="0" t="9643" r="0" b="8525"/>
          <a:stretch/>
        </p:blipFill>
        <p:spPr>
          <a:xfrm>
            <a:off x="7842240" y="1909800"/>
            <a:ext cx="2825280" cy="207468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2"/>
          <p:cNvSpPr>
            <a:spLocks noGrp="1"/>
          </p:cNvSpPr>
          <p:nvPr>
            <p:ph type="sldNum" idx="11"/>
          </p:nvPr>
        </p:nvSpPr>
        <p:spPr>
          <a:xfrm>
            <a:off x="10541160" y="644688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E6F160-4C45-4899-84F3-D0C24BFD58BC}" type="slidenum">
              <a:rPr b="0" lang="en-US" sz="1200" spc="-1" strike="noStrike">
                <a:solidFill>
                  <a:schemeClr val="lt1"/>
                </a:solidFill>
                <a:latin typeface="Arial"/>
                <a:ea typeface="Arial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" name="Picture 9" descr=""/>
          <p:cNvPicPr/>
          <p:nvPr/>
        </p:nvPicPr>
        <p:blipFill>
          <a:blip r:embed="rId3"/>
          <a:srcRect l="226" t="7906" r="-226" b="215"/>
          <a:stretch/>
        </p:blipFill>
        <p:spPr>
          <a:xfrm>
            <a:off x="7975800" y="4074480"/>
            <a:ext cx="2567160" cy="2097000"/>
          </a:xfrm>
          <a:prstGeom prst="rect">
            <a:avLst/>
          </a:prstGeom>
          <a:ln w="0">
            <a:noFill/>
          </a:ln>
        </p:spPr>
      </p:pic>
      <p:sp>
        <p:nvSpPr>
          <p:cNvPr id="82" name="TextBox 13"/>
          <p:cNvSpPr/>
          <p:nvPr/>
        </p:nvSpPr>
        <p:spPr>
          <a:xfrm>
            <a:off x="1679040" y="5031720"/>
            <a:ext cx="21240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000000"/>
                </a:solidFill>
                <a:latin typeface="Arial"/>
                <a:ea typeface="Arial"/>
              </a:rPr>
              <a:t>Surface meshes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9152640" y="5747760"/>
            <a:ext cx="1346760" cy="232920"/>
          </a:xfrm>
          <a:prstGeom prst="rect">
            <a:avLst/>
          </a:prstGeom>
          <a:solidFill>
            <a:schemeClr val="bg1">
              <a:alpha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000000"/>
                </a:solidFill>
                <a:latin typeface="Arial"/>
                <a:ea typeface="Arial"/>
              </a:rPr>
              <a:t>Overset mesh system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7975800" y="2008800"/>
            <a:ext cx="1623600" cy="376200"/>
          </a:xfrm>
          <a:prstGeom prst="rect">
            <a:avLst/>
          </a:prstGeom>
          <a:solidFill>
            <a:schemeClr val="bg1">
              <a:alpha val="7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000000"/>
                </a:solidFill>
                <a:latin typeface="Arial"/>
                <a:ea typeface="Arial"/>
              </a:rPr>
              <a:t>Cross section of flow domain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5" name="Group 6"/>
          <p:cNvGrpSpPr/>
          <p:nvPr/>
        </p:nvGrpSpPr>
        <p:grpSpPr>
          <a:xfrm>
            <a:off x="5450040" y="1910520"/>
            <a:ext cx="2179440" cy="2073600"/>
            <a:chOff x="5450040" y="1910520"/>
            <a:chExt cx="2179440" cy="2073600"/>
          </a:xfrm>
        </p:grpSpPr>
        <p:pic>
          <p:nvPicPr>
            <p:cNvPr id="86" name="Picture 2" descr="Graphical user interface, application&#10;&#10;Description automatically generated"/>
            <p:cNvPicPr/>
            <p:nvPr/>
          </p:nvPicPr>
          <p:blipFill>
            <a:blip r:embed="rId4"/>
            <a:stretch/>
          </p:blipFill>
          <p:spPr>
            <a:xfrm>
              <a:off x="5450040" y="1910520"/>
              <a:ext cx="2179440" cy="2073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7" name="TextBox 4"/>
            <p:cNvSpPr/>
            <p:nvPr/>
          </p:nvSpPr>
          <p:spPr>
            <a:xfrm>
              <a:off x="5495400" y="3687840"/>
              <a:ext cx="2089080" cy="23292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939" spc="-1" strike="noStrike">
                  <a:solidFill>
                    <a:srgbClr val="000000"/>
                  </a:solidFill>
                  <a:latin typeface="Arial"/>
                  <a:ea typeface="Arial"/>
                </a:rPr>
                <a:t>Longitudinal section of flow domain</a:t>
              </a:r>
              <a:endParaRPr b="0" lang="en-US" sz="93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" name="TextBox 10"/>
          <p:cNvSpPr/>
          <p:nvPr/>
        </p:nvSpPr>
        <p:spPr>
          <a:xfrm>
            <a:off x="3968640" y="2499120"/>
            <a:ext cx="15346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000000"/>
                </a:solidFill>
                <a:latin typeface="Arial"/>
                <a:ea typeface="Arial"/>
              </a:rPr>
              <a:t>434,704 elements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5127480" y="4227120"/>
            <a:ext cx="282528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25 Near-body strand meshes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504720" indent="-134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Initial wall normal spacing of 4.5x10</a:t>
            </a:r>
            <a:r>
              <a:rPr b="0" lang="en-US" sz="12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-6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R (y+1) 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504720" indent="-134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Stretching ratio of 1.16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504720" indent="-134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43 strand layers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08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36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4 Off-body Cartesian meshes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504720" indent="-134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"/>
              </a:rPr>
              <a:t>Free slip boundary condition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080"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Paulo Maneuver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12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78146DC-B4D3-428F-AE63-0F4FDEBCC1B0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6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34280" y="1616040"/>
            <a:ext cx="5215680" cy="4639680"/>
          </a:xfrm>
          <a:prstGeom prst="rect">
            <a:avLst/>
          </a:prstGeom>
          <a:ln w="0">
            <a:noFill/>
          </a:ln>
        </p:spPr>
      </p:pic>
      <p:sp>
        <p:nvSpPr>
          <p:cNvPr id="97" name="Content Placeholder 2"/>
          <p:cNvSpPr/>
          <p:nvPr/>
        </p:nvSpPr>
        <p:spPr>
          <a:xfrm>
            <a:off x="48240" y="1773360"/>
            <a:ext cx="6269400" cy="45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Developed prescribed maneuver capabilities: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Full-body translation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Multiple frames of rotation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Rotations about arbitrary axes and origins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Non-periodic deformations (for collective)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All defined with 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simple time-history files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ourier New" charset="2"/>
              <a:buChar char="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Spline interpolation between user defined times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video>
              <p:cMediaNode>
                <p:cTn repeatCount="indefinite">
                  <p:stCondLst>
                    <p:cond delay="indefinite"/>
                  </p:stCondLst>
                </p:cTn>
                <p:tgtEl>
                  <p:spTgt spid="9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Calibri"/>
                <a:ea typeface="Calibri"/>
              </a:rPr>
              <a:t>Paulo Maneuver Forces and Quasi-Steady Comparison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-4680" y="1547640"/>
            <a:ext cx="7373160" cy="16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0" lang="en-US" sz="2250" spc="-1" strike="noStrike">
                <a:solidFill>
                  <a:schemeClr val="dk1"/>
                </a:solidFill>
                <a:latin typeface="Calibri"/>
                <a:ea typeface="Calibri"/>
              </a:rPr>
              <a:t>Forces match with quasi-steady results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lvl="1" marL="707400" indent="-15840">
              <a:lnSpc>
                <a:spcPct val="100000"/>
              </a:lnSpc>
              <a:spcBef>
                <a:spcPts val="420"/>
              </a:spcBef>
              <a:buClr>
                <a:srgbClr val="152062"/>
              </a:buClr>
              <a:buFont typeface="Courier New"/>
              <a:buChar char="o"/>
            </a:pPr>
            <a:r>
              <a:rPr b="0" lang="en-US" sz="2050" spc="-1" strike="noStrike">
                <a:solidFill>
                  <a:schemeClr val="dk1"/>
                </a:solidFill>
                <a:latin typeface="Calibri"/>
                <a:ea typeface="Calibri"/>
              </a:rPr>
              <a:t>Implies that trimming iterations might be of use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3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9EC75F6-C7F4-418D-B846-49F57F9BA684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Picture 4" descr=""/>
          <p:cNvPicPr/>
          <p:nvPr/>
        </p:nvPicPr>
        <p:blipFill>
          <a:blip r:embed="rId1"/>
          <a:stretch/>
        </p:blipFill>
        <p:spPr>
          <a:xfrm>
            <a:off x="5862600" y="2733120"/>
            <a:ext cx="5555880" cy="3951360"/>
          </a:xfrm>
          <a:prstGeom prst="rect">
            <a:avLst/>
          </a:prstGeom>
          <a:ln w="0">
            <a:noFill/>
          </a:ln>
        </p:spPr>
      </p:pic>
      <p:pic>
        <p:nvPicPr>
          <p:cNvPr id="102" name="Picture 5" descr=""/>
          <p:cNvPicPr/>
          <p:nvPr/>
        </p:nvPicPr>
        <p:blipFill>
          <a:blip r:embed="rId2"/>
          <a:stretch/>
        </p:blipFill>
        <p:spPr>
          <a:xfrm>
            <a:off x="-2160" y="2791440"/>
            <a:ext cx="5464440" cy="3951360"/>
          </a:xfrm>
          <a:prstGeom prst="rect">
            <a:avLst/>
          </a:prstGeom>
          <a:ln w="0">
            <a:noFill/>
          </a:ln>
        </p:spPr>
      </p:pic>
      <p:sp>
        <p:nvSpPr>
          <p:cNvPr id="103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chemeClr val="lt1"/>
                </a:solidFill>
                <a:latin typeface="Arial"/>
                <a:ea typeface="Arial"/>
              </a:rPr>
              <a:t>Hover-to-Cruise Transition: Constant Altitude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14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78BF175-9FB1-4B18-A307-01C9EAEB6DC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90160" y="2276280"/>
            <a:ext cx="5194440" cy="3922920"/>
          </a:xfrm>
          <a:prstGeom prst="rect">
            <a:avLst/>
          </a:prstGeom>
          <a:ln w="0">
            <a:noFill/>
          </a:ln>
        </p:spPr>
      </p:pic>
      <p:pic>
        <p:nvPicPr>
          <p:cNvPr id="110" name="Content Placeholder 4" descr="A graph with a blue line&#10;&#10;AI-generated content may be incorrect."/>
          <p:cNvPicPr/>
          <p:nvPr/>
        </p:nvPicPr>
        <p:blipFill>
          <a:blip r:embed="rId3"/>
          <a:stretch/>
        </p:blipFill>
        <p:spPr>
          <a:xfrm>
            <a:off x="6675480" y="2354040"/>
            <a:ext cx="5097960" cy="3843360"/>
          </a:xfrm>
          <a:prstGeom prst="rect">
            <a:avLst/>
          </a:prstGeom>
          <a:ln w="0">
            <a:noFill/>
          </a:ln>
        </p:spPr>
      </p:pic>
      <p:sp>
        <p:nvSpPr>
          <p:cNvPr id="111" name="TextBox 2"/>
          <p:cNvSpPr/>
          <p:nvPr/>
        </p:nvSpPr>
        <p:spPr>
          <a:xfrm>
            <a:off x="2370240" y="1803960"/>
            <a:ext cx="1030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RPM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8294040" y="1803960"/>
            <a:ext cx="1803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Velocity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Base Quasi-Steady Simulation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31040" y="1739520"/>
            <a:ext cx="3949920" cy="438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1" lang="en-US" sz="2250" spc="-1" strike="noStrike">
                <a:solidFill>
                  <a:schemeClr val="dk1"/>
                </a:solidFill>
                <a:latin typeface="Calibri"/>
                <a:ea typeface="Calibri"/>
              </a:rPr>
              <a:t>Direct pitch and collective </a:t>
            </a:r>
            <a:r>
              <a:rPr b="1" lang="en-US" sz="2250" spc="-1" strike="noStrike">
                <a:solidFill>
                  <a:schemeClr val="dk1"/>
                </a:solidFill>
                <a:latin typeface="Calibri"/>
                <a:ea typeface="Calibri"/>
              </a:rPr>
              <a:t>values from GenMR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1" lang="en-US" sz="2250" spc="-1" strike="noStrike">
                <a:solidFill>
                  <a:schemeClr val="dk1"/>
                </a:solidFill>
                <a:latin typeface="Calibri"/>
                <a:ea typeface="Calibri"/>
              </a:rPr>
              <a:t>Inadequate force matching </a:t>
            </a:r>
            <a:r>
              <a:rPr b="1" lang="en-US" sz="2250" spc="-1" strike="noStrike">
                <a:solidFill>
                  <a:schemeClr val="dk1"/>
                </a:solidFill>
                <a:latin typeface="Calibri"/>
                <a:ea typeface="Calibri"/>
              </a:rPr>
              <a:t>from GenMR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lvl="1" marL="707400" indent="-15840">
              <a:lnSpc>
                <a:spcPct val="100000"/>
              </a:lnSpc>
              <a:spcBef>
                <a:spcPts val="420"/>
              </a:spcBef>
              <a:buClr>
                <a:srgbClr val="152062"/>
              </a:buClr>
              <a:buFont typeface="Courier New"/>
              <a:buChar char="o"/>
            </a:pPr>
            <a:r>
              <a:rPr b="0" lang="en-US" sz="2050" spc="-1" strike="noStrike">
                <a:solidFill>
                  <a:schemeClr val="dk1"/>
                </a:solidFill>
                <a:latin typeface="Calibri"/>
                <a:ea typeface="Calibri"/>
              </a:rPr>
              <a:t>Requires Trim Jacobian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5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698972D-315E-468A-AEFA-15EF34CC3D4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6" name="Graphic 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250520" y="1568160"/>
            <a:ext cx="7690680" cy="4764240"/>
          </a:xfrm>
          <a:prstGeom prst="rect">
            <a:avLst/>
          </a:prstGeom>
          <a:ln w="0">
            <a:noFill/>
          </a:ln>
        </p:spPr>
      </p:pic>
      <p:sp>
        <p:nvSpPr>
          <p:cNvPr id="117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Finding Trim Jacobian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94720" y="1547640"/>
            <a:ext cx="5007960" cy="167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0" lang="en-US" sz="2280" spc="-1" strike="noStrike">
                <a:solidFill>
                  <a:srgbClr val="000000"/>
                </a:solidFill>
                <a:latin typeface="Arial"/>
                <a:ea typeface="Arial"/>
              </a:rPr>
              <a:t>Using (2-point forward)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  <a:p>
            <a:pPr lvl="1" marL="707400" indent="-15840">
              <a:lnSpc>
                <a:spcPct val="100000"/>
              </a:lnSpc>
              <a:spcBef>
                <a:spcPts val="420"/>
              </a:spcBef>
              <a:buClr>
                <a:srgbClr val="152062"/>
              </a:buClr>
              <a:buFont typeface="Arial"/>
              <a:buChar char="–"/>
            </a:pPr>
            <a:r>
              <a:rPr b="0" lang="en-US" sz="209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90" spc="-1" strike="noStrike">
                <a:solidFill>
                  <a:srgbClr val="000000"/>
                </a:solidFill>
                <a:latin typeface="Arial"/>
                <a:ea typeface="Arial"/>
              </a:rPr>
              <a:t>+5% of pitch and each collective</a:t>
            </a:r>
            <a:endParaRPr b="0" lang="en-US" sz="2090" spc="-1" strike="noStrike">
              <a:solidFill>
                <a:srgbClr val="000000"/>
              </a:solidFill>
              <a:latin typeface="Arial"/>
            </a:endParaRPr>
          </a:p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0" lang="en-US" sz="2280" spc="-1" strike="noStrike">
                <a:solidFill>
                  <a:srgbClr val="000000"/>
                </a:solidFill>
                <a:latin typeface="Arial"/>
                <a:ea typeface="Arial"/>
              </a:rPr>
              <a:t>Moment data not available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0" lang="en-US" sz="2250" spc="-1" strike="noStrike">
                <a:solidFill>
                  <a:srgbClr val="000000"/>
                </a:solidFill>
                <a:latin typeface="Arial"/>
                <a:ea typeface="Arial"/>
              </a:rPr>
              <a:t>24 partial cases in total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6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665ADB3-4E2F-4481-8988-51978710F40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2" name="Graphic 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890320" y="3226680"/>
            <a:ext cx="6303960" cy="3279600"/>
          </a:xfrm>
          <a:prstGeom prst="rect">
            <a:avLst/>
          </a:prstGeom>
          <a:ln w="0">
            <a:noFill/>
          </a:ln>
        </p:spPr>
      </p:pic>
      <p:pic>
        <p:nvPicPr>
          <p:cNvPr id="123" name="Graphic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3226680"/>
            <a:ext cx="5889600" cy="3279600"/>
          </a:xfrm>
          <a:prstGeom prst="rect">
            <a:avLst/>
          </a:prstGeom>
          <a:ln w="0">
            <a:noFill/>
          </a:ln>
        </p:spPr>
      </p:pic>
      <p:sp>
        <p:nvSpPr>
          <p:cNvPr id="124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Placeholder 2"/>
          <p:cNvSpPr/>
          <p:nvPr/>
        </p:nvSpPr>
        <p:spPr>
          <a:xfrm>
            <a:off x="6485040" y="1547640"/>
            <a:ext cx="5007960" cy="167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0" lang="en-US" sz="2280" spc="-1" strike="noStrike">
                <a:solidFill>
                  <a:srgbClr val="000000"/>
                </a:solidFill>
                <a:latin typeface="Arial"/>
                <a:ea typeface="Arial"/>
              </a:rPr>
              <a:t>Collective changes were forced to be equal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First Trimming Iteration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17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C5C096A-EB97-4413-ADF4-93CB278A8DD5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9" name="Graphic 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054160" y="1710360"/>
            <a:ext cx="8081640" cy="4885200"/>
          </a:xfrm>
          <a:prstGeom prst="rect">
            <a:avLst/>
          </a:prstGeom>
          <a:ln w="0">
            <a:noFill/>
          </a:ln>
        </p:spPr>
      </p:pic>
      <p:sp>
        <p:nvSpPr>
          <p:cNvPr id="130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Third Trimming Iteration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18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AC9C271-9A78-4E3F-8B2E-8B267126CBDC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044440" y="1720080"/>
            <a:ext cx="8103240" cy="483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New Control Values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19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4ECFB50-0BF3-4FEE-A47E-2AA88C9F18B0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Graphic 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-3960" y="2064240"/>
            <a:ext cx="5802840" cy="4275720"/>
          </a:xfrm>
          <a:prstGeom prst="rect">
            <a:avLst/>
          </a:prstGeom>
          <a:ln w="0">
            <a:noFill/>
          </a:ln>
        </p:spPr>
      </p:pic>
      <p:pic>
        <p:nvPicPr>
          <p:cNvPr id="142" name="Graphic 7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793480" y="2213640"/>
            <a:ext cx="6349320" cy="378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Interpolation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20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13F10FE-D8A1-401D-A0B2-127C8D996EE2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5" name="Graphic 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361240" y="1832400"/>
            <a:ext cx="7475400" cy="4390200"/>
          </a:xfrm>
          <a:prstGeom prst="rect">
            <a:avLst/>
          </a:prstGeom>
          <a:ln w="0">
            <a:noFill/>
          </a:ln>
        </p:spPr>
      </p:pic>
      <p:sp>
        <p:nvSpPr>
          <p:cNvPr id="146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Interpolation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2464920" y="1596960"/>
            <a:ext cx="727056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3680" indent="0">
              <a:lnSpc>
                <a:spcPct val="100000"/>
              </a:lnSpc>
              <a:spcBef>
                <a:spcPts val="456"/>
              </a:spcBef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chemeClr val="dk1"/>
                </a:solidFill>
                <a:latin typeface="Arial"/>
                <a:ea typeface="Arial"/>
              </a:rPr>
              <a:t>Attitude data must be converted to a rotational speed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21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3D0AA33-F02C-4B03-8FAD-667050BDC143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952240" y="2433960"/>
            <a:ext cx="6095160" cy="3656880"/>
          </a:xfrm>
          <a:prstGeom prst="rect">
            <a:avLst/>
          </a:prstGeom>
          <a:ln w="0">
            <a:noFill/>
          </a:ln>
        </p:spPr>
      </p:pic>
      <p:pic>
        <p:nvPicPr>
          <p:cNvPr id="154" name="Graphic 6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800" y="2205360"/>
            <a:ext cx="5479560" cy="411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Full Unsteady Simulation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22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B5F79B5-7507-45A6-A6A8-A2067393CE46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Graphic 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130480" y="1596600"/>
            <a:ext cx="7686000" cy="512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Full Unsteady Simulation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23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14DD004-15DB-42E1-8D8A-EB6D9C16E88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Graphic 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441520" y="1641240"/>
            <a:ext cx="7611840" cy="507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1"/>
          <p:cNvSpPr/>
          <p:nvPr/>
        </p:nvSpPr>
        <p:spPr>
          <a:xfrm>
            <a:off x="103320" y="884160"/>
            <a:ext cx="84304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ACM – Acoustic Code University of Maryland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Picture 13" descr=""/>
          <p:cNvPicPr/>
          <p:nvPr/>
        </p:nvPicPr>
        <p:blipFill>
          <a:blip r:embed="rId1"/>
          <a:stretch/>
        </p:blipFill>
        <p:spPr>
          <a:xfrm>
            <a:off x="1559160" y="1711080"/>
            <a:ext cx="7923240" cy="4825440"/>
          </a:xfrm>
          <a:prstGeom prst="rect">
            <a:avLst/>
          </a:prstGeom>
          <a:ln w="0">
            <a:noFill/>
          </a:ln>
        </p:spPr>
      </p:pic>
      <p:sp>
        <p:nvSpPr>
          <p:cNvPr id="167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Acoustic Solver – ACM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Content Placeholder 2"/>
          <p:cNvSpPr/>
          <p:nvPr/>
        </p:nvSpPr>
        <p:spPr>
          <a:xfrm>
            <a:off x="131040" y="1728720"/>
            <a:ext cx="11446200" cy="4475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>
                    <a:alpha val="1000"/>
                  </a:srgbClr>
                </a:solidFill>
                <a:latin typeface="Arial"/>
                <a:ea typeface="Arial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131040" y="3281040"/>
            <a:ext cx="11259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Broadband noise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Brooks, Pope, and Marcolini (BPM) 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131040" y="4760280"/>
            <a:ext cx="112590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Observers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at a 20 m distance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Roughly 30 rotor diameters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Hemispheric set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below the aircraft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Picture 6" descr=""/>
          <p:cNvPicPr/>
          <p:nvPr/>
        </p:nvPicPr>
        <p:blipFill>
          <a:blip r:embed="rId2"/>
          <a:srcRect l="3913" t="19445" r="1122" b="4465"/>
          <a:stretch/>
        </p:blipFill>
        <p:spPr>
          <a:xfrm>
            <a:off x="6671160" y="2633040"/>
            <a:ext cx="5384520" cy="3836160"/>
          </a:xfrm>
          <a:prstGeom prst="rect">
            <a:avLst/>
          </a:prstGeom>
          <a:ln w="0">
            <a:noFill/>
          </a:ln>
        </p:spPr>
      </p:pic>
      <p:sp>
        <p:nvSpPr>
          <p:cNvPr id="174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1BD751-A7FE-4A6F-BEFC-606C16E7C064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" dur="indefinite" restart="never" nodeType="tmRoot">
          <p:childTnLst>
            <p:seq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Maximum Noise Location Paulo Maneuver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Picture 5" descr=""/>
          <p:cNvPicPr/>
          <p:nvPr/>
        </p:nvPicPr>
        <p:blipFill>
          <a:blip r:embed="rId1"/>
          <a:stretch/>
        </p:blipFill>
        <p:spPr>
          <a:xfrm>
            <a:off x="859320" y="1924560"/>
            <a:ext cx="5423760" cy="475704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7" descr=""/>
          <p:cNvPicPr/>
          <p:nvPr/>
        </p:nvPicPr>
        <p:blipFill>
          <a:blip r:embed="rId2"/>
          <a:stretch/>
        </p:blipFill>
        <p:spPr>
          <a:xfrm>
            <a:off x="6817680" y="2065320"/>
            <a:ext cx="3382200" cy="4235760"/>
          </a:xfrm>
          <a:prstGeom prst="rect">
            <a:avLst/>
          </a:prstGeom>
          <a:ln w="0">
            <a:noFill/>
          </a:ln>
        </p:spPr>
      </p:pic>
      <p:sp>
        <p:nvSpPr>
          <p:cNvPr id="179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0B3116-A032-48E2-A331-BC68BD2D3168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5" descr=""/>
          <p:cNvPicPr/>
          <p:nvPr/>
        </p:nvPicPr>
        <p:blipFill>
          <a:blip r:embed="rId1"/>
          <a:stretch/>
        </p:blipFill>
        <p:spPr>
          <a:xfrm>
            <a:off x="6370560" y="3048840"/>
            <a:ext cx="3421440" cy="2656080"/>
          </a:xfrm>
          <a:prstGeom prst="rect">
            <a:avLst/>
          </a:prstGeom>
          <a:ln w="0">
            <a:noFill/>
          </a:ln>
        </p:spPr>
      </p:pic>
      <p:pic>
        <p:nvPicPr>
          <p:cNvPr id="182" name="Content Placeholder 5" descr=""/>
          <p:cNvPicPr/>
          <p:nvPr/>
        </p:nvPicPr>
        <p:blipFill>
          <a:blip r:embed="rId2"/>
          <a:stretch/>
        </p:blipFill>
        <p:spPr>
          <a:xfrm>
            <a:off x="2399400" y="3048120"/>
            <a:ext cx="3436200" cy="2657520"/>
          </a:xfrm>
          <a:prstGeom prst="rect">
            <a:avLst/>
          </a:prstGeom>
          <a:ln w="0">
            <a:noFill/>
          </a:ln>
        </p:spPr>
      </p:pic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27000" y="894240"/>
            <a:ext cx="929376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Tonal Noise of </a:t>
            </a: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Uninstalled and </a:t>
            </a: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Installed Rotor Systems </a:t>
            </a: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– Hover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ldNum" idx="24"/>
          </p:nvPr>
        </p:nvSpPr>
        <p:spPr>
          <a:xfrm>
            <a:off x="10541160" y="644688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1E0618-02F8-44F1-BEFC-8490DA59AA8D}" type="slidenum">
              <a:rPr b="0" lang="en-US" sz="12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1568160" y="6125400"/>
            <a:ext cx="9055080" cy="3333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"/>
              </a:rPr>
              <a:t>Installed rotor system has a lower tonal noise footprint due to less rotor-rotor interactions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9"/>
          <p:cNvSpPr/>
          <p:nvPr/>
        </p:nvSpPr>
        <p:spPr>
          <a:xfrm>
            <a:off x="4537080" y="3070800"/>
            <a:ext cx="10432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000000"/>
                </a:solidFill>
                <a:latin typeface="Arial"/>
                <a:ea typeface="Arial"/>
              </a:rPr>
              <a:t>Higher Noise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7" name="Straight Arrow Connector 11"/>
          <p:cNvCxnSpPr/>
          <p:nvPr/>
        </p:nvCxnSpPr>
        <p:spPr>
          <a:xfrm flipH="1">
            <a:off x="3835440" y="3293640"/>
            <a:ext cx="801000" cy="8841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88" name="TextBox 12"/>
          <p:cNvSpPr/>
          <p:nvPr/>
        </p:nvSpPr>
        <p:spPr>
          <a:xfrm>
            <a:off x="8488440" y="3068280"/>
            <a:ext cx="10432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000000"/>
                </a:solidFill>
                <a:latin typeface="Arial"/>
                <a:ea typeface="Arial"/>
              </a:rPr>
              <a:t>Lower Noise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9" name="Straight Arrow Connector 13"/>
          <p:cNvCxnSpPr/>
          <p:nvPr/>
        </p:nvCxnSpPr>
        <p:spPr>
          <a:xfrm flipH="1">
            <a:off x="7773840" y="3293640"/>
            <a:ext cx="1002960" cy="8841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0" name="TextBox 10"/>
          <p:cNvSpPr/>
          <p:nvPr/>
        </p:nvSpPr>
        <p:spPr>
          <a:xfrm>
            <a:off x="2469240" y="2196360"/>
            <a:ext cx="3421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Arial"/>
              </a:rPr>
              <a:t>Uninstalled Rotor System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4"/>
          <p:cNvSpPr/>
          <p:nvPr/>
        </p:nvSpPr>
        <p:spPr>
          <a:xfrm>
            <a:off x="6301080" y="2196360"/>
            <a:ext cx="3421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Arial"/>
              </a:rPr>
              <a:t>Installed Rotor System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" descr="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32800" y="1836720"/>
            <a:ext cx="1159560" cy="1029960"/>
          </a:xfrm>
          <a:prstGeom prst="rect">
            <a:avLst/>
          </a:prstGeom>
          <a:ln w="0">
            <a:noFill/>
          </a:ln>
        </p:spPr>
      </p:pic>
      <p:pic>
        <p:nvPicPr>
          <p:cNvPr id="193" name="" descr="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99040" y="1836720"/>
            <a:ext cx="1159560" cy="1030680"/>
          </a:xfrm>
          <a:prstGeom prst="rect">
            <a:avLst/>
          </a:prstGeom>
          <a:ln w="0">
            <a:noFill/>
          </a:ln>
        </p:spPr>
      </p:pic>
      <p:sp>
        <p:nvSpPr>
          <p:cNvPr id="194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" dur="indefinite" restart="never" nodeType="tmRoot">
          <p:childTnLst>
            <p:seq>
              <p:cTn id="15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4000" fill="hold"/>
                                        <p:tgtEl>
                                          <p:spTgt spid="1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4000" fill="hold"/>
                                        <p:tgtEl>
                                          <p:spTgt spid="1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 repeatCount="indefinite">
                  <p:stCondLst>
                    <p:cond delay="indefinite"/>
                  </p:stCondLst>
                  <p:endCondLst>
                    <p:cond delay="0" evt="onNext"/>
                  </p:endCondLst>
                </p:cTn>
                <p:tgtEl>
                  <p:spTgt spid="192"/>
                </p:tgtEl>
              </p:cMediaNode>
            </p:video>
            <p:video>
              <p:cMediaNode>
                <p:cTn repeatCount="indefinite">
                  <p:stCondLst>
                    <p:cond delay="indefinite"/>
                  </p:stCondLst>
                  <p:endCondLst>
                    <p:cond delay="0" evt="onNext"/>
                  </p:endCondLst>
                </p:cTn>
                <p:tgtEl>
                  <p:spTgt spid="19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289"/>
          <p:cNvSpPr/>
          <p:nvPr/>
        </p:nvSpPr>
        <p:spPr>
          <a:xfrm>
            <a:off x="3048120" y="308520"/>
            <a:ext cx="246672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2120" bIns="42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30" spc="-1" strike="noStrike">
                <a:solidFill>
                  <a:srgbClr val="ffffff"/>
                </a:solidFill>
                <a:latin typeface="Arial"/>
                <a:ea typeface="Arial"/>
              </a:rPr>
              <a:t>University of Maryland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90"/>
          <p:cNvSpPr/>
          <p:nvPr/>
        </p:nvSpPr>
        <p:spPr>
          <a:xfrm>
            <a:off x="6241320" y="308520"/>
            <a:ext cx="32648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2120" bIns="42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30" spc="-1" strike="noStrike">
                <a:solidFill>
                  <a:srgbClr val="ffffff"/>
                </a:solidFill>
                <a:latin typeface="Arial"/>
                <a:ea typeface="Arial"/>
              </a:rPr>
              <a:t>Alfred Gessow Rotorcraft Center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3320" y="884160"/>
            <a:ext cx="84304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80" spc="-1" strike="noStrike">
                <a:solidFill>
                  <a:schemeClr val="lt1"/>
                </a:solidFill>
                <a:latin typeface="Arial"/>
                <a:ea typeface="Arial"/>
              </a:rPr>
              <a:t>Hover vs Climb (3 m/s) Acoustic Comparison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756720" y="2698560"/>
            <a:ext cx="22654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Arial"/>
              </a:rPr>
              <a:t>Hover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1157040" y="5360760"/>
            <a:ext cx="146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Climb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7" descr="A colorful circle with a number of lines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207400" y="4278600"/>
            <a:ext cx="2431800" cy="257868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8" descr="A colorful circle with a number of colors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7785360" y="4278600"/>
            <a:ext cx="2431800" cy="257868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10" descr="A colorful circle with a grid&#10;&#10;Description automatically generated with medium confidence"/>
          <p:cNvPicPr/>
          <p:nvPr/>
        </p:nvPicPr>
        <p:blipFill>
          <a:blip r:embed="rId3"/>
          <a:stretch/>
        </p:blipFill>
        <p:spPr>
          <a:xfrm>
            <a:off x="2622600" y="4278600"/>
            <a:ext cx="2431800" cy="2578680"/>
          </a:xfrm>
          <a:prstGeom prst="rect">
            <a:avLst/>
          </a:prstGeom>
          <a:ln w="0">
            <a:noFill/>
          </a:ln>
        </p:spPr>
      </p:pic>
      <p:sp>
        <p:nvSpPr>
          <p:cNvPr id="204" name="TextBox 11"/>
          <p:cNvSpPr/>
          <p:nvPr/>
        </p:nvSpPr>
        <p:spPr>
          <a:xfrm>
            <a:off x="3187800" y="1472040"/>
            <a:ext cx="146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Rotor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2"/>
          <p:cNvSpPr/>
          <p:nvPr/>
        </p:nvSpPr>
        <p:spPr>
          <a:xfrm>
            <a:off x="5761440" y="1469160"/>
            <a:ext cx="146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Airframe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3"/>
          <p:cNvSpPr/>
          <p:nvPr/>
        </p:nvSpPr>
        <p:spPr>
          <a:xfrm>
            <a:off x="8343360" y="1469160"/>
            <a:ext cx="146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Total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14" descr="A circular object with a blue and green circle&#10;&#10;Description automatically generated"/>
          <p:cNvPicPr/>
          <p:nvPr/>
        </p:nvPicPr>
        <p:blipFill>
          <a:blip r:embed="rId4"/>
          <a:stretch/>
        </p:blipFill>
        <p:spPr>
          <a:xfrm>
            <a:off x="5199120" y="1825920"/>
            <a:ext cx="2431080" cy="2293920"/>
          </a:xfrm>
          <a:prstGeom prst="rect">
            <a:avLst/>
          </a:prstGeom>
          <a:ln w="0">
            <a:noFill/>
          </a:ln>
        </p:spPr>
      </p:pic>
      <p:pic>
        <p:nvPicPr>
          <p:cNvPr id="208" name="Picture 15" descr="A colorful circle with black lines and a black text&#10;&#10;Description automatically generated with medium confidence"/>
          <p:cNvPicPr/>
          <p:nvPr/>
        </p:nvPicPr>
        <p:blipFill>
          <a:blip r:embed="rId5"/>
          <a:stretch/>
        </p:blipFill>
        <p:spPr>
          <a:xfrm>
            <a:off x="2622960" y="1829160"/>
            <a:ext cx="2431080" cy="229392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16" descr="A red circle with a black and yellow circle&#10;&#10;Description automatically generated"/>
          <p:cNvPicPr/>
          <p:nvPr/>
        </p:nvPicPr>
        <p:blipFill>
          <a:blip r:embed="rId6"/>
          <a:stretch/>
        </p:blipFill>
        <p:spPr>
          <a:xfrm>
            <a:off x="7785360" y="1825920"/>
            <a:ext cx="2431080" cy="2293920"/>
          </a:xfrm>
          <a:prstGeom prst="rect">
            <a:avLst/>
          </a:prstGeom>
          <a:ln w="0">
            <a:noFill/>
          </a:ln>
        </p:spPr>
      </p:pic>
      <p:sp>
        <p:nvSpPr>
          <p:cNvPr id="210" name="PlaceHolder 2"/>
          <p:cNvSpPr>
            <a:spLocks noGrp="1"/>
          </p:cNvSpPr>
          <p:nvPr>
            <p:ph type="sldNum" idx="25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A53AC3B-0D15-4B00-88A3-DA699206E83D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50" spc="-1" strike="noStrike">
                <a:solidFill>
                  <a:schemeClr val="lt1"/>
                </a:solidFill>
                <a:latin typeface="Arial"/>
                <a:ea typeface="Arial"/>
              </a:rPr>
              <a:t>Rotor Phasing Optimization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74160" y="1625400"/>
            <a:ext cx="10819800" cy="54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26520" indent="-42480">
              <a:lnSpc>
                <a:spcPct val="100000"/>
              </a:lnSpc>
              <a:spcBef>
                <a:spcPts val="456"/>
              </a:spcBef>
              <a:buClr>
                <a:srgbClr val="152062"/>
              </a:buClr>
              <a:buSzPct val="99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Eight different configurations considered in optimization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Picture 5" descr="A graph of red and blue bars&#10;&#10;Description automatically generated"/>
          <p:cNvPicPr/>
          <p:nvPr/>
        </p:nvPicPr>
        <p:blipFill>
          <a:blip r:embed="rId1"/>
          <a:stretch/>
        </p:blipFill>
        <p:spPr>
          <a:xfrm>
            <a:off x="5484240" y="2057760"/>
            <a:ext cx="5851440" cy="4388400"/>
          </a:xfrm>
          <a:prstGeom prst="rect">
            <a:avLst/>
          </a:prstGeom>
          <a:ln w="0">
            <a:noFill/>
          </a:ln>
        </p:spPr>
      </p:pic>
      <p:pic>
        <p:nvPicPr>
          <p:cNvPr id="214" name="Picture 12" descr="A diagram of a sphere with arrows and a circl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527760" y="2413440"/>
            <a:ext cx="4955760" cy="4039560"/>
          </a:xfrm>
          <a:prstGeom prst="rect">
            <a:avLst/>
          </a:prstGeom>
          <a:ln w="0">
            <a:noFill/>
          </a:ln>
        </p:spPr>
      </p:pic>
      <p:sp>
        <p:nvSpPr>
          <p:cNvPr id="215" name="PlaceHolder 3"/>
          <p:cNvSpPr>
            <a:spLocks noGrp="1"/>
          </p:cNvSpPr>
          <p:nvPr>
            <p:ph type="sldNum" idx="26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56BA48E-10DA-44D4-B21B-A84763180CE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80" spc="-1" strike="noStrike">
                <a:solidFill>
                  <a:schemeClr val="lt1"/>
                </a:solidFill>
                <a:latin typeface="Arial"/>
                <a:ea typeface="Arial"/>
              </a:rPr>
              <a:t>Total Aircraft Noise – Ground Plane (Forward Flight)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ldNum" idx="27"/>
          </p:nvPr>
        </p:nvSpPr>
        <p:spPr>
          <a:xfrm>
            <a:off x="10541160" y="644688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A4BB4F-4877-40A8-B53E-DABEC1108495}" type="slidenum">
              <a:rPr b="0" lang="en-US" sz="12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20" name="Group 16"/>
          <p:cNvGrpSpPr/>
          <p:nvPr/>
        </p:nvGrpSpPr>
        <p:grpSpPr>
          <a:xfrm>
            <a:off x="9478800" y="1634400"/>
            <a:ext cx="1190880" cy="1162800"/>
            <a:chOff x="9478800" y="1634400"/>
            <a:chExt cx="1190880" cy="1162800"/>
          </a:xfrm>
        </p:grpSpPr>
        <p:pic>
          <p:nvPicPr>
            <p:cNvPr id="221" name="Content Placeholder 47" descr="A close-up of a propeller&#10;&#10;Description automatically generated"/>
            <p:cNvPicPr/>
            <p:nvPr/>
          </p:nvPicPr>
          <p:blipFill>
            <a:blip r:embed="rId1"/>
            <a:stretch/>
          </p:blipFill>
          <p:spPr>
            <a:xfrm>
              <a:off x="9478800" y="1650960"/>
              <a:ext cx="1158120" cy="1146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2" name="Rectangle 15"/>
            <p:cNvSpPr/>
            <p:nvPr/>
          </p:nvSpPr>
          <p:spPr>
            <a:xfrm>
              <a:off x="10398960" y="1634400"/>
              <a:ext cx="270720" cy="24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90" spc="-1" strike="noStrike">
                <a:solidFill>
                  <a:schemeClr val="lt1"/>
                </a:solidFill>
                <a:latin typeface="Arial"/>
                <a:ea typeface="Arial"/>
              </a:endParaRPr>
            </a:p>
          </p:txBody>
        </p:sp>
      </p:grpSp>
      <p:sp>
        <p:nvSpPr>
          <p:cNvPr id="223" name="TextBox 11"/>
          <p:cNvSpPr/>
          <p:nvPr/>
        </p:nvSpPr>
        <p:spPr>
          <a:xfrm>
            <a:off x="7525800" y="2093040"/>
            <a:ext cx="17697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580" spc="-1" strike="noStrike">
                <a:solidFill>
                  <a:schemeClr val="dk1"/>
                </a:solidFill>
                <a:latin typeface="Arial"/>
                <a:ea typeface="Arial"/>
              </a:rPr>
              <a:t>Synchrophased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3057840" y="2093040"/>
            <a:ext cx="13755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580" spc="-1" strike="noStrike">
                <a:solidFill>
                  <a:schemeClr val="dk1"/>
                </a:solidFill>
                <a:latin typeface="Arial"/>
                <a:ea typeface="Arial"/>
              </a:rPr>
              <a:t>Unphased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2438280" y="6017760"/>
            <a:ext cx="7083000" cy="665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90" spc="-1" strike="noStrike">
                <a:solidFill>
                  <a:schemeClr val="lt1"/>
                </a:solidFill>
                <a:latin typeface="Arial"/>
                <a:ea typeface="Arial"/>
              </a:rPr>
              <a:t>Synchrophasing reduces total aircraft noise by about 5-6 dB</a:t>
            </a:r>
            <a:endParaRPr b="0" lang="en-US" sz="189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6" name="Picture 2" descr=""/>
          <p:cNvPicPr/>
          <p:nvPr/>
        </p:nvPicPr>
        <p:blipFill>
          <a:blip r:embed="rId2"/>
          <a:stretch/>
        </p:blipFill>
        <p:spPr>
          <a:xfrm>
            <a:off x="1698480" y="1752480"/>
            <a:ext cx="1158120" cy="1014480"/>
          </a:xfrm>
          <a:prstGeom prst="rect">
            <a:avLst/>
          </a:prstGeom>
          <a:ln w="0">
            <a:noFill/>
          </a:ln>
        </p:spPr>
      </p:pic>
      <p:pic>
        <p:nvPicPr>
          <p:cNvPr id="227" name="Picture 7" descr=""/>
          <p:cNvPicPr/>
          <p:nvPr/>
        </p:nvPicPr>
        <p:blipFill>
          <a:blip r:embed="rId3"/>
          <a:stretch/>
        </p:blipFill>
        <p:spPr>
          <a:xfrm>
            <a:off x="1989360" y="2892600"/>
            <a:ext cx="3511800" cy="2815920"/>
          </a:xfrm>
          <a:prstGeom prst="rect">
            <a:avLst/>
          </a:prstGeom>
          <a:ln w="0">
            <a:noFill/>
          </a:ln>
        </p:spPr>
      </p:pic>
      <p:pic>
        <p:nvPicPr>
          <p:cNvPr id="228" name="Picture 14" descr=""/>
          <p:cNvPicPr/>
          <p:nvPr/>
        </p:nvPicPr>
        <p:blipFill>
          <a:blip r:embed="rId4"/>
          <a:stretch/>
        </p:blipFill>
        <p:spPr>
          <a:xfrm>
            <a:off x="6687000" y="2892600"/>
            <a:ext cx="3511800" cy="2815920"/>
          </a:xfrm>
          <a:prstGeom prst="rect">
            <a:avLst/>
          </a:prstGeom>
          <a:ln w="0">
            <a:noFill/>
          </a:ln>
        </p:spPr>
      </p:pic>
      <p:sp>
        <p:nvSpPr>
          <p:cNvPr id="229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31040" y="884160"/>
            <a:ext cx="10705680" cy="6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3200400" y="3429000"/>
            <a:ext cx="4800600" cy="156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3680" indent="0" algn="ctr">
              <a:lnSpc>
                <a:spcPct val="100000"/>
              </a:lnSpc>
              <a:spcBef>
                <a:spcPts val="456"/>
              </a:spcBef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chemeClr val="dk1"/>
                </a:solidFill>
                <a:latin typeface="Calibri"/>
                <a:ea typeface="Calibri"/>
              </a:rPr>
              <a:t>Questions?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28"/>
          </p:nvPr>
        </p:nvSpPr>
        <p:spPr>
          <a:xfrm>
            <a:off x="11409120" y="633312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796A28D-36F7-4AC6-AB67-132C738CEFB9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Title 1"/>
          <p:cNvSpPr/>
          <p:nvPr/>
        </p:nvSpPr>
        <p:spPr>
          <a:xfrm>
            <a:off x="2895480" y="152280"/>
            <a:ext cx="259020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University of Maryland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itle 1"/>
          <p:cNvSpPr/>
          <p:nvPr/>
        </p:nvSpPr>
        <p:spPr>
          <a:xfrm>
            <a:off x="6248520" y="152280"/>
            <a:ext cx="3428280" cy="612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88920" rIns="88920" tIns="44280" bIns="4428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</a:rPr>
              <a:t>Alfred Gessow Rotorcraft Center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plate_AgustaWestland">
  <a:themeElements>
    <a:clrScheme name="Template_AgustaWestla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MD_AGRC_16x9_hba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c3a1246-0cb1-4231-aa54-e583c82ab35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E9AC42CCF6CD49BED1E9721BF95A04" ma:contentTypeVersion="5" ma:contentTypeDescription="Create a new document." ma:contentTypeScope="" ma:versionID="8ca7c41361969a437d96ff3451687755">
  <xsd:schema xmlns:xsd="http://www.w3.org/2001/XMLSchema" xmlns:xs="http://www.w3.org/2001/XMLSchema" xmlns:p="http://schemas.microsoft.com/office/2006/metadata/properties" xmlns:ns3="0c3a1246-0cb1-4231-aa54-e583c82ab35b" targetNamespace="http://schemas.microsoft.com/office/2006/metadata/properties" ma:root="true" ma:fieldsID="13d50d9383a2f47191d851f48e6bb191" ns3:_="">
    <xsd:import namespace="0c3a1246-0cb1-4231-aa54-e583c82ab3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1246-0cb1-4231-aa54-e583c82ab3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7DEB67-813F-4B64-84A3-AF9925257E9D}">
  <ds:schemaRefs>
    <ds:schemaRef ds:uri="0c3a1246-0cb1-4231-aa54-e583c82ab3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6C17B94-7D3E-4170-816A-97BE1D70CFBF}">
  <ds:schemaRefs>
    <ds:schemaRef ds:uri="0c3a1246-0cb1-4231-aa54-e583c82ab3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FA79EEB-50CD-4D23-8205-EC37366307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UMD 1.5 Transitional Aeromechanics_Final</Template>
  <TotalTime>49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2026-04-24T16:27:22Z</dcterms:created>
  <dc:creator>Robert Weston Tague Carlyon</dc:creator>
  <dc:description/>
  <dc:language>en-US</dc:language>
  <cp:lastModifiedBy/>
  <cp:lastPrinted>2018-11-05T19:27:18Z</cp:lastPrinted>
  <dcterms:modified xsi:type="dcterms:W3CDTF">2026-09-22T10:20:09Z</dcterms:modified>
  <cp:revision>492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0x0101008AE9AC42CCF6CD49BED1E9721BF95A04</vt:lpwstr>
  </property>
  <property fmtid="{D5CDD505-2E9C-101B-9397-08002B2CF9AE}" pid="3" name="Notes">
    <vt:i4>14</vt:i4>
  </property>
  <property fmtid="{D5CDD505-2E9C-101B-9397-08002B2CF9AE}" pid="4" name="PresentationFormat">
    <vt:lpwstr>Widescreen</vt:lpwstr>
  </property>
  <property fmtid="{D5CDD505-2E9C-101B-9397-08002B2CF9AE}" pid="5" name="Slides">
    <vt:i4>28</vt:i4>
  </property>
</Properties>
</file>