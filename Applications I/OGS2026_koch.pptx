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tags/tag9.xml" ContentType="application/vnd.openxmlformats-officedocument.presentationml.tags+xml"/>
  <Override PartName="/ppt/notesSlides/notesSlide15.xml" ContentType="application/vnd.openxmlformats-officedocument.presentationml.notesSlide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28"/>
  </p:notesMasterIdLst>
  <p:sldIdLst>
    <p:sldId id="256" r:id="rId2"/>
    <p:sldId id="2098149103" r:id="rId3"/>
    <p:sldId id="381" r:id="rId4"/>
    <p:sldId id="384" r:id="rId5"/>
    <p:sldId id="385" r:id="rId6"/>
    <p:sldId id="382" r:id="rId7"/>
    <p:sldId id="386" r:id="rId8"/>
    <p:sldId id="387" r:id="rId9"/>
    <p:sldId id="388" r:id="rId10"/>
    <p:sldId id="389" r:id="rId11"/>
    <p:sldId id="390" r:id="rId12"/>
    <p:sldId id="391" r:id="rId13"/>
    <p:sldId id="401" r:id="rId14"/>
    <p:sldId id="402" r:id="rId15"/>
    <p:sldId id="403" r:id="rId16"/>
    <p:sldId id="404" r:id="rId17"/>
    <p:sldId id="380" r:id="rId18"/>
    <p:sldId id="392" r:id="rId19"/>
    <p:sldId id="405" r:id="rId20"/>
    <p:sldId id="393" r:id="rId21"/>
    <p:sldId id="396" r:id="rId22"/>
    <p:sldId id="394" r:id="rId23"/>
    <p:sldId id="395" r:id="rId24"/>
    <p:sldId id="400" r:id="rId25"/>
    <p:sldId id="372" r:id="rId26"/>
    <p:sldId id="60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61A4"/>
    <a:srgbClr val="1168B6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28" autoAdjust="0"/>
    <p:restoredTop sz="96245" autoAdjust="0"/>
  </p:normalViewPr>
  <p:slideViewPr>
    <p:cSldViewPr snapToGrid="0">
      <p:cViewPr varScale="1">
        <p:scale>
          <a:sx n="125" d="100"/>
          <a:sy n="125" d="100"/>
        </p:scale>
        <p:origin x="28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365B4-7208-483E-A504-42A83F74293D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E588-C63E-4D98-ADDC-104D617E8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4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77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A038C-5F53-798D-9C64-55797D9D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0EBF7-DFA5-BD8C-9127-E6DDF7E73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16A95-42C5-4515-3FB2-B639E1B94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22E4-32F0-7057-69C9-FDF90C63B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7CCF5-A296-489D-994A-6E37F96655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9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E8D5-E95A-EDF5-58F3-A5FD9FA9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6A132-C016-FF3C-DB76-21DD8BCA3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CEC5F-3D3B-C918-DDD9-642738D5A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810AB-37B5-01E8-33F6-115589A03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28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2005-A3E6-6558-1582-3AFE267B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C9113-0B03-6AB6-AA1F-B9AF8F8B9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E22F8-F058-A2DE-B9D4-5A8489C54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0A469-B510-1FBD-3AF9-B1FECD914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29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5AAE-E32E-32C1-7E47-CEE9A6B1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3C859-716F-B26A-DBFE-CCE4F6A5F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09C0C-8F48-312C-6104-130D524AE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D5554-C2C3-C9DA-1C1B-B01D9AC6D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30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F120-CABF-351A-7AF4-21EB10EA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B77F1-C6DB-B498-7EC7-6D79F1D2F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F4261-64DC-ABB2-FCB8-017651205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5C46B-E719-A3F1-2FDC-F3ED64E70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88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52B8-35D8-AD52-FC64-06E5A695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451CE-B29E-DC78-E7F5-81C485C84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D3BA-DEF7-5996-3717-64BBC242B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4DBD5-0833-AC42-8629-8D2505708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44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3C08-6262-975C-47B8-7D4A05AC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C9041-4AEA-4D91-CF19-AF598CA4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50850-5496-048E-896F-144F0E7E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26D56-1FAF-538F-A23D-D985477C0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09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9B77-7F0D-55AC-A506-02D24550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1CC65-2EAE-DBF6-9C8C-C35EFA43A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348CF-0DD7-7FC7-B64D-E43C43A48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8153-3F7F-40D6-32B6-523067378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40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EDBA4-8C1A-2704-08BE-F7F2A955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23D3A-BB11-79B4-829B-7ECEB7549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F8C94-1574-DFA1-14F7-EDE44DE2B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81938-EB7E-56D5-AA78-F50D83D0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56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CE28C-ABEB-E262-EBE8-8B32563E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6A02B-C4E6-8BED-90F6-7CDDFD427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158A4-D356-5301-9007-77024F5E3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B5F66-569E-E472-5319-9F66F574D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90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FDF0-F110-C12B-B638-91CFD70F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3FEBB-126D-C94B-CFAE-B4887459A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60740-9CD1-9F70-331B-2BB7EF781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E61A9-B290-A49A-9B89-E2892B524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90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976D-7956-DBF1-1C6E-BE093432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15C8B-D429-A4B1-9ACC-6E5B88FBA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9631D-C3BD-204A-B08C-E49970F81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E380D-CA8E-584D-4693-D8ADE1E3C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9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C262-0590-6CAA-7F13-AEAFEAE0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0BC8B-C5C7-F428-ED41-71C438010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50CBD-306E-85A1-CBC5-3ADD549D1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BA63-0BF8-8864-1F32-4F37F1BE4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76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A8E1-3C89-17D9-FDB1-D06BF856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85E00-1790-335D-F5B9-B887FEA4A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4E847-2A67-690D-6AB0-EFD2DF3EC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BCEDF-7813-5538-833F-D4BC8C30F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26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0D0F-F933-FDB7-2E54-BCF7F753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8ECED-533B-5F3A-0B88-945147CF5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7617F-EA8A-4FD8-C1C9-4E0BEC938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DABE-BB26-426B-AB9C-626925281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43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3AE4-CC31-C801-52BC-0D2BF888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39A75-E39D-4984-5E17-A5ED92E51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DF8F1-D4AF-9DA7-0690-B716292A1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45502-C1B6-7CD1-5753-57FA1268C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64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61445-FD8B-622F-F232-E1DE1F8A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AC053-A7F0-2CCB-5E1F-F9057C733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4AB2F-E223-5696-0593-9B448A571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BAA79-CED0-737E-D3E2-612A62A3A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50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1124-7CF8-0C8F-8573-AFBD3E4A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5FB00-D76C-85EC-B436-71A6BF9E8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9BAAE-55F9-6C33-8354-5EB00CC2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6D98A-9041-B4B5-15AB-A977C32A1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9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ED758-5C88-913B-E0D6-E9D19259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8A0D4-3AAC-6055-7766-0192A5D1A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9EE37-2885-68CD-65FC-71A0EB06E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E7918-9C86-E895-038C-E1CCCCFBE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79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771B-1205-9ABB-88E9-F3E67320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EC363-4F98-DB4B-E14E-76079D027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A2B74-4F35-AFC4-08C0-80E532FB4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522AB-2BEE-BFC2-0FC2-ABACF2A61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18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E5CA-C755-9261-896B-D0AE0C31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708AF-6A88-AFF9-4879-40BB988B9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7ABE0-30C7-3095-53BF-329FF87CA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795FF-9838-84E0-1EDC-C0FF65C6A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14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0821-CCE9-9F90-8B48-947FE509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0EC65-418B-9AD3-6A5D-95DB03799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0C930-8F40-3574-4847-490E74870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046F-889C-C614-64F0-BB8285813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05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EBAF9-5173-9B67-3BF0-7714DEE5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D3728-53F2-046D-145E-9C2C3CD95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6BF5E-9BA7-3A63-2D13-1FE4AC973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C5C19-C5D1-560C-4E64-93B0ECA69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15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3FF9-D074-D15B-58D1-3101340A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1CAFF-48BC-1C87-D0AE-5B80453EC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6DACD-D6E3-FAA7-6653-845244BE9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B6753-B095-1E7A-FBDC-2BC82623C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E588-C63E-4D98-ADDC-104D617E8D9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33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sz="1100">
                <a:latin typeface="Helvetica" pitchFamily="2" charset="0"/>
              </a:defRPr>
            </a:lvl1pPr>
          </a:lstStyle>
          <a:p>
            <a:fld id="{8470D401-A8CA-45F2-817B-C49246323701}" type="slidenum">
              <a:rPr lang="en-US" smtClean="0"/>
              <a:pPr/>
              <a:t>‹#›</a:t>
            </a:fld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95962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4276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4269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4114800"/>
            <a:ext cx="5683251" cy="214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4114800"/>
            <a:ext cx="5685367" cy="214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0296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86970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9683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96866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71174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6304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77966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266700"/>
            <a:ext cx="2895600" cy="5995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66700"/>
            <a:ext cx="8483600" cy="5995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2201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3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1" y="4114800"/>
            <a:ext cx="11571817" cy="2147888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32720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3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4114800"/>
            <a:ext cx="5683251" cy="214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4114800"/>
            <a:ext cx="5685367" cy="214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245908" y="6378576"/>
            <a:ext cx="5700184" cy="403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0D401-A8CA-45F2-817B-C4924632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78690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266700"/>
            <a:ext cx="11580283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82" tIns="50941" rIns="101882" bIns="5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219200"/>
            <a:ext cx="11571817" cy="504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45079" y="6392864"/>
            <a:ext cx="68285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677085"/>
                </a:solidFill>
                <a:latin typeface="Arial" panose="020B0604020202020204" pitchFamily="34" charset="0"/>
                <a:ea typeface="ＭＳ Ｐゴシック" pitchFamily="27" charset="-128"/>
                <a:cs typeface="Arial" panose="020B0604020202020204" pitchFamily="34" charset="0"/>
              </a:defRPr>
            </a:lvl1pPr>
          </a:lstStyle>
          <a:p>
            <a:fld id="{8470D401-A8CA-45F2-817B-C492463237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04800" y="889000"/>
            <a:ext cx="10363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gradFill flip="none" rotWithShape="1">
              <a:gsLst>
                <a:gs pos="0">
                  <a:srgbClr val="800000"/>
                </a:gs>
                <a:gs pos="100000">
                  <a:prstClr val="white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31" name="Picture 13" descr="NASA insigniaCMYK"/>
          <p:cNvPicPr preferRelativeResize="0"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1145079" y="266700"/>
            <a:ext cx="731539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95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nas.nasa.gov/LAVA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hyperlink" Target="http://www.nas.nasa.gov/LAVA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23C9-73FA-3448-BC73-B26D04633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22030"/>
            <a:ext cx="10363200" cy="1470025"/>
          </a:xfrm>
        </p:spPr>
        <p:txBody>
          <a:bodyPr/>
          <a:lstStyle/>
          <a:p>
            <a:pPr algn="ctr"/>
            <a:r>
              <a:rPr lang="en-US" sz="3600" i="1" dirty="0"/>
              <a:t>Overview of the LAVA Curvilinear Framework’s Viscous Overset Grid System Preprocessing and Connectivity Capabilities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AC5DA-34AE-0044-89A2-68EEC9A15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400663"/>
            <a:ext cx="6400800" cy="303877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James R. L. Koch</a:t>
            </a:r>
          </a:p>
          <a:p>
            <a:r>
              <a:rPr lang="en-US" dirty="0"/>
              <a:t>Jeff A. Housman, </a:t>
            </a:r>
            <a:r>
              <a:rPr lang="en-US" dirty="0">
                <a:effectLst/>
                <a:latin typeface="Helvetica" pitchFamily="2" charset="0"/>
              </a:rPr>
              <a:t>Brandon M. Lowe, David A. Craig Penner Chase P. Ashby, Jared C. Duensing</a:t>
            </a:r>
          </a:p>
          <a:p>
            <a:endParaRPr lang="en-US" dirty="0"/>
          </a:p>
          <a:p>
            <a:r>
              <a:rPr lang="en-US" dirty="0"/>
              <a:t>Computational </a:t>
            </a:r>
            <a:r>
              <a:rPr lang="en-US" dirty="0" err="1"/>
              <a:t>Aerosciences</a:t>
            </a:r>
            <a:r>
              <a:rPr lang="en-US" dirty="0"/>
              <a:t> Branch</a:t>
            </a:r>
          </a:p>
          <a:p>
            <a:r>
              <a:rPr lang="en-US" dirty="0"/>
              <a:t>NASA Ames Research Center</a:t>
            </a:r>
          </a:p>
          <a:p>
            <a:endParaRPr lang="en-US" dirty="0"/>
          </a:p>
          <a:p>
            <a:r>
              <a:rPr lang="en-US" dirty="0"/>
              <a:t>2026-10-21</a:t>
            </a:r>
          </a:p>
          <a:p>
            <a:r>
              <a:rPr lang="en-US" dirty="0"/>
              <a:t>2026 Overset Symposium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16184-3ADC-584B-CB2C-971DF7BC0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2" y="121777"/>
            <a:ext cx="140335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4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532C-23BC-C56D-7012-A7602449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125C-B850-6A05-D7BE-8B8FF316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Launch, Ascent, and Vehicle Aerodynamics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BEE58-4723-A995-028F-583FFF364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728" y="1281573"/>
            <a:ext cx="11003072" cy="5078265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B463F-B262-D9F1-8BC0-64F60674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50"/>
          <a:stretch/>
        </p:blipFill>
        <p:spPr>
          <a:xfrm>
            <a:off x="8087359" y="1502724"/>
            <a:ext cx="390144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6F93D6-7317-3B98-387C-C87E214B49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4" r="40981" b="18139"/>
          <a:stretch/>
        </p:blipFill>
        <p:spPr>
          <a:xfrm>
            <a:off x="4145279" y="1502723"/>
            <a:ext cx="3907247" cy="3048001"/>
          </a:xfrm>
          <a:prstGeom prst="rect">
            <a:avLst/>
          </a:prstGeom>
        </p:spPr>
      </p:pic>
      <p:pic>
        <p:nvPicPr>
          <p:cNvPr id="6" name="Picture 3" descr="b777_2">
            <a:extLst>
              <a:ext uri="{FF2B5EF4-FFF2-40B4-BE49-F238E27FC236}">
                <a16:creationId xmlns:a16="http://schemas.microsoft.com/office/drawing/2014/main" id="{0BDE203B-15D4-CB72-CEAE-3597E5EB1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87" r="4432" b="599"/>
          <a:stretch/>
        </p:blipFill>
        <p:spPr bwMode="auto">
          <a:xfrm>
            <a:off x="203198" y="1502724"/>
            <a:ext cx="3907247" cy="2959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394CC9-3741-A78F-8D07-03B18561079C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4627549"/>
          <a:ext cx="11785599" cy="1750770"/>
        </p:xfrm>
        <a:graphic>
          <a:graphicData uri="http://schemas.openxmlformats.org/drawingml/2006/table">
            <a:tbl>
              <a:tblPr bandRow="1">
                <a:tableStyleId>{7E9639D4-E3E2-4D34-9284-5A2195B3D0D7}</a:tableStyleId>
              </a:tblPr>
              <a:tblGrid>
                <a:gridCol w="3928533">
                  <a:extLst>
                    <a:ext uri="{9D8B030D-6E8A-4147-A177-3AD203B41FA5}">
                      <a16:colId xmlns:a16="http://schemas.microsoft.com/office/drawing/2014/main" val="3663226745"/>
                    </a:ext>
                  </a:extLst>
                </a:gridCol>
                <a:gridCol w="3928533">
                  <a:extLst>
                    <a:ext uri="{9D8B030D-6E8A-4147-A177-3AD203B41FA5}">
                      <a16:colId xmlns:a16="http://schemas.microsoft.com/office/drawing/2014/main" val="4046200399"/>
                    </a:ext>
                  </a:extLst>
                </a:gridCol>
                <a:gridCol w="3928533">
                  <a:extLst>
                    <a:ext uri="{9D8B030D-6E8A-4147-A177-3AD203B41FA5}">
                      <a16:colId xmlns:a16="http://schemas.microsoft.com/office/drawing/2014/main" val="3963639288"/>
                    </a:ext>
                  </a:extLst>
                </a:gridCol>
              </a:tblGrid>
              <a:tr h="350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venir Book" panose="02000503020000020003" pitchFamily="2" charset="0"/>
                        </a:rPr>
                        <a:t>Largely manual grid generation</a:t>
                      </a:r>
                      <a:endParaRPr lang="en-US" sz="14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Automatic adaptive grid generation</a:t>
                      </a:r>
                      <a:endParaRPr lang="en-US" sz="1400">
                        <a:solidFill>
                          <a:srgbClr val="00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Automatic grid generation</a:t>
                      </a:r>
                      <a:endParaRPr lang="en-US" sz="140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314357"/>
                  </a:ext>
                </a:extLst>
              </a:tr>
              <a:tr h="350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Low computational and memory cost</a:t>
                      </a:r>
                      <a:endParaRPr lang="en-US" sz="1400">
                        <a:solidFill>
                          <a:srgbClr val="00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Low computational and memory cost</a:t>
                      </a:r>
                      <a:endParaRPr lang="en-US" sz="1400">
                        <a:solidFill>
                          <a:srgbClr val="00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Avenir Book" panose="02000503020000020003" pitchFamily="2" charset="0"/>
                        </a:rPr>
                        <a:t>Higher computational and memory cost</a:t>
                      </a:r>
                      <a:endParaRPr lang="en-US" sz="140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304201"/>
                  </a:ext>
                </a:extLst>
              </a:tr>
              <a:tr h="350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Mature higher order methods</a:t>
                      </a:r>
                      <a:endParaRPr lang="en-US" sz="1400">
                        <a:solidFill>
                          <a:srgbClr val="00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Mature higher order methods</a:t>
                      </a:r>
                      <a:endParaRPr lang="en-US" sz="1400">
                        <a:solidFill>
                          <a:srgbClr val="00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Avenir Book" panose="02000503020000020003" pitchFamily="2" charset="0"/>
                        </a:rPr>
                        <a:t>Higher order methods less efficient and mature</a:t>
                      </a:r>
                      <a:endParaRPr lang="en-US" sz="140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682924"/>
                  </a:ext>
                </a:extLst>
              </a:tr>
              <a:tr h="350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Avenir Book" panose="02000503020000020003" pitchFamily="2" charset="0"/>
                        </a:rPr>
                        <a:t>Overset interpolation: not smooth</a:t>
                      </a:r>
                      <a:endParaRPr lang="en-US" sz="140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Avenir Book" panose="02000503020000020003" pitchFamily="2" charset="0"/>
                        </a:rPr>
                        <a:t>Factor of 2 refinements: not smooth</a:t>
                      </a:r>
                      <a:endParaRPr lang="en-US" sz="140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venir Book" panose="02000503020000020003" pitchFamily="2" charset="0"/>
                        </a:rPr>
                        <a:t>User prescribed mesh smoothness</a:t>
                      </a:r>
                      <a:endParaRPr lang="en-US" sz="1400"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450559"/>
                  </a:ext>
                </a:extLst>
              </a:tr>
              <a:tr h="350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venir Book" panose="02000503020000020003" pitchFamily="2" charset="0"/>
                        </a:rPr>
                        <a:t>Body-fitted</a:t>
                      </a:r>
                      <a:endParaRPr lang="en-US" sz="1400"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</a:rPr>
                        <a:t>Immersed boundaries,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Avenir Book" panose="02000503020000020003" pitchFamily="2" charset="0"/>
                        </a:rPr>
                        <a:t> non-body fitted</a:t>
                      </a:r>
                      <a:endParaRPr lang="en-US" sz="1400">
                        <a:solidFill>
                          <a:srgbClr val="FF0000"/>
                        </a:solidFill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venir Book" panose="02000503020000020003" pitchFamily="2" charset="0"/>
                        </a:rPr>
                        <a:t>Body-fitted</a:t>
                      </a:r>
                      <a:endParaRPr lang="en-US" sz="1400" dirty="0">
                        <a:latin typeface="Avenir Book" panose="02000503020000020003" pitchFamily="2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6764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28334A-CE63-7800-C851-15E0D7AFA91C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1106485"/>
          <a:ext cx="1178559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533">
                  <a:extLst>
                    <a:ext uri="{9D8B030D-6E8A-4147-A177-3AD203B41FA5}">
                      <a16:colId xmlns:a16="http://schemas.microsoft.com/office/drawing/2014/main" val="3979593401"/>
                    </a:ext>
                  </a:extLst>
                </a:gridCol>
                <a:gridCol w="3928533">
                  <a:extLst>
                    <a:ext uri="{9D8B030D-6E8A-4147-A177-3AD203B41FA5}">
                      <a16:colId xmlns:a16="http://schemas.microsoft.com/office/drawing/2014/main" val="970471676"/>
                    </a:ext>
                  </a:extLst>
                </a:gridCol>
                <a:gridCol w="3928533">
                  <a:extLst>
                    <a:ext uri="{9D8B030D-6E8A-4147-A177-3AD203B41FA5}">
                      <a16:colId xmlns:a16="http://schemas.microsoft.com/office/drawing/2014/main" val="751006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venir Book" panose="02000503020000020003" pitchFamily="2" charset="0"/>
                        </a:rPr>
                        <a:t>Structured Curvilinear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Avenir Book" panose="02000503020000020003" pitchFamily="2" charset="0"/>
                        </a:rPr>
                        <a:t>Cartesian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venir Book" panose="02000503020000020003" pitchFamily="2" charset="0"/>
                        </a:rPr>
                        <a:t>Unstructured Polyhedral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13114"/>
                  </a:ext>
                </a:extLst>
              </a:tr>
            </a:tbl>
          </a:graphicData>
        </a:graphic>
      </p:graphicFrame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C60198C0-72E3-0F28-FE09-829650E98AFB}"/>
              </a:ext>
            </a:extLst>
          </p:cNvPr>
          <p:cNvSpPr/>
          <p:nvPr/>
        </p:nvSpPr>
        <p:spPr>
          <a:xfrm>
            <a:off x="184704" y="1089417"/>
            <a:ext cx="3951105" cy="5387209"/>
          </a:xfrm>
          <a:prstGeom prst="roundRect">
            <a:avLst>
              <a:gd name="adj" fmla="val 6518"/>
            </a:avLst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90D87-8FD1-6C06-E26B-CFAA5076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097"/>
            <a:ext cx="2743200" cy="27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rgbClr val="164E9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5D46C7-5EE5-47B7-B972-BCBB9E39BE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78D78-EC7A-D077-EFA0-6DD87EE161B3}"/>
              </a:ext>
            </a:extLst>
          </p:cNvPr>
          <p:cNvSpPr txBox="1"/>
          <p:nvPr/>
        </p:nvSpPr>
        <p:spPr>
          <a:xfrm>
            <a:off x="3926555" y="6453054"/>
            <a:ext cx="538842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400" dirty="0">
                <a:latin typeface="Arial"/>
                <a:cs typeface="Arial"/>
                <a:hlinkClick r:id="rId6"/>
              </a:rPr>
              <a:t>WWW.NAS.NASA.GOV/LAVA/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978940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FE2C6-3932-2043-8762-5A0498EB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EC43-D10D-C232-3D14-D021976A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Overset Gridding Pros/Cons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25816-31FF-B6E8-AF83-4F16A871F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80AE8-6520-1872-CFAD-D121F174DC38}"/>
              </a:ext>
            </a:extLst>
          </p:cNvPr>
          <p:cNvSpPr txBox="1"/>
          <p:nvPr/>
        </p:nvSpPr>
        <p:spPr>
          <a:xfrm>
            <a:off x="475301" y="1275783"/>
            <a:ext cx="10669778" cy="39703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Scriptable/Reusable custom control of areas of physical import.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Body fitted grid with control of anisotropy anywhere.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Manual scripting (CGT, </a:t>
            </a:r>
            <a:r>
              <a:rPr lang="en-US" sz="2800" dirty="0" err="1">
                <a:solidFill>
                  <a:srgbClr val="FF0000"/>
                </a:solidFill>
              </a:rPr>
              <a:t>etc</a:t>
            </a:r>
            <a:r>
              <a:rPr lang="en-US" sz="2800" dirty="0">
                <a:solidFill>
                  <a:srgbClr val="FF0000"/>
                </a:solidFill>
              </a:rPr>
              <a:t>) can be time consuming, </a:t>
            </a:r>
            <a:r>
              <a:rPr lang="en-US" sz="2800" dirty="0">
                <a:solidFill>
                  <a:srgbClr val="00B050"/>
                </a:solidFill>
              </a:rPr>
              <a:t>helped with well-organized best practices.</a:t>
            </a: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Automated methods (EPOGS)</a:t>
            </a:r>
            <a:r>
              <a:rPr lang="en-US" sz="2800" dirty="0">
                <a:solidFill>
                  <a:srgbClr val="FF0000"/>
                </a:solidFill>
              </a:rPr>
              <a:t>, comparably limited in flexibility, manual growth corrections needed, </a:t>
            </a:r>
            <a:r>
              <a:rPr lang="en-US" sz="2800" dirty="0">
                <a:solidFill>
                  <a:srgbClr val="00B050"/>
                </a:solidFill>
              </a:rPr>
              <a:t>still much faster.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52D89-5DDB-5C65-7899-50B9270A5437}"/>
              </a:ext>
            </a:extLst>
          </p:cNvPr>
          <p:cNvSpPr txBox="1"/>
          <p:nvPr/>
        </p:nvSpPr>
        <p:spPr>
          <a:xfrm>
            <a:off x="2579751" y="5504943"/>
            <a:ext cx="7032498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more weight we can take off the user’s shoulders, the better.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28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20A53-5BF7-FE3D-AB44-31F8069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21DB-D841-A917-F1EE-9F527662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9BC20-2767-8555-A7B0-22824D0A4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BA4AE-2D90-6AEA-D8E1-B724C8CF9AA8}"/>
              </a:ext>
            </a:extLst>
          </p:cNvPr>
          <p:cNvSpPr txBox="1"/>
          <p:nvPr/>
        </p:nvSpPr>
        <p:spPr>
          <a:xfrm>
            <a:off x="1178116" y="1224886"/>
            <a:ext cx="9835768" cy="526297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This talk overviews</a:t>
            </a:r>
          </a:p>
          <a:p>
            <a:pPr algn="ctr"/>
            <a:r>
              <a:rPr lang="en-US" sz="2800" dirty="0"/>
              <a:t>what the </a:t>
            </a:r>
            <a:r>
              <a:rPr lang="en-US" sz="2800" u="sng" dirty="0"/>
              <a:t>LAVA Curvilinear Framework </a:t>
            </a:r>
            <a:r>
              <a:rPr lang="en-US" sz="2800" dirty="0"/>
              <a:t>offers to</a:t>
            </a:r>
          </a:p>
          <a:p>
            <a:pPr algn="ctr"/>
            <a:r>
              <a:rPr lang="en-US" sz="2800" dirty="0">
                <a:solidFill>
                  <a:srgbClr val="00B050"/>
                </a:solidFill>
              </a:rPr>
              <a:t>automate/simplify overset grid pre-processing</a:t>
            </a:r>
          </a:p>
          <a:p>
            <a:pPr algn="ctr"/>
            <a:r>
              <a:rPr lang="en-US" sz="2800" dirty="0">
                <a:solidFill>
                  <a:srgbClr val="00B050"/>
                </a:solidFill>
              </a:rPr>
              <a:t>in a self-contained environment</a:t>
            </a:r>
            <a:r>
              <a:rPr lang="en-US" sz="2800" dirty="0"/>
              <a:t>:</a:t>
            </a:r>
          </a:p>
          <a:p>
            <a:pPr algn="ctr"/>
            <a:endParaRPr lang="en-US" sz="2800" dirty="0"/>
          </a:p>
          <a:p>
            <a:r>
              <a:rPr lang="en-US" sz="2800" dirty="0"/>
              <a:t>LAVA-CGT scripting framework</a:t>
            </a:r>
          </a:p>
          <a:p>
            <a:r>
              <a:rPr lang="en-US" sz="2800" dirty="0"/>
              <a:t>Block-to-blocks</a:t>
            </a:r>
          </a:p>
          <a:p>
            <a:r>
              <a:rPr lang="en-US" sz="2800" dirty="0"/>
              <a:t>Immersed boundaries</a:t>
            </a:r>
          </a:p>
          <a:p>
            <a:r>
              <a:rPr lang="en-US" sz="2800" dirty="0"/>
              <a:t>Connectivity</a:t>
            </a:r>
          </a:p>
          <a:p>
            <a:r>
              <a:rPr lang="en-US" sz="2800" dirty="0"/>
              <a:t>Panel weights</a:t>
            </a:r>
          </a:p>
          <a:p>
            <a:r>
              <a:rPr lang="en-US" sz="2800" dirty="0"/>
              <a:t>Refinement</a:t>
            </a:r>
          </a:p>
          <a:p>
            <a:r>
              <a:rPr lang="en-US" sz="2800" dirty="0"/>
              <a:t>Other Executables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A1479-45F6-F2EB-9E11-643A47335A4E}"/>
              </a:ext>
            </a:extLst>
          </p:cNvPr>
          <p:cNvSpPr txBox="1"/>
          <p:nvPr/>
        </p:nvSpPr>
        <p:spPr>
          <a:xfrm>
            <a:off x="4460684" y="3379322"/>
            <a:ext cx="6553200" cy="3108543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800" dirty="0"/>
              <a:t> (QOL tools / methodology)</a:t>
            </a:r>
          </a:p>
          <a:p>
            <a:pPr algn="r"/>
            <a:r>
              <a:rPr lang="en-US" sz="2800" dirty="0"/>
              <a:t>(automated capture)</a:t>
            </a:r>
          </a:p>
          <a:p>
            <a:pPr algn="r"/>
            <a:r>
              <a:rPr lang="en-US" sz="2800" dirty="0"/>
              <a:t>(forgo collar grids)</a:t>
            </a:r>
          </a:p>
          <a:p>
            <a:pPr algn="r"/>
            <a:r>
              <a:rPr lang="en-US" sz="2800" dirty="0"/>
              <a:t>(fast, few-to-no manual cutters, MPI)</a:t>
            </a:r>
          </a:p>
          <a:p>
            <a:pPr algn="r"/>
            <a:r>
              <a:rPr lang="en-US" sz="2800" dirty="0"/>
              <a:t>(automated calculation)</a:t>
            </a:r>
          </a:p>
          <a:p>
            <a:pPr algn="r"/>
            <a:r>
              <a:rPr lang="en-US" sz="2800" dirty="0"/>
              <a:t>(fast, robust, ‘no’ alterations to scripts)</a:t>
            </a:r>
          </a:p>
          <a:p>
            <a:pPr algn="r"/>
            <a:r>
              <a:rPr lang="en-US" sz="2800" dirty="0"/>
              <a:t>(generate, alter, interrogate grids/files)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112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51F2-EA14-C5EA-8F23-6FB42464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4C80-0C24-2570-0F60-CA145CD4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22A68-CE1C-B7E9-CFE1-4A525DDF6C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0B84B-FD15-BA6D-1A42-466D110B4A59}"/>
              </a:ext>
            </a:extLst>
          </p:cNvPr>
          <p:cNvSpPr txBox="1"/>
          <p:nvPr/>
        </p:nvSpPr>
        <p:spPr>
          <a:xfrm>
            <a:off x="1178116" y="1224886"/>
            <a:ext cx="9835768" cy="35394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LAVA-CGT scripting framework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Block-to-blocks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Immersed boundaries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Connectivity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Panel weights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Refinement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Other Executables</a:t>
            </a:r>
          </a:p>
        </p:txBody>
      </p:sp>
    </p:spTree>
    <p:extLst>
      <p:ext uri="{BB962C8B-B14F-4D97-AF65-F5344CB8AC3E}">
        <p14:creationId xmlns:p14="http://schemas.microsoft.com/office/powerpoint/2010/main" val="347958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FAD6-994F-8CF1-A54E-9E8D1721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33E9-FA22-4B2E-F56E-3433AF52E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LAVA-CGT scripting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848AE-E169-98D1-2F2E-A513B1E90B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57ED19-995B-7952-22FF-14249E05DA7E}"/>
              </a:ext>
            </a:extLst>
          </p:cNvPr>
          <p:cNvSpPr txBox="1"/>
          <p:nvPr/>
        </p:nvSpPr>
        <p:spPr>
          <a:xfrm>
            <a:off x="306917" y="1237765"/>
            <a:ext cx="6151756" cy="489364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Component building: divide the load.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Pre-plan surfaces for easy refinement.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BCs scripted for LAVA use, including arbitrarily viscous block sides.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Easily pop new grids anywhere in scripts.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Easy to integrate/utilize EPOGS.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Discussed in depth in the LAVA OGS tutorial seminar.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DE87E5-0860-7645-EBB4-9AA3AD024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876" y="1047977"/>
            <a:ext cx="4683632" cy="2992790"/>
          </a:xfrm>
          <a:prstGeom prst="rect">
            <a:avLst/>
          </a:prstGeom>
        </p:spPr>
      </p:pic>
      <p:pic>
        <p:nvPicPr>
          <p:cNvPr id="3" name="Content Placeholder 3" descr="Graphical user interface, text&#10;&#10;AI-generated content may be incorrect.">
            <a:extLst>
              <a:ext uri="{FF2B5EF4-FFF2-40B4-BE49-F238E27FC236}">
                <a16:creationId xmlns:a16="http://schemas.microsoft.com/office/drawing/2014/main" id="{C87025AF-D478-64FB-E3F3-3B1968DE9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833718" y="4310920"/>
            <a:ext cx="2125785" cy="1878428"/>
          </a:xfrm>
          <a:prstGeom prst="rect">
            <a:avLst/>
          </a:prstGeom>
          <a:effectLst>
            <a:outerShdw blurRad="204244" dist="38100" dir="2700000" sx="103000" sy="103000" algn="tl" rotWithShape="0">
              <a:prstClr val="black">
                <a:alpha val="21512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5C2585-76BD-3CA0-09EB-765AB717DE54}"/>
              </a:ext>
            </a:extLst>
          </p:cNvPr>
          <p:cNvSpPr txBox="1"/>
          <p:nvPr/>
        </p:nvSpPr>
        <p:spPr>
          <a:xfrm>
            <a:off x="6202395" y="6197891"/>
            <a:ext cx="538842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 dirty="0">
                <a:latin typeface="Arial"/>
                <a:cs typeface="Arial"/>
                <a:hlinkClick r:id="rId6"/>
              </a:rPr>
              <a:t>WWW.NAS.NASA.GOV/LAVA/</a:t>
            </a:r>
            <a:endParaRPr lang="en-US" sz="2800" dirty="0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54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allAtOnce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F6F5-DDBD-4073-DAE7-F23C66E9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2D25-C2BF-CD8C-9DA4-E91ACC25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49956-6CD8-82AB-092E-BAD0A898A7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99AF5-8E97-50C2-E95D-5104F70A2C56}"/>
              </a:ext>
            </a:extLst>
          </p:cNvPr>
          <p:cNvSpPr txBox="1"/>
          <p:nvPr/>
        </p:nvSpPr>
        <p:spPr>
          <a:xfrm>
            <a:off x="1178116" y="1224886"/>
            <a:ext cx="9835768" cy="35394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LAVA-CGT scripting framework</a:t>
            </a:r>
          </a:p>
          <a:p>
            <a:pPr algn="ctr"/>
            <a:r>
              <a:rPr lang="en-US" sz="2800" dirty="0"/>
              <a:t>Block-to-blocks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Immersed boundaries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Connectivity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Panel weights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Refinement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Other Executables</a:t>
            </a:r>
          </a:p>
        </p:txBody>
      </p:sp>
    </p:spTree>
    <p:extLst>
      <p:ext uri="{BB962C8B-B14F-4D97-AF65-F5344CB8AC3E}">
        <p14:creationId xmlns:p14="http://schemas.microsoft.com/office/powerpoint/2010/main" val="317422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9C7C-E449-21A9-4D7F-A31CAF6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C8C48A-D4B2-1A8C-01BA-B708A53E5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828" y="4191960"/>
            <a:ext cx="2585322" cy="2195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02106E-C1A8-8010-E77E-4D4A7BBC19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318" y="2108830"/>
            <a:ext cx="3233418" cy="22303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513A0C-5168-FA01-C7ED-5A7BCCC9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Block-to-Block (B2B) Functionality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54586-0CBA-0931-5DC6-DF9AB53F88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6E8DA-281B-9CC7-CBF3-D8F99D41EAE2}"/>
              </a:ext>
            </a:extLst>
          </p:cNvPr>
          <p:cNvSpPr txBox="1"/>
          <p:nvPr/>
        </p:nvSpPr>
        <p:spPr>
          <a:xfrm>
            <a:off x="306917" y="1237765"/>
            <a:ext cx="8285905" cy="415498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Multiblock-structured / block-structured grids legal.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1:1 point matched B2Bs only.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Arbitrarily partial B2Bs legal.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Enables sliding meshes.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for trailing-edge wake-resolving.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Useful for LAVA’s refinement.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CB96F-FBC8-3FB1-0D93-E671BDEC88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033" y="4421077"/>
            <a:ext cx="1969980" cy="21116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2C9567-482D-16B1-7B79-B9019524C0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315" y="4731076"/>
            <a:ext cx="1968945" cy="18320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88271F-33C6-366B-D355-B568BD3FE3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45738" y="1351977"/>
            <a:ext cx="1774801" cy="39045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374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B93E6-02F0-62D3-2877-C83AC877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78F998-35F1-9F4C-CD90-1FC935700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108" y="1151325"/>
            <a:ext cx="4988227" cy="2656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3A317-E6AC-2206-90F8-4FA4D1878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9" r="47211"/>
          <a:stretch>
            <a:fillRect/>
          </a:stretch>
        </p:blipFill>
        <p:spPr>
          <a:xfrm>
            <a:off x="6804258" y="3777335"/>
            <a:ext cx="2633223" cy="2058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946CCB-83BF-6560-9DB8-9A55586A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Block-to-Block Extraction Utility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F7C93-F6C8-13B7-D5E2-3FF5B0E560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9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157EDE-04E6-0848-94F1-5E1843360DDB}"/>
              </a:ext>
            </a:extLst>
          </p:cNvPr>
          <p:cNvSpPr txBox="1"/>
          <p:nvPr/>
        </p:nvSpPr>
        <p:spPr>
          <a:xfrm>
            <a:off x="306917" y="1237765"/>
            <a:ext cx="9835768" cy="378565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Automatically find B2Bs in command line or at runtime.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Visually check for B2B errors.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Account for user-defined periodicity.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Warn or ignore ‘partial’ B2Bs.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Turn ‘off’ block sides.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F56E97-F02A-69C2-2BC4-D406D265C9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85"/>
          <a:stretch>
            <a:fillRect/>
          </a:stretch>
        </p:blipFill>
        <p:spPr>
          <a:xfrm>
            <a:off x="306917" y="4852282"/>
            <a:ext cx="4649561" cy="966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27D3A1-A7BC-E060-BEBE-3DC8485F07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99"/>
          <a:stretch>
            <a:fillRect/>
          </a:stretch>
        </p:blipFill>
        <p:spPr>
          <a:xfrm>
            <a:off x="9894680" y="3462375"/>
            <a:ext cx="2050203" cy="26175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DDDD48-D168-5DDC-02AC-AB0ECC14E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9"/>
          <a:stretch>
            <a:fillRect/>
          </a:stretch>
        </p:blipFill>
        <p:spPr>
          <a:xfrm>
            <a:off x="4956478" y="4852282"/>
            <a:ext cx="1431430" cy="9668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013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45D8-9945-447B-D550-70D900BD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E923-3004-DAD0-9785-F32CDE1B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28A6B-13C7-7C8C-0E8B-A085BA702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420B6-D416-FA1D-1CBD-4B6D450DAE2C}"/>
              </a:ext>
            </a:extLst>
          </p:cNvPr>
          <p:cNvSpPr txBox="1"/>
          <p:nvPr/>
        </p:nvSpPr>
        <p:spPr>
          <a:xfrm>
            <a:off x="1178116" y="1224886"/>
            <a:ext cx="9835768" cy="35394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LAVA-CGT scripting framework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Block-to-blocks</a:t>
            </a:r>
          </a:p>
          <a:p>
            <a:pPr algn="ctr"/>
            <a:r>
              <a:rPr lang="en-US" sz="2800" dirty="0"/>
              <a:t>Immersed boundaries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Connectivity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Panel weights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Refinement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Other Executables</a:t>
            </a:r>
          </a:p>
        </p:txBody>
      </p:sp>
    </p:spTree>
    <p:extLst>
      <p:ext uri="{BB962C8B-B14F-4D97-AF65-F5344CB8AC3E}">
        <p14:creationId xmlns:p14="http://schemas.microsoft.com/office/powerpoint/2010/main" val="137042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9E34-E06D-2359-E199-28728A02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6A3964F-F33C-7618-A86A-10C1EB88D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3"/>
          <a:stretch>
            <a:fillRect/>
          </a:stretch>
        </p:blipFill>
        <p:spPr>
          <a:xfrm>
            <a:off x="5787242" y="1708343"/>
            <a:ext cx="3154939" cy="1984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56CCE8-C6B8-5CDA-3661-55949080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Immersed Boundary Handling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58ABC-557C-D03B-62AE-9601E74822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8D780-7CD5-A895-66D2-A540F131E442}"/>
              </a:ext>
            </a:extLst>
          </p:cNvPr>
          <p:cNvSpPr txBox="1"/>
          <p:nvPr/>
        </p:nvSpPr>
        <p:spPr>
          <a:xfrm>
            <a:off x="306917" y="1237765"/>
            <a:ext cx="7231803" cy="526297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Nodes inside tri-surface tagged as immersed.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Penalty term applied during 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IB tag file written – only search once.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Uniform grid or body-conforming grids.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Tagging with offset distance.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Intersection with wall bodies ok.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Panel weights for integration.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FA6B5-C000-D68D-4A6D-AA5AE4CB1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0"/>
          <a:stretch>
            <a:fillRect/>
          </a:stretch>
        </p:blipFill>
        <p:spPr>
          <a:xfrm>
            <a:off x="8911701" y="1551336"/>
            <a:ext cx="3204821" cy="2263028"/>
          </a:xfrm>
          <a:prstGeom prst="rect">
            <a:avLst/>
          </a:prstGeom>
        </p:spPr>
      </p:pic>
      <p:pic>
        <p:nvPicPr>
          <p:cNvPr id="8" name="Picture 7" descr="A close-up of a flag&#10;&#10;AI-generated content may be incorrect.">
            <a:extLst>
              <a:ext uri="{FF2B5EF4-FFF2-40B4-BE49-F238E27FC236}">
                <a16:creationId xmlns:a16="http://schemas.microsoft.com/office/drawing/2014/main" id="{FFF1ED0F-B891-F8DA-B1BE-93D77F4BDB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320" y="4171730"/>
            <a:ext cx="3108213" cy="2016885"/>
          </a:xfrm>
          <a:prstGeom prst="rect">
            <a:avLst/>
          </a:prstGeom>
        </p:spPr>
      </p:pic>
      <p:pic>
        <p:nvPicPr>
          <p:cNvPr id="9" name="Picture 8" descr="A picture containing text&#10;&#10;AI-generated content may be incorrect.">
            <a:extLst>
              <a:ext uri="{FF2B5EF4-FFF2-40B4-BE49-F238E27FC236}">
                <a16:creationId xmlns:a16="http://schemas.microsoft.com/office/drawing/2014/main" id="{E371EC75-1144-D94D-0ADA-F4D3B69FD2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701" y="4171730"/>
            <a:ext cx="3108215" cy="2016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153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85AF-A46B-0E4F-10CA-C49AD6EF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2C06-D8B8-7075-66C0-642C7867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63A3F-08C9-F6DB-63C2-FE4851117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5A8D4-EF1A-0DF1-CBEA-013499736473}"/>
              </a:ext>
            </a:extLst>
          </p:cNvPr>
          <p:cNvSpPr txBox="1"/>
          <p:nvPr/>
        </p:nvSpPr>
        <p:spPr>
          <a:xfrm>
            <a:off x="1178116" y="1224886"/>
            <a:ext cx="9835768" cy="39703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LAVA-CGT scripting framework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Block-to-blocks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Immersed boundaries</a:t>
            </a:r>
          </a:p>
          <a:p>
            <a:pPr algn="ctr"/>
            <a:r>
              <a:rPr lang="en-US" sz="2800" dirty="0"/>
              <a:t>Connectivity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Panel weights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Refinement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Other Executables</a:t>
            </a:r>
          </a:p>
          <a:p>
            <a:pPr algn="ctr"/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86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E9D6A-4E6B-5438-64F3-A8B36519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46F3747-92AD-ECBE-E6E6-C42DB968B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553" y="4277795"/>
            <a:ext cx="2896732" cy="2502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1BAFFE-B246-64E4-951B-A810934B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Connectivity Hole Cutting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68E39-21A3-7CEC-3C7A-B54A1F5F47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008FC-058A-29B8-0B3E-ECB0EE90F811}"/>
              </a:ext>
            </a:extLst>
          </p:cNvPr>
          <p:cNvSpPr txBox="1"/>
          <p:nvPr/>
        </p:nvSpPr>
        <p:spPr>
          <a:xfrm>
            <a:off x="306917" y="1237765"/>
            <a:ext cx="8082898" cy="378565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Implicit</a:t>
            </a:r>
            <a:r>
              <a:rPr lang="en-US" sz="2400" dirty="0"/>
              <a:t>: Defined Wall BCs cut grid via octree flooding, with option flood sources.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Explicit</a:t>
            </a:r>
            <a:r>
              <a:rPr lang="en-US" sz="2400" dirty="0"/>
              <a:t>:</a:t>
            </a:r>
            <a:r>
              <a:rPr lang="en-US" sz="2400" b="1" dirty="0"/>
              <a:t> </a:t>
            </a:r>
            <a:r>
              <a:rPr lang="en-US" sz="2400" dirty="0"/>
              <a:t>User defined or geometric cut tri-surfaces with optional cut offset, and general clip planes.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None</a:t>
            </a:r>
            <a:r>
              <a:rPr lang="en-US" sz="2400" dirty="0"/>
              <a:t>: keep existing (minimum or optimized, </a:t>
            </a:r>
            <a:r>
              <a:rPr lang="en-US" sz="2400" dirty="0" err="1"/>
              <a:t>etc</a:t>
            </a:r>
            <a:r>
              <a:rPr lang="en-US" sz="2400" dirty="0"/>
              <a:t>) hole cut if you know it’s already been computed.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‘Immersed-only’ zones immersed inside wall body.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8650E-59B3-47B9-379F-785AD4878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" t="66743" r="36269" b="1954"/>
          <a:stretch/>
        </p:blipFill>
        <p:spPr>
          <a:xfrm>
            <a:off x="9256435" y="995403"/>
            <a:ext cx="2049720" cy="9372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23FB71-C043-01DE-9C79-C59988E943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" t="9744" r="9525" b="10878"/>
          <a:stretch/>
        </p:blipFill>
        <p:spPr>
          <a:xfrm>
            <a:off x="9256434" y="1971213"/>
            <a:ext cx="2049720" cy="122746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AA1A44-FD86-9754-2C68-FF488B182F21}"/>
              </a:ext>
            </a:extLst>
          </p:cNvPr>
          <p:cNvCxnSpPr>
            <a:cxnSpLocks/>
          </p:cNvCxnSpPr>
          <p:nvPr/>
        </p:nvCxnSpPr>
        <p:spPr bwMode="auto">
          <a:xfrm flipV="1">
            <a:off x="11429847" y="1353204"/>
            <a:ext cx="0" cy="2507465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D6A2C08-1DB3-2BF8-BEBD-FF33E6ACD4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" t="66666" r="35984" b="1112"/>
          <a:stretch/>
        </p:blipFill>
        <p:spPr>
          <a:xfrm>
            <a:off x="9256434" y="3237204"/>
            <a:ext cx="2091604" cy="9477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735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AAE6-C784-DEDC-B434-50899CC4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80A8F4D-7601-AADF-8399-091F05882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9" t="39546" r="6375" b="31848"/>
          <a:stretch>
            <a:fillRect/>
          </a:stretch>
        </p:blipFill>
        <p:spPr>
          <a:xfrm>
            <a:off x="7435849" y="4495967"/>
            <a:ext cx="4632325" cy="13244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268A26-BCD9-B06F-BBCD-7FEBFBC1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Connectivity Fringe/Orphan Donor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53416-77C5-6442-61EA-47E305E80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7CA67-243D-A156-FAE5-7C7BDA6ABB5C}"/>
              </a:ext>
            </a:extLst>
          </p:cNvPr>
          <p:cNvSpPr txBox="1"/>
          <p:nvPr/>
        </p:nvSpPr>
        <p:spPr>
          <a:xfrm>
            <a:off x="306918" y="1237765"/>
            <a:ext cx="7448119" cy="563231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Non-BC/B2B block edge nodes find best donors.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DQUAL 1 enforced.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 nodes search for donor for later overlap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Orphans find the closest off-block face projection.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XINTOUT files from OVERFLOW must be re-computed with LAVA connectivity to ensure proper DQUAL and orphan treatment.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LAVA INTOUT files can be used with OVERFLOW.</a:t>
            </a:r>
          </a:p>
          <a:p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859100-F519-6CC7-C96E-DC3CE98360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1" b="4251"/>
          <a:stretch/>
        </p:blipFill>
        <p:spPr>
          <a:xfrm>
            <a:off x="7435850" y="1375948"/>
            <a:ext cx="4632325" cy="1345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5070D7-3B34-7A27-719B-4F3E1D9AEF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" t="33396" r="2625" b="41557"/>
          <a:stretch>
            <a:fillRect/>
          </a:stretch>
        </p:blipFill>
        <p:spPr>
          <a:xfrm>
            <a:off x="7435849" y="3073719"/>
            <a:ext cx="4632325" cy="10698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764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2A1A-0371-16D2-5C5E-69B90B5B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1A4A-AA82-49F0-FF76-1A5CBCF3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Connectivity Overlap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98891-245E-7FDD-76B0-DCFA96E4C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0B9298-B584-9805-D943-B81CFB1122FC}"/>
              </a:ext>
            </a:extLst>
          </p:cNvPr>
          <p:cNvSpPr txBox="1"/>
          <p:nvPr/>
        </p:nvSpPr>
        <p:spPr>
          <a:xfrm>
            <a:off x="306918" y="1237765"/>
            <a:ext cx="7340791" cy="34163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Grids removed if better quality grids overlap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Helps reduce required computational effort.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Orphan donor search performed after overlap removed.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User-specified by-zone priorities available to tweak grid overlap.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D2984-1F26-51B9-B72E-60FF39697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30"/>
          <a:stretch>
            <a:fillRect/>
          </a:stretch>
        </p:blipFill>
        <p:spPr>
          <a:xfrm>
            <a:off x="8248515" y="3829153"/>
            <a:ext cx="2938128" cy="3028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6EF24-62A1-D28A-7490-30319F948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30"/>
          <a:stretch>
            <a:fillRect/>
          </a:stretch>
        </p:blipFill>
        <p:spPr>
          <a:xfrm>
            <a:off x="8206952" y="889000"/>
            <a:ext cx="2938127" cy="30288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47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CF78B-F444-4845-C701-DFD54C12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CD0143-E711-18BF-9583-52B8CEF30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929" y="2848919"/>
            <a:ext cx="3747581" cy="19702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43C07-C42D-2F8C-0412-118F7BF4CE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046" y="1043185"/>
            <a:ext cx="1881867" cy="18209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6260FC-493B-78E4-4BB0-04E82621A9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077" y="903049"/>
            <a:ext cx="1922447" cy="20289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DEF54B-F978-4975-E0B2-16E89E3A9D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520" y="4791332"/>
            <a:ext cx="3846397" cy="198523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891355E-29BD-44B3-925B-069D1191FA3D}"/>
              </a:ext>
            </a:extLst>
          </p:cNvPr>
          <p:cNvGrpSpPr/>
          <p:nvPr/>
        </p:nvGrpSpPr>
        <p:grpSpPr>
          <a:xfrm>
            <a:off x="8629676" y="2864183"/>
            <a:ext cx="830698" cy="726576"/>
            <a:chOff x="8857339" y="1866122"/>
            <a:chExt cx="1741001" cy="156287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1D9C8E1-91F5-6B17-8842-20BCC9B07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03" t="4010" b="-1"/>
            <a:stretch>
              <a:fillRect/>
            </a:stretch>
          </p:blipFill>
          <p:spPr>
            <a:xfrm>
              <a:off x="9871787" y="1866122"/>
              <a:ext cx="726553" cy="156287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41FB9FB-DB37-C825-36D7-9B512F99B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10" r="74313" b="-1"/>
            <a:stretch>
              <a:fillRect/>
            </a:stretch>
          </p:blipFill>
          <p:spPr>
            <a:xfrm>
              <a:off x="8857339" y="1866122"/>
              <a:ext cx="1014448" cy="156287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A8EC4F5-0064-09A3-9912-97DD519E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Connectivity Assessment / Debugging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4EDB-B50A-89A9-236C-B5354261B8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9EA0EC-4F44-CAA0-B2C6-25E2DFF02AE1}"/>
              </a:ext>
            </a:extLst>
          </p:cNvPr>
          <p:cNvSpPr txBox="1"/>
          <p:nvPr/>
        </p:nvSpPr>
        <p:spPr>
          <a:xfrm>
            <a:off x="306918" y="1237765"/>
            <a:ext cx="7340791" cy="600164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Optionally written visual check files: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Name-grouped BCs.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Distance-banded orphan donors.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Surface deviation and projection info.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Octree flood iterations data.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Debugging dials: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Manual provided on the LAVA site.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Debug node output.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Local flooding oct-tree refinement.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Un-</a:t>
            </a:r>
            <a:r>
              <a:rPr lang="en-US" sz="2400" dirty="0" err="1"/>
              <a:t>blankable</a:t>
            </a:r>
            <a:r>
              <a:rPr lang="en-US" sz="2400" dirty="0"/>
              <a:t> enforcement.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Surface projection tolerances.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Post-hole-cut file grid write checkpointing.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FFB019D-4ADC-4A15-D1F9-257B0417A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4917" y="3657276"/>
            <a:ext cx="2234476" cy="19854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15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AE1F-8D14-ED07-73EE-2117ED61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219F9A-6217-D73B-A00D-6928573E4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522" y="4753193"/>
            <a:ext cx="2912110" cy="18554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1DF1A-E70F-2790-6EA9-1BC7BF9E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Connectivity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BBF7E-44A8-F78B-2113-99B5F39631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E456E1-B968-6C37-43DB-1F8E38DA7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57503"/>
              </p:ext>
            </p:extLst>
          </p:nvPr>
        </p:nvGraphicFramePr>
        <p:xfrm>
          <a:off x="2332450" y="2900625"/>
          <a:ext cx="75271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880">
                  <a:extLst>
                    <a:ext uri="{9D8B030D-6E8A-4147-A177-3AD203B41FA5}">
                      <a16:colId xmlns:a16="http://schemas.microsoft.com/office/drawing/2014/main" val="351580635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336571182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63125989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3263584650"/>
                    </a:ext>
                  </a:extLst>
                </a:gridCol>
                <a:gridCol w="1398080">
                  <a:extLst>
                    <a:ext uri="{9D8B030D-6E8A-4147-A177-3AD203B41FA5}">
                      <a16:colId xmlns:a16="http://schemas.microsoft.com/office/drawing/2014/main" val="4128422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 Grids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 Nodes [Mil]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[min]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226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30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5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CRM Immersed 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34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354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6863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BA76E3-65E9-4F28-E986-28563D065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7" r="34369" b="35882"/>
          <a:stretch/>
        </p:blipFill>
        <p:spPr>
          <a:xfrm>
            <a:off x="513806" y="5311594"/>
            <a:ext cx="2818674" cy="12359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CD1409-A65E-6889-56E0-E343EAADDDD1}"/>
              </a:ext>
            </a:extLst>
          </p:cNvPr>
          <p:cNvSpPr txBox="1"/>
          <p:nvPr/>
        </p:nvSpPr>
        <p:spPr>
          <a:xfrm>
            <a:off x="513806" y="5286903"/>
            <a:ext cx="70327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X-59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BBDFCB64-0E25-6EC2-5C4D-C7BBB3456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689" y="5311785"/>
            <a:ext cx="2818674" cy="123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B02A98-8A1D-8A0E-F577-21A311BCE19A}"/>
              </a:ext>
            </a:extLst>
          </p:cNvPr>
          <p:cNvSpPr txBox="1"/>
          <p:nvPr/>
        </p:nvSpPr>
        <p:spPr>
          <a:xfrm>
            <a:off x="5826745" y="5311594"/>
            <a:ext cx="47961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R4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683954-13A1-07E6-BEC3-FB7253F0A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81" y="5318799"/>
            <a:ext cx="2184400" cy="12287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BDF1E5-BB2E-E239-84C9-D591EDD52FB1}"/>
              </a:ext>
            </a:extLst>
          </p:cNvPr>
          <p:cNvSpPr txBox="1"/>
          <p:nvPr/>
        </p:nvSpPr>
        <p:spPr>
          <a:xfrm>
            <a:off x="7607176" y="5311594"/>
            <a:ext cx="108234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CRM 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8B97E-014E-812F-9F69-569D8F1F85E5}"/>
              </a:ext>
            </a:extLst>
          </p:cNvPr>
          <p:cNvSpPr txBox="1"/>
          <p:nvPr/>
        </p:nvSpPr>
        <p:spPr>
          <a:xfrm>
            <a:off x="306918" y="1237765"/>
            <a:ext cx="12150125" cy="15696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MPI-enabled in case need to re-compute during simulation</a:t>
            </a:r>
          </a:p>
          <a:p>
            <a:r>
              <a:rPr lang="en-US" sz="2400" dirty="0"/>
              <a:t>(e.g. re-computation of connectivity during X-59 design optimization).</a:t>
            </a:r>
          </a:p>
          <a:p>
            <a:endParaRPr lang="en-US" sz="2400" dirty="0"/>
          </a:p>
          <a:p>
            <a:r>
              <a:rPr lang="en-US" sz="2400" dirty="0"/>
              <a:t>Serial Timings (includes B2B extraction, connectivity, and panel weight generation):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57184-4B91-AD7A-AF3D-286A4D270061}"/>
              </a:ext>
            </a:extLst>
          </p:cNvPr>
          <p:cNvSpPr txBox="1"/>
          <p:nvPr/>
        </p:nvSpPr>
        <p:spPr>
          <a:xfrm>
            <a:off x="8902239" y="5311594"/>
            <a:ext cx="70327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IRT</a:t>
            </a:r>
          </a:p>
        </p:txBody>
      </p:sp>
    </p:spTree>
    <p:extLst>
      <p:ext uri="{BB962C8B-B14F-4D97-AF65-F5344CB8AC3E}">
        <p14:creationId xmlns:p14="http://schemas.microsoft.com/office/powerpoint/2010/main" val="74551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9303-FD18-A4BE-DEE5-41BFCC4D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0D65-47BA-34A0-25E2-5F335473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019DB-C2D4-8383-ABCB-157514530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586C1-D5A0-006C-E8F4-EB938B8EB8BB}"/>
              </a:ext>
            </a:extLst>
          </p:cNvPr>
          <p:cNvSpPr txBox="1"/>
          <p:nvPr/>
        </p:nvSpPr>
        <p:spPr>
          <a:xfrm>
            <a:off x="1178116" y="1224886"/>
            <a:ext cx="9835768" cy="39703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LAVA-CGT scripting framework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Block-to-blocks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Immersed boundaries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Connectivity</a:t>
            </a:r>
          </a:p>
          <a:p>
            <a:pPr algn="ctr"/>
            <a:r>
              <a:rPr lang="en-US" sz="2800" dirty="0"/>
              <a:t>Panel weights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Refinement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Other Executables</a:t>
            </a:r>
          </a:p>
          <a:p>
            <a:pPr algn="ctr"/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95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88B6-F2D3-66A0-9D8D-14FAF704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31E91B-340B-B95E-468D-7ECE48A20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66" y="4549993"/>
            <a:ext cx="2651346" cy="21404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A31B4-E355-DC2F-B116-3202696B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Panel Weights Using LAVA’s </a:t>
            </a:r>
            <a:r>
              <a:rPr lang="en-US" sz="3200" dirty="0" err="1"/>
              <a:t>Overlapper</a:t>
            </a:r>
            <a:r>
              <a:rPr lang="en-US" sz="3200" dirty="0"/>
              <a:t> Tool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1EDA-0091-99DC-46AA-5F4DCE7513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19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0FAB8-7FB6-4398-9CC4-72F442E14276}"/>
              </a:ext>
            </a:extLst>
          </p:cNvPr>
          <p:cNvSpPr txBox="1"/>
          <p:nvPr/>
        </p:nvSpPr>
        <p:spPr>
          <a:xfrm>
            <a:off x="306918" y="1237765"/>
            <a:ext cx="6866042" cy="304698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Projects and cuts overlapped surface cells to find fraction of unit area accounted for.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Both wall BCs and IB surfaces allowed.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Intersections of wall/IB surfaces accounted for.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Wetted cell centers adjusted at intersections.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CDDC13-CB33-76B3-418B-08DA165147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35" y="1064860"/>
            <a:ext cx="4806796" cy="2881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223DA3-83DB-D007-5137-CED853BB13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112" y="4710907"/>
            <a:ext cx="1955408" cy="17738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F4B058-FE1A-BDE6-C26F-6635B05447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8" r="13019"/>
          <a:stretch>
            <a:fillRect/>
          </a:stretch>
        </p:blipFill>
        <p:spPr>
          <a:xfrm>
            <a:off x="3050137" y="4843920"/>
            <a:ext cx="1630179" cy="150780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00A2BF4E-5431-60D7-A8BD-D6891186B1C6}"/>
              </a:ext>
            </a:extLst>
          </p:cNvPr>
          <p:cNvSpPr/>
          <p:nvPr/>
        </p:nvSpPr>
        <p:spPr bwMode="auto">
          <a:xfrm>
            <a:off x="3656348" y="5325803"/>
            <a:ext cx="866997" cy="870060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Black" pitchFamily="-108" charset="0"/>
              <a:ea typeface="ＭＳ Ｐゴシック" pitchFamily="-108" charset="-128"/>
              <a:cs typeface="ＭＳ Ｐゴシック" pitchFamily="-108" charset="-128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D866ED-DFED-81AD-CF12-638450681CE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577" t="7069" r="15687" b="16100"/>
          <a:stretch>
            <a:fillRect/>
          </a:stretch>
        </p:blipFill>
        <p:spPr>
          <a:xfrm>
            <a:off x="8085566" y="4186002"/>
            <a:ext cx="2651346" cy="24256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265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0493-543F-6FC9-ACBF-1F12B4F4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F56F-F19E-1D8B-E1E4-E59FC09F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10701-3643-681B-DAA5-F044C09E1F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770C6-DBEA-EF7E-8856-8B3C1F785E42}"/>
              </a:ext>
            </a:extLst>
          </p:cNvPr>
          <p:cNvSpPr txBox="1"/>
          <p:nvPr/>
        </p:nvSpPr>
        <p:spPr>
          <a:xfrm>
            <a:off x="1178116" y="1224886"/>
            <a:ext cx="9835768" cy="35394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LAVA-CGT scripting framework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Block-to-blocks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Immersed boundaries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Connectivity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Panel weights</a:t>
            </a:r>
          </a:p>
          <a:p>
            <a:pPr algn="ctr"/>
            <a:r>
              <a:rPr lang="en-US" sz="2800" dirty="0"/>
              <a:t>Refinement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Other Executables</a:t>
            </a:r>
          </a:p>
        </p:txBody>
      </p:sp>
    </p:spTree>
    <p:extLst>
      <p:ext uri="{BB962C8B-B14F-4D97-AF65-F5344CB8AC3E}">
        <p14:creationId xmlns:p14="http://schemas.microsoft.com/office/powerpoint/2010/main" val="204424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5FCA-A9D7-2091-EDCA-E862722D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9634372-07C3-AB2B-8BD0-ACB8625271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248" y="3248684"/>
            <a:ext cx="2779352" cy="32979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10074-AB77-616A-4A56-C1FC9190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Spline-and-Refine Executable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1A7E-5AA2-BC7F-48E8-D89A405B4B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21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0A3F8-0294-0724-9A56-A146BC172D4D}"/>
              </a:ext>
            </a:extLst>
          </p:cNvPr>
          <p:cNvSpPr txBox="1"/>
          <p:nvPr/>
        </p:nvSpPr>
        <p:spPr>
          <a:xfrm>
            <a:off x="306918" y="1237765"/>
            <a:ext cx="5410976" cy="452431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Parameterizes each block curve, refines in curvilinear space,  projects back to physical.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Requires blocks start/end at feature lines (B2Bs allow this well).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Block-specific refinement options, including directional refinement.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Can be used to coarsen (but overlap no longer guaranteed).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46EA50-F444-C951-CECE-2BE6097C4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860" y="3721203"/>
            <a:ext cx="2964840" cy="26337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D74822-487B-2359-A557-6372907608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860" y="984250"/>
            <a:ext cx="2964840" cy="26337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3D25B7-B004-5B83-76F3-8B40C4BB9118}"/>
              </a:ext>
            </a:extLst>
          </p:cNvPr>
          <p:cNvSpPr txBox="1"/>
          <p:nvPr/>
        </p:nvSpPr>
        <p:spPr>
          <a:xfrm>
            <a:off x="11358185" y="3248684"/>
            <a:ext cx="70327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 1.0</a:t>
            </a:r>
            <a:endParaRPr lang="en-US" sz="18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EA60C-EA91-8A7D-6C1F-00256A8C76BD}"/>
              </a:ext>
            </a:extLst>
          </p:cNvPr>
          <p:cNvSpPr txBox="1"/>
          <p:nvPr/>
        </p:nvSpPr>
        <p:spPr>
          <a:xfrm>
            <a:off x="11361995" y="5985637"/>
            <a:ext cx="70327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 2.0</a:t>
            </a:r>
            <a:endParaRPr lang="en-US" sz="1800" dirty="0">
              <a:latin typeface="+mn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6A34D0-AEA2-B1FF-B0D3-4BD061E2A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760" y="1049917"/>
            <a:ext cx="2964840" cy="20378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480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BB4-BEFE-7508-EE02-111BFCF1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DCF3-35F4-0E92-C20B-8AAA4716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67F18-E972-1214-F745-19A651CE3F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2D332-1898-AE77-8A73-5C67A4322CAF}"/>
              </a:ext>
            </a:extLst>
          </p:cNvPr>
          <p:cNvSpPr txBox="1"/>
          <p:nvPr/>
        </p:nvSpPr>
        <p:spPr>
          <a:xfrm>
            <a:off x="1178116" y="1224886"/>
            <a:ext cx="9835768" cy="353943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LAVA-CGT scripting framework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Block-to-blocks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Immersed boundaries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Connectivity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Panel weights</a:t>
            </a:r>
          </a:p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Refinement</a:t>
            </a:r>
          </a:p>
          <a:p>
            <a:pPr algn="ctr"/>
            <a:r>
              <a:rPr lang="en-US" sz="2800" dirty="0"/>
              <a:t>Other Executables</a:t>
            </a:r>
          </a:p>
        </p:txBody>
      </p:sp>
    </p:spTree>
    <p:extLst>
      <p:ext uri="{BB962C8B-B14F-4D97-AF65-F5344CB8AC3E}">
        <p14:creationId xmlns:p14="http://schemas.microsoft.com/office/powerpoint/2010/main" val="383344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5C95-4858-351B-3A91-CFD51D73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16CC-1FB4-C939-E5F1-50D4F64A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Other Pre/Post-Processing Executables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00B5E-B60B-B54A-CA23-C70FEA3CC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23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9EC90-00CB-886D-C701-2F35B3F01F0F}"/>
              </a:ext>
            </a:extLst>
          </p:cNvPr>
          <p:cNvSpPr txBox="1"/>
          <p:nvPr/>
        </p:nvSpPr>
        <p:spPr>
          <a:xfrm>
            <a:off x="306917" y="1237765"/>
            <a:ext cx="7998056" cy="513986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cgns_to_lava</a:t>
            </a:r>
            <a:r>
              <a:rPr lang="en-US" sz="2400" dirty="0"/>
              <a:t> -------------------------</a:t>
            </a:r>
          </a:p>
          <a:p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quadTriProjTrim</a:t>
            </a:r>
            <a:r>
              <a:rPr lang="en-US" sz="2400" dirty="0"/>
              <a:t> -----------------------------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octFarfield</a:t>
            </a:r>
            <a:r>
              <a:rPr lang="en-US" sz="2400" dirty="0"/>
              <a:t> -------------------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mergeGrids</a:t>
            </a:r>
            <a:r>
              <a:rPr lang="en-US" sz="2400" dirty="0"/>
              <a:t> ---------------------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compareINTOUT</a:t>
            </a:r>
            <a:r>
              <a:rPr lang="en-US" sz="2400" dirty="0"/>
              <a:t> ----------------------------------------------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checkInput</a:t>
            </a:r>
            <a:r>
              <a:rPr lang="en-US" sz="2400" dirty="0"/>
              <a:t> -------------------------------------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verifyTriangulation</a:t>
            </a:r>
            <a:r>
              <a:rPr lang="en-US" sz="2400" dirty="0"/>
              <a:t> -------------------------------- 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refineTriangulation</a:t>
            </a:r>
            <a:r>
              <a:rPr lang="en-US" sz="2400" dirty="0"/>
              <a:t> ----------------------------------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postInterpolator</a:t>
            </a:r>
            <a:r>
              <a:rPr lang="en-US" sz="2400" dirty="0"/>
              <a:t> -------------------------------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0335F-BE09-96DE-3712-35A4EE725AC0}"/>
              </a:ext>
            </a:extLst>
          </p:cNvPr>
          <p:cNvSpPr txBox="1"/>
          <p:nvPr/>
        </p:nvSpPr>
        <p:spPr>
          <a:xfrm>
            <a:off x="3829879" y="1237765"/>
            <a:ext cx="7998056" cy="513986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Write a plot3D grid and </a:t>
            </a:r>
            <a:r>
              <a:rPr lang="en-US" sz="2400" dirty="0" err="1"/>
              <a:t>bc</a:t>
            </a:r>
            <a:r>
              <a:rPr lang="en-US" sz="2400" dirty="0"/>
              <a:t> file from a CGNS file.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Project quad grid onto tri and blank if can’t.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Make a Cartesian octree far field using </a:t>
            </a:r>
            <a:r>
              <a:rPr lang="en-US" sz="2400" dirty="0" err="1"/>
              <a:t>nearbody</a:t>
            </a:r>
            <a:r>
              <a:rPr lang="en-US" sz="2400" dirty="0"/>
              <a:t> tri file.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Combine N grids, BCs, and B2Bs (e.g. near/far field).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Are two hole cuts the same?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Is my input </a:t>
            </a:r>
            <a:r>
              <a:rPr lang="en-US" sz="2400" dirty="0" err="1"/>
              <a:t>yaml</a:t>
            </a:r>
            <a:r>
              <a:rPr lang="en-US" sz="2400" dirty="0"/>
              <a:t> ok before I submit a run?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Is my tri file (EHCs or immersed) bad?</a:t>
            </a:r>
            <a:endParaRPr lang="en-US" sz="1400" dirty="0"/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Fix under-resolved immersed loads.</a:t>
            </a:r>
          </a:p>
          <a:p>
            <a:pPr algn="r"/>
            <a:endParaRPr lang="en-US" sz="1400" dirty="0"/>
          </a:p>
          <a:p>
            <a:pPr algn="r"/>
            <a:r>
              <a:rPr lang="en-US" sz="2400" dirty="0"/>
              <a:t>Interpolate a solution onto a different grid.</a:t>
            </a:r>
          </a:p>
        </p:txBody>
      </p:sp>
    </p:spTree>
    <p:extLst>
      <p:ext uri="{BB962C8B-B14F-4D97-AF65-F5344CB8AC3E}">
        <p14:creationId xmlns:p14="http://schemas.microsoft.com/office/powerpoint/2010/main" val="304036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0404-58B5-3347-30BE-6632F3F5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F717-6027-EC50-7944-0DDABF77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Upcoming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7F8EF-6AC6-26D1-1DE4-B195B8F70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24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1F4BF-584B-EF2B-483C-7A931BA7009B}"/>
              </a:ext>
            </a:extLst>
          </p:cNvPr>
          <p:cNvSpPr txBox="1"/>
          <p:nvPr/>
        </p:nvSpPr>
        <p:spPr>
          <a:xfrm>
            <a:off x="306917" y="1237765"/>
            <a:ext cx="9937013" cy="452431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Dynamic Connectivity.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Aspect-ratio, solution-alignment, and immersed distance priorities.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Refined re-distribution for residual reduction.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Surface triangulation auto-quadding.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Azimuthally non-uniform sliding mesh wedges for multi-stage turbomachinery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Dynamic Aeroelasticity superposition modal setup.</a:t>
            </a:r>
          </a:p>
        </p:txBody>
      </p:sp>
    </p:spTree>
    <p:extLst>
      <p:ext uri="{BB962C8B-B14F-4D97-AF65-F5344CB8AC3E}">
        <p14:creationId xmlns:p14="http://schemas.microsoft.com/office/powerpoint/2010/main" val="309702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92E9-2DF5-5E24-EB91-B5001119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0657-5252-5227-68D4-C2B2AD90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Acknowledgements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842C-E102-6FB9-5E30-E5594B34AD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D401-A8CA-45F2-817B-C49246323701}" type="slidenum">
              <a:rPr lang="en-US" smtClean="0"/>
              <a:t>25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8A8240-C07E-12C1-D224-AE1C177028E8}"/>
              </a:ext>
            </a:extLst>
          </p:cNvPr>
          <p:cNvSpPr txBox="1"/>
          <p:nvPr/>
        </p:nvSpPr>
        <p:spPr>
          <a:xfrm>
            <a:off x="306917" y="1029591"/>
            <a:ext cx="10716683" cy="415498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work was primarily supported by the Research Technology Mission Directorate (</a:t>
            </a:r>
            <a:r>
              <a:rPr lang="en-US" sz="2400" dirty="0">
                <a:solidFill>
                  <a:srgbClr val="0070C0"/>
                </a:solidFill>
              </a:rPr>
              <a:t>RTMD</a:t>
            </a:r>
            <a:r>
              <a:rPr lang="en-US" sz="2400" dirty="0"/>
              <a:t>) Integrated Methods and Research (</a:t>
            </a:r>
            <a:r>
              <a:rPr lang="en-US" sz="2400" dirty="0">
                <a:solidFill>
                  <a:srgbClr val="0070C0"/>
                </a:solidFill>
              </a:rPr>
              <a:t>IMR</a:t>
            </a:r>
            <a:r>
              <a:rPr lang="en-US" sz="2400" dirty="0"/>
              <a:t>) Project (previously </a:t>
            </a:r>
            <a:r>
              <a:rPr lang="en-US" sz="2400" dirty="0">
                <a:solidFill>
                  <a:srgbClr val="0070C0"/>
                </a:solidFill>
              </a:rPr>
              <a:t>TTT</a:t>
            </a:r>
            <a:r>
              <a:rPr lang="en-US" sz="2400" dirty="0"/>
              <a:t>), with additional support provided by the High-Speed Flight (</a:t>
            </a:r>
            <a:r>
              <a:rPr lang="en-US" sz="2400" dirty="0">
                <a:solidFill>
                  <a:srgbClr val="0070C0"/>
                </a:solidFill>
              </a:rPr>
              <a:t>HSF</a:t>
            </a:r>
            <a:r>
              <a:rPr lang="en-US" sz="2400" dirty="0"/>
              <a:t>) and Subsonic Vehicle Technologies (</a:t>
            </a:r>
            <a:r>
              <a:rPr lang="en-US" sz="2400" dirty="0">
                <a:solidFill>
                  <a:srgbClr val="0070C0"/>
                </a:solidFill>
              </a:rPr>
              <a:t>SVT</a:t>
            </a:r>
            <a:r>
              <a:rPr lang="en-US" sz="2400" dirty="0"/>
              <a:t>) Projects and their predecessors.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Computational resources supporting this work were provided by the NASA High-End Computing (</a:t>
            </a:r>
            <a:r>
              <a:rPr lang="en-US" sz="2400" dirty="0">
                <a:solidFill>
                  <a:schemeClr val="accent1"/>
                </a:solidFill>
                <a:cs typeface="Arial" panose="020B0604020202020204" pitchFamily="34" charset="0"/>
              </a:rPr>
              <a:t>HEC</a:t>
            </a:r>
            <a:r>
              <a:rPr lang="en-US" sz="2400" dirty="0">
                <a:cs typeface="Arial" panose="020B0604020202020204" pitchFamily="34" charset="0"/>
              </a:rPr>
              <a:t>) Program through the NASA Advanced Supercomputing (</a:t>
            </a:r>
            <a:r>
              <a:rPr lang="en-US" sz="2400" dirty="0">
                <a:solidFill>
                  <a:schemeClr val="accent1"/>
                </a:solidFill>
                <a:cs typeface="Arial" panose="020B0604020202020204" pitchFamily="34" charset="0"/>
              </a:rPr>
              <a:t>NAS</a:t>
            </a:r>
            <a:r>
              <a:rPr lang="en-US" sz="2400" dirty="0">
                <a:cs typeface="Arial" panose="020B0604020202020204" pitchFamily="34" charset="0"/>
              </a:rPr>
              <a:t>) Division at Ames Research Center.</a:t>
            </a:r>
          </a:p>
          <a:p>
            <a:pPr marL="0" indent="0">
              <a:buNone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The exceptional contributions of the </a:t>
            </a:r>
            <a:r>
              <a:rPr lang="en-US" sz="2400" dirty="0">
                <a:solidFill>
                  <a:schemeClr val="accent1"/>
                </a:solidFill>
                <a:cs typeface="Arial" panose="020B0604020202020204" pitchFamily="34" charset="0"/>
              </a:rPr>
              <a:t>LAVA team </a:t>
            </a:r>
            <a:r>
              <a:rPr lang="en-US" sz="2400" dirty="0">
                <a:cs typeface="Arial" panose="020B0604020202020204" pitchFamily="34" charset="0"/>
              </a:rPr>
              <a:t>are acknowledged.</a:t>
            </a:r>
          </a:p>
        </p:txBody>
      </p:sp>
    </p:spTree>
    <p:extLst>
      <p:ext uri="{BB962C8B-B14F-4D97-AF65-F5344CB8AC3E}">
        <p14:creationId xmlns:p14="http://schemas.microsoft.com/office/powerpoint/2010/main" val="344743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0FAE7-4F77-730A-BA39-3FF8A3C05E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4" t="3995" r="8457" b="2915"/>
          <a:stretch>
            <a:fillRect/>
          </a:stretch>
        </p:blipFill>
        <p:spPr>
          <a:xfrm>
            <a:off x="3570925" y="1235925"/>
            <a:ext cx="5050149" cy="43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14374"/>
      </p:ext>
    </p:extLst>
  </p:cSld>
  <p:clrMapOvr>
    <a:masterClrMapping/>
  </p:clrMapOvr>
  <p:transition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7.7|4.8|15.1|25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|11.2|5|1.4|2.3|5.5|6.1|2.2|14.7|2.2|2.8|2.1|7.8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11.3|18.4|18.8|15.5|8.9|1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7|11.8|2.8|10.8|1.3|20.4|1.9|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7.4|5.4|11.3|8.3|4.4|9.3|3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0.9|3|25.7|2.6|20.8|54.2|19.4|2.8|24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7.8|37.9|7.3|21.4|9.5|1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0.2|6.6|11.5|10.7|16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|23.6|0.8|1.4|2.4|8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8.2|1.2|19.6|1.4|11|19.6|2.8|28.7|3.1|54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6.6|18.2|7.7|2.9|12.8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1.3|17.2|24.6|27.1|11.8|9.1"/>
</p:tagLst>
</file>

<file path=ppt/theme/theme1.xml><?xml version="1.0" encoding="utf-8"?>
<a:theme xmlns:a="http://schemas.openxmlformats.org/drawingml/2006/main" name="FA-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Helvetica"/>
        <a:ea typeface="ＭＳ Ｐゴシック"/>
        <a:cs typeface="ＭＳ Ｐゴシック"/>
      </a:majorFont>
      <a:minorFont>
        <a:latin typeface="Helvetica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B0F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Black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Black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lnDef>
    <a:txDef>
      <a:spPr>
        <a:noFill/>
        <a:ln w="19050">
          <a:solidFill>
            <a:schemeClr val="tx1"/>
          </a:solidFill>
        </a:ln>
      </a:spPr>
      <a:bodyPr wrap="none" rtlCol="0">
        <a:spAutoFit/>
      </a:bodyPr>
      <a:lstStyle>
        <a:defPPr>
          <a:defRPr sz="1800" dirty="0" smtClean="0">
            <a:latin typeface="+mn-lt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AVA_c612a_boom_update_2020_05_18" id="{B39E5A61-541C-5743-95DD-8E5F707ABE1C}" vid="{2926379A-1E05-D847-8235-B570F52E88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95100</TotalTime>
  <Words>1287</Words>
  <Application>Microsoft Macintosh PowerPoint</Application>
  <PresentationFormat>Widescreen</PresentationFormat>
  <Paragraphs>371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Avenir Book</vt:lpstr>
      <vt:lpstr>Calibri</vt:lpstr>
      <vt:lpstr>Helvetica</vt:lpstr>
      <vt:lpstr>FA-Theme1</vt:lpstr>
      <vt:lpstr>Overview of the LAVA Curvilinear Framework’s Viscous Overset Grid System Preprocessing and Connectivity Capabilities</vt:lpstr>
      <vt:lpstr>Launch, Ascent, and Vehicle Aerodynamics Framework</vt:lpstr>
      <vt:lpstr>Overset Gridding Pros/Cons</vt:lpstr>
      <vt:lpstr>Overview</vt:lpstr>
      <vt:lpstr>Sections</vt:lpstr>
      <vt:lpstr>LAVA-CGT scripting framework</vt:lpstr>
      <vt:lpstr>Sections</vt:lpstr>
      <vt:lpstr>Block-to-Block (B2B) Functionality</vt:lpstr>
      <vt:lpstr>Block-to-Block Extraction Utility</vt:lpstr>
      <vt:lpstr>Sections</vt:lpstr>
      <vt:lpstr>Immersed Boundary Handling</vt:lpstr>
      <vt:lpstr>Sections</vt:lpstr>
      <vt:lpstr>Connectivity Hole Cutting</vt:lpstr>
      <vt:lpstr>Connectivity Fringe/Orphan Donor Search</vt:lpstr>
      <vt:lpstr>Connectivity Overlap Optimization</vt:lpstr>
      <vt:lpstr>Connectivity Assessment / Debugging</vt:lpstr>
      <vt:lpstr>Connectivity</vt:lpstr>
      <vt:lpstr>Sections</vt:lpstr>
      <vt:lpstr>Panel Weights Using LAVA’s Overlapper Tool</vt:lpstr>
      <vt:lpstr>Sections</vt:lpstr>
      <vt:lpstr>Spline-and-Refine Executable</vt:lpstr>
      <vt:lpstr>Sections</vt:lpstr>
      <vt:lpstr>Other Pre/Post-Processing Executables</vt:lpstr>
      <vt:lpstr>Upcoming Features</vt:lpstr>
      <vt:lpstr>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Wagner, Jacob M. (ARC-TNA)[SCIENCE &amp; TECHNOLOGY CORP]</dc:creator>
  <cp:lastModifiedBy>Koch, James R. (ARC-TNA)</cp:lastModifiedBy>
  <cp:revision>709</cp:revision>
  <dcterms:created xsi:type="dcterms:W3CDTF">2020-10-05T20:23:34Z</dcterms:created>
  <dcterms:modified xsi:type="dcterms:W3CDTF">2026-09-22T12:20:58Z</dcterms:modified>
</cp:coreProperties>
</file>