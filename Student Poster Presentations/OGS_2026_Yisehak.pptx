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0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3"/>
    <p:restoredTop sz="94694"/>
  </p:normalViewPr>
  <p:slideViewPr>
    <p:cSldViewPr snapToGrid="0" snapToObjects="1">
      <p:cViewPr varScale="1">
        <p:scale>
          <a:sx n="18" d="100"/>
          <a:sy n="18" d="100"/>
        </p:scale>
        <p:origin x="17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Ann Smith" userId="543bac1564bb3abd" providerId="LiveId" clId="{A59AE930-1550-4E9A-A022-73B4F49D77A9}"/>
    <pc:docChg chg="modSld">
      <pc:chgData name="Mary Ann Smith" userId="543bac1564bb3abd" providerId="LiveId" clId="{A59AE930-1550-4E9A-A022-73B4F49D77A9}" dt="2022-03-30T12:44:32.685" v="143" actId="20577"/>
      <pc:docMkLst>
        <pc:docMk/>
      </pc:docMkLst>
      <pc:sldChg chg="modSp mod">
        <pc:chgData name="Mary Ann Smith" userId="543bac1564bb3abd" providerId="LiveId" clId="{A59AE930-1550-4E9A-A022-73B4F49D77A9}" dt="2022-03-30T12:44:32.685" v="143" actId="20577"/>
        <pc:sldMkLst>
          <pc:docMk/>
          <pc:sldMk cId="1038466824" sldId="256"/>
        </pc:sldMkLst>
        <pc:spChg chg="mod">
          <ac:chgData name="Mary Ann Smith" userId="543bac1564bb3abd" providerId="LiveId" clId="{A59AE930-1550-4E9A-A022-73B4F49D77A9}" dt="2022-03-30T12:43:59.758" v="15" actId="20577"/>
          <ac:spMkLst>
            <pc:docMk/>
            <pc:sldMk cId="1038466824" sldId="256"/>
            <ac:spMk id="10" creationId="{B5FFA0F7-AF1E-EC46-993B-E0035DDD1753}"/>
          </ac:spMkLst>
        </pc:spChg>
        <pc:spChg chg="mod">
          <ac:chgData name="Mary Ann Smith" userId="543bac1564bb3abd" providerId="LiveId" clId="{A59AE930-1550-4E9A-A022-73B4F49D77A9}" dt="2022-03-30T12:44:05.823" v="41" actId="20577"/>
          <ac:spMkLst>
            <pc:docMk/>
            <pc:sldMk cId="1038466824" sldId="256"/>
            <ac:spMk id="11" creationId="{6E7AD39E-51EB-E346-8F4C-91599EEA039A}"/>
          </ac:spMkLst>
        </pc:spChg>
        <pc:spChg chg="mod">
          <ac:chgData name="Mary Ann Smith" userId="543bac1564bb3abd" providerId="LiveId" clId="{A59AE930-1550-4E9A-A022-73B4F49D77A9}" dt="2022-03-30T12:44:11.899" v="67" actId="20577"/>
          <ac:spMkLst>
            <pc:docMk/>
            <pc:sldMk cId="1038466824" sldId="256"/>
            <ac:spMk id="12" creationId="{795228FF-DBA2-EB43-BD83-CD83C595ACC1}"/>
          </ac:spMkLst>
        </pc:spChg>
        <pc:spChg chg="mod">
          <ac:chgData name="Mary Ann Smith" userId="543bac1564bb3abd" providerId="LiveId" clId="{A59AE930-1550-4E9A-A022-73B4F49D77A9}" dt="2022-03-30T12:44:16.722" v="83" actId="20577"/>
          <ac:spMkLst>
            <pc:docMk/>
            <pc:sldMk cId="1038466824" sldId="256"/>
            <ac:spMk id="13" creationId="{E9144E30-9E8B-324F-AAFC-93B61D738733}"/>
          </ac:spMkLst>
        </pc:spChg>
        <pc:spChg chg="mod">
          <ac:chgData name="Mary Ann Smith" userId="543bac1564bb3abd" providerId="LiveId" clId="{A59AE930-1550-4E9A-A022-73B4F49D77A9}" dt="2022-03-30T12:44:21.313" v="99" actId="20577"/>
          <ac:spMkLst>
            <pc:docMk/>
            <pc:sldMk cId="1038466824" sldId="256"/>
            <ac:spMk id="14" creationId="{3ABF7E72-0D11-C843-A6BC-A5FB92E01568}"/>
          </ac:spMkLst>
        </pc:spChg>
        <pc:spChg chg="mod">
          <ac:chgData name="Mary Ann Smith" userId="543bac1564bb3abd" providerId="LiveId" clId="{A59AE930-1550-4E9A-A022-73B4F49D77A9}" dt="2022-03-30T12:44:28.197" v="127" actId="20577"/>
          <ac:spMkLst>
            <pc:docMk/>
            <pc:sldMk cId="1038466824" sldId="256"/>
            <ac:spMk id="15" creationId="{EEA73FF5-4AD6-1D4D-BAF5-F5D63B1D3245}"/>
          </ac:spMkLst>
        </pc:spChg>
        <pc:spChg chg="mod">
          <ac:chgData name="Mary Ann Smith" userId="543bac1564bb3abd" providerId="LiveId" clId="{A59AE930-1550-4E9A-A022-73B4F49D77A9}" dt="2022-03-30T12:44:32.685" v="143" actId="20577"/>
          <ac:spMkLst>
            <pc:docMk/>
            <pc:sldMk cId="1038466824" sldId="256"/>
            <ac:spMk id="16" creationId="{50D1F454-0BE4-AD4F-9C26-5C3BD4213F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9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0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6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1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0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7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3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7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1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80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 x 36 Three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A19A2C1E-32CE-8849-9B24-CC9B5AED8D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952499"/>
            <a:ext cx="9255552" cy="4235116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63B4837-1588-674B-AAAB-D854DB4F7C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98173" y="7576458"/>
            <a:ext cx="11168743" cy="8164286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52513767-F72C-7B46-B339-BC2F4F8B35E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697946" y="17914206"/>
            <a:ext cx="11168743" cy="13585825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2DC25EBA-EA54-C644-BA7E-6EBA74837A6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628610" y="7576457"/>
            <a:ext cx="15327313" cy="9666517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20" name="Content Placeholder 11">
            <a:extLst>
              <a:ext uri="{FF2B5EF4-FFF2-40B4-BE49-F238E27FC236}">
                <a16:creationId xmlns:a16="http://schemas.microsoft.com/office/drawing/2014/main" id="{49B19336-4CEE-F544-A5B8-1E9EBE4F64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628384" y="19416435"/>
            <a:ext cx="15327313" cy="12083596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22" name="Content Placeholder 11">
            <a:extLst>
              <a:ext uri="{FF2B5EF4-FFF2-40B4-BE49-F238E27FC236}">
                <a16:creationId xmlns:a16="http://schemas.microsoft.com/office/drawing/2014/main" id="{362C7846-6BE8-D84A-A448-90E91702C0F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9718195" y="7576458"/>
            <a:ext cx="12474835" cy="6139543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24" name="Content Placeholder 11">
            <a:extLst>
              <a:ext uri="{FF2B5EF4-FFF2-40B4-BE49-F238E27FC236}">
                <a16:creationId xmlns:a16="http://schemas.microsoft.com/office/drawing/2014/main" id="{D593E816-BBC8-0B47-8A08-5C654B4134F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717968" y="15889463"/>
            <a:ext cx="12474835" cy="9666517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8F6C750C-783D-1545-A98F-8DEDE400F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65152" y="952498"/>
            <a:ext cx="32327464" cy="4316228"/>
          </a:xfrm>
        </p:spPr>
        <p:txBody>
          <a:bodyPr>
            <a:normAutofit/>
          </a:bodyPr>
          <a:lstStyle>
            <a:lvl1pPr>
              <a:defRPr sz="8000" b="0"/>
            </a:lvl1pPr>
          </a:lstStyle>
          <a:p>
            <a:r>
              <a:rPr lang="en-US" dirty="0"/>
              <a:t>Project Title</a:t>
            </a:r>
            <a:br>
              <a:rPr lang="en-US" dirty="0"/>
            </a:br>
            <a:r>
              <a:rPr lang="en-US" dirty="0"/>
              <a:t>Student Researcher Name(s)</a:t>
            </a:r>
            <a:br>
              <a:rPr lang="en-US" dirty="0"/>
            </a:br>
            <a:r>
              <a:rPr lang="en-US" dirty="0"/>
              <a:t>Faculty Adviser</a:t>
            </a:r>
            <a:br>
              <a:rPr lang="en-US" dirty="0"/>
            </a:br>
            <a:r>
              <a:rPr lang="en-US" dirty="0"/>
              <a:t>Academic Area (Biology, Criminal Justice, Project and Supply Chain Management, </a:t>
            </a:r>
            <a:r>
              <a:rPr lang="en-US" dirty="0" err="1"/>
              <a:t>etc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Penn State Schuylkill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059FAA-41B0-B646-80DA-DC115D8E41F5}"/>
              </a:ext>
            </a:extLst>
          </p:cNvPr>
          <p:cNvSpPr/>
          <p:nvPr userDrawn="1"/>
        </p:nvSpPr>
        <p:spPr>
          <a:xfrm>
            <a:off x="609601" y="362378"/>
            <a:ext cx="42628457" cy="32033508"/>
          </a:xfrm>
          <a:prstGeom prst="rect">
            <a:avLst/>
          </a:prstGeom>
          <a:noFill/>
          <a:ln w="28575">
            <a:solidFill>
              <a:srgbClr val="1E4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2" name="Content Placeholder 11">
            <a:extLst>
              <a:ext uri="{FF2B5EF4-FFF2-40B4-BE49-F238E27FC236}">
                <a16:creationId xmlns:a16="http://schemas.microsoft.com/office/drawing/2014/main" id="{0F354433-8AE5-3D4F-87A0-8A4FB318D76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9717968" y="27729441"/>
            <a:ext cx="12474835" cy="3770590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pPr lvl="0"/>
            <a:r>
              <a:rPr lang="en-US" sz="6400" dirty="0"/>
              <a:t>Placeholder text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256327D-9967-844B-A257-FF9240C3AC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98626" y="6073776"/>
            <a:ext cx="11168063" cy="831850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Abstract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325A7DD6-1CC1-1041-BCEB-70E48C5C9B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98285" y="16411550"/>
            <a:ext cx="11168063" cy="831850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Background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7221E27A-28C0-E240-9A87-6C4CB96D12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58438" y="6074228"/>
            <a:ext cx="15044599" cy="830997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Methods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AD3FE4D9-8569-F54A-8686-D8EBC128F0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628384" y="18067992"/>
            <a:ext cx="15327313" cy="873151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CAF6F71C-70EC-E34A-A242-1510554A94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694788" y="6086399"/>
            <a:ext cx="12474649" cy="830997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4ABC1DE7-7A55-DE4B-BB42-F5AABB9E5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717618" y="14325964"/>
            <a:ext cx="12474649" cy="830997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Discussion / Conclusion</a:t>
            </a:r>
          </a:p>
        </p:txBody>
      </p:sp>
      <p:sp>
        <p:nvSpPr>
          <p:cNvPr id="40" name="Text Placeholder 33">
            <a:extLst>
              <a:ext uri="{FF2B5EF4-FFF2-40B4-BE49-F238E27FC236}">
                <a16:creationId xmlns:a16="http://schemas.microsoft.com/office/drawing/2014/main" id="{E7936B42-E879-B544-B171-8E35EDAB7A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694786" y="26327944"/>
            <a:ext cx="12474649" cy="830997"/>
          </a:xfrm>
          <a:solidFill>
            <a:srgbClr val="1E407C"/>
          </a:solidFill>
        </p:spPr>
        <p:txBody>
          <a:bodyPr>
            <a:noAutofit/>
          </a:bodyPr>
          <a:lstStyle>
            <a:lvl1pPr marL="0" indent="0" algn="ctr">
              <a:buNone/>
              <a:defRPr sz="6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066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753B0-8E3F-2C4D-A1FE-D5116142A5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57A0E-EE7D-EA40-BD9E-BE1D7AE5A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2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B33D189-D039-41BC-48F2-3CA4185FFB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98173" y="7576458"/>
            <a:ext cx="11168743" cy="6320370"/>
          </a:xfrm>
        </p:spPr>
        <p:txBody>
          <a:bodyPr lIns="18000">
            <a:normAutofit/>
          </a:bodyPr>
          <a:lstStyle/>
          <a:p>
            <a:pPr marL="0" indent="0">
              <a:spcBef>
                <a:spcPts val="1800"/>
              </a:spcBef>
              <a:buNone/>
              <a:defRPr/>
            </a:pPr>
            <a:r>
              <a:rPr lang="en-US" sz="4000" dirty="0"/>
              <a:t>This study investigates the three-dimensional aerodynamic performance and flow characteristics of an isolated Slotted natural-laminar-flow (SNLF) rotor using computational fluid dynamics (CFD). </a:t>
            </a:r>
          </a:p>
          <a:p>
            <a:pPr marL="0" indent="0">
              <a:spcBef>
                <a:spcPts val="1800"/>
              </a:spcBef>
              <a:buNone/>
              <a:defRPr/>
            </a:pPr>
            <a:r>
              <a:rPr lang="en-US" sz="4000" dirty="0"/>
              <a:t>Pressure distributions, skin friction, thrust, torque, and rotor performance coefficients are evaluated for available turbulence and transition models.</a:t>
            </a:r>
          </a:p>
          <a:p>
            <a:pPr marL="0" indent="0">
              <a:spcBef>
                <a:spcPts val="1800"/>
              </a:spcBef>
              <a:buNone/>
              <a:defRPr/>
            </a:pPr>
            <a:r>
              <a:rPr lang="en-US" sz="4000" dirty="0"/>
              <a:t>Preliminary results indicate that the SA-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𝞬 transition model has a better load prediction at 2D cases, while 3D rotor case needs further improvement. </a:t>
            </a:r>
            <a:endParaRPr lang="en-US" sz="4000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69BBEFFF-67BC-551D-7F7D-0B2AA1D951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97946" y="15740744"/>
            <a:ext cx="11168743" cy="15759287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US" sz="4000" dirty="0"/>
              <a:t>Advanced air mobility (AAM) aircraft require rotor systems capable of producing high aerodynamic efficiency while satisfying demanding performance and acoustic requirements. In this regard, rotor profile losses, boundary-layer transition, flow separation, and tip-vortex formation can substantially influence rotor performance, particularly during hover.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4000" dirty="0"/>
              <a:t>SNLF airfoils provide an alternative to conventional single-element rotor sections, through favorable pressure-gradient control. This arrangement has the potential to maintain extensive laminar flow while providing high lift and relatively low profile drag.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4000" dirty="0"/>
              <a:t>In our previous work [1], the SNLF rotor is proofed to be producing more thrust compared to the baseline AAM rotor in hover. In forward flight, around 1.5% increase in propeller efficiency is also observed. It also contributed to reduction of rotor broadband noise up to OASPL of 2 </a:t>
            </a:r>
            <a:r>
              <a:rPr lang="en-US" sz="4000" dirty="0" err="1"/>
              <a:t>dB.</a:t>
            </a:r>
            <a:endParaRPr lang="en-US" sz="4000" dirty="0"/>
          </a:p>
          <a:p>
            <a:pPr marL="0" indent="0">
              <a:spcBef>
                <a:spcPts val="1800"/>
              </a:spcBef>
              <a:buNone/>
            </a:pPr>
            <a:r>
              <a:rPr lang="en-US" sz="4000" dirty="0"/>
              <a:t>The effect of </a:t>
            </a:r>
            <a:r>
              <a:rPr lang="en-US" sz="4000" dirty="0" err="1"/>
              <a:t>Spalart</a:t>
            </a:r>
            <a:r>
              <a:rPr lang="en-US" sz="4000" dirty="0"/>
              <a:t>-Allmaras intermittency transition model on simulating aerodynamic performances is presented here.</a:t>
            </a:r>
          </a:p>
          <a:p>
            <a:pPr algn="just">
              <a:spcBef>
                <a:spcPts val="1800"/>
              </a:spcBef>
            </a:pPr>
            <a:endParaRPr lang="en-US" sz="4000" dirty="0"/>
          </a:p>
        </p:txBody>
      </p:sp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8D754F4D-5DE2-16E3-E2DD-32F17E893CA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766458" y="28751585"/>
            <a:ext cx="4637313" cy="3137936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F4E0BE9-3289-A9E9-B729-F2FD3A45B2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628384" y="19416435"/>
            <a:ext cx="15327313" cy="12919248"/>
          </a:xfrm>
        </p:spPr>
        <p:txBody>
          <a:bodyPr>
            <a:normAutofit/>
          </a:bodyPr>
          <a:lstStyle/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r>
              <a:rPr lang="en-US" sz="4800" dirty="0"/>
              <a:t>Validation using 2D case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4000" dirty="0"/>
              <a:t>A 2D simulation cases are used to validate the standard SA turbulence model and SA-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𝞬 transition model against experimental data [2].</a:t>
            </a:r>
            <a:endParaRPr lang="en-US" sz="40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 marL="0" indent="0">
              <a:spcBef>
                <a:spcPts val="1800"/>
              </a:spcBef>
              <a:buNone/>
            </a:pPr>
            <a:endParaRPr lang="en-US" sz="4800" dirty="0"/>
          </a:p>
          <a:p>
            <a:pPr marL="1143000" indent="-1143000">
              <a:spcBef>
                <a:spcPts val="1800"/>
              </a:spcBef>
              <a:buFont typeface="+mj-lt"/>
              <a:buAutoNum type="alphaUcPeriod" startAt="2"/>
            </a:pPr>
            <a:r>
              <a:rPr lang="en-US" sz="4800" dirty="0"/>
              <a:t>Rotor performance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4000" dirty="0"/>
              <a:t>The difference between the two SA models is significant on skin-friction coefficient, where SA-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𝞬 transition model resulted much lower 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around the leading edge of the rotor.</a:t>
            </a:r>
            <a:endParaRPr lang="en-US" sz="4000" dirty="0"/>
          </a:p>
          <a:p>
            <a:pPr>
              <a:spcBef>
                <a:spcPts val="1800"/>
              </a:spcBef>
            </a:pPr>
            <a:endParaRPr lang="en-US" sz="4800" dirty="0"/>
          </a:p>
          <a:p>
            <a:pPr>
              <a:spcBef>
                <a:spcPts val="1800"/>
              </a:spcBef>
            </a:pPr>
            <a:endParaRPr lang="en-US" sz="4800" dirty="0"/>
          </a:p>
          <a:p>
            <a:pPr>
              <a:spcBef>
                <a:spcPts val="1800"/>
              </a:spcBef>
            </a:pPr>
            <a:endParaRPr lang="en-US" sz="4800" dirty="0"/>
          </a:p>
          <a:p>
            <a:pPr>
              <a:spcBef>
                <a:spcPts val="1800"/>
              </a:spcBef>
            </a:pPr>
            <a:endParaRPr lang="en-US" sz="4800" dirty="0"/>
          </a:p>
          <a:p>
            <a:pPr>
              <a:spcBef>
                <a:spcPts val="1800"/>
              </a:spcBef>
            </a:pPr>
            <a:endParaRPr lang="en-US" sz="4800" dirty="0"/>
          </a:p>
          <a:p>
            <a:pPr>
              <a:spcBef>
                <a:spcPts val="1800"/>
              </a:spcBef>
            </a:pPr>
            <a:endParaRPr lang="en-US" sz="4800" dirty="0"/>
          </a:p>
          <a:p>
            <a:pPr>
              <a:spcBef>
                <a:spcPts val="1800"/>
              </a:spcBef>
              <a:buFont typeface="+mj-lt"/>
              <a:buAutoNum type="alphaUcPeriod"/>
            </a:pPr>
            <a:endParaRPr lang="en-US" sz="4800" dirty="0"/>
          </a:p>
          <a:p>
            <a:pPr>
              <a:spcBef>
                <a:spcPts val="1800"/>
              </a:spcBef>
            </a:pPr>
            <a:endParaRPr lang="en-US" sz="4800" dirty="0"/>
          </a:p>
        </p:txBody>
      </p:sp>
      <p:pic>
        <p:nvPicPr>
          <p:cNvPr id="105" name="Content Placeholder 104">
            <a:extLst>
              <a:ext uri="{FF2B5EF4-FFF2-40B4-BE49-F238E27FC236}">
                <a16:creationId xmlns:a16="http://schemas.microsoft.com/office/drawing/2014/main" id="{2D2ED56F-DF91-3664-A7C9-892AB445121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36728400" y="7159412"/>
            <a:ext cx="5440848" cy="4796340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FD5CE586-4AC8-0937-C3DB-B46A69CCCB8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718381" y="22459109"/>
            <a:ext cx="12474835" cy="2568894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observed that the </a:t>
            </a:r>
            <a:r>
              <a:rPr lang="en-US" sz="4000" dirty="0"/>
              <a:t>SA-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𝞬 transition model can improve the C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prediction up to 75 count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at 2D cases.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4000" dirty="0">
                <a:solidFill>
                  <a:prstClr val="black"/>
                </a:solidFill>
                <a:latin typeface="Calibri" panose="020F0502020204030204"/>
              </a:rPr>
              <a:t>However, this improvement is not reflected on the steady 3D case, one reason being lower mesh resolution at the tip. 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9BA6237-3D34-7C40-85F5-FD05107E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fontAlgn="base" latinLnBrk="1"/>
            <a:r>
              <a:rPr lang="en-US" sz="6600" b="1" dirty="0">
                <a:latin typeface="+mn-lt"/>
              </a:rPr>
              <a:t>CFD Investigation of an Isolated AAM Rotor Using a Slotted Natural-Laminar-Flow Airfoil</a:t>
            </a:r>
            <a:br>
              <a:rPr lang="en-US" sz="6600" b="1" dirty="0"/>
            </a:br>
            <a:r>
              <a:rPr lang="en-US" sz="6600" dirty="0"/>
              <a:t>Yisehak A. Keflemariam </a:t>
            </a:r>
            <a:br>
              <a:rPr lang="en-US" sz="6600" b="1" dirty="0"/>
            </a:br>
            <a:r>
              <a:rPr lang="en-US" sz="6000" dirty="0"/>
              <a:t>Advisor: Dr. James Coder    Co-advisor: Dr. Christopher Axten</a:t>
            </a:r>
            <a:br>
              <a:rPr lang="en-US" sz="6000" dirty="0"/>
            </a:br>
            <a:r>
              <a:rPr lang="en-US" sz="6000" i="1" dirty="0"/>
              <a:t>Department of Aerospace Engineering, Pennsylvania State University</a:t>
            </a:r>
            <a:endParaRPr lang="en-US" sz="6600" i="1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6041989-07B5-D92D-D6A9-14E2279B4BA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9694414" y="26551180"/>
            <a:ext cx="12474835" cy="2066377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000" dirty="0"/>
              <a:t>Unsteady rotor simulation at refined mesh size, and solving FW-H equation for noise prediction 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4000" dirty="0"/>
              <a:t>Implementing AFT transition model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FA0F7-AF1E-EC46-993B-E0035DDD17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5400" dirty="0"/>
              <a:t>Abstract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7AD39E-51EB-E346-8F4C-91599EEA03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97946" y="14034629"/>
            <a:ext cx="11168063" cy="831850"/>
          </a:xfrm>
        </p:spPr>
        <p:txBody>
          <a:bodyPr/>
          <a:lstStyle/>
          <a:p>
            <a:r>
              <a:rPr lang="en-US" sz="5400" dirty="0"/>
              <a:t>Introduction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95228FF-DBA2-EB43-BD83-CD83C595AC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5400" dirty="0"/>
              <a:t>Numerical Method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144E30-9E8B-324F-AAFC-93B61D7387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5400" dirty="0"/>
              <a:t>Results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BF7E72-0D11-C843-A6BC-A5FB92E015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5400" dirty="0"/>
              <a:t>Results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A73FF5-4AD6-1D4D-BAF5-F5D63B1D32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718567" y="21426752"/>
            <a:ext cx="12474649" cy="830997"/>
          </a:xfrm>
        </p:spPr>
        <p:txBody>
          <a:bodyPr/>
          <a:lstStyle/>
          <a:p>
            <a:r>
              <a:rPr lang="en-US" sz="5400" dirty="0"/>
              <a:t>Conclusion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0D1F454-0BE4-AD4F-9C26-5C3BD4213F7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718381" y="25308570"/>
            <a:ext cx="12474649" cy="830997"/>
          </a:xfrm>
        </p:spPr>
        <p:txBody>
          <a:bodyPr/>
          <a:lstStyle/>
          <a:p>
            <a:r>
              <a:rPr lang="en-US" sz="5400" dirty="0"/>
              <a:t>Future Work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288D90-842B-D11E-CA10-FC80FF10013D}"/>
              </a:ext>
            </a:extLst>
          </p:cNvPr>
          <p:cNvSpPr txBox="1"/>
          <p:nvPr/>
        </p:nvSpPr>
        <p:spPr>
          <a:xfrm>
            <a:off x="3766458" y="2960914"/>
            <a:ext cx="4310742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Content Placeholder 18">
            <a:extLst>
              <a:ext uri="{FF2B5EF4-FFF2-40B4-BE49-F238E27FC236}">
                <a16:creationId xmlns:a16="http://schemas.microsoft.com/office/drawing/2014/main" id="{D9294401-8E80-3205-6DF2-FF62207CCD87}"/>
              </a:ext>
            </a:extLst>
          </p:cNvPr>
          <p:cNvSpPr txBox="1">
            <a:spLocks/>
          </p:cNvSpPr>
          <p:nvPr/>
        </p:nvSpPr>
        <p:spPr>
          <a:xfrm>
            <a:off x="13806706" y="7269216"/>
            <a:ext cx="15044599" cy="999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sz="4000" dirty="0"/>
              <a:t>Steady, blade-resolved Reynolds-Average Navier-Stokes (RANS) simulations were performed on STAR-CCM+ using moving reference frame (MRF) to impose the rotational effect. To reduce computational cost, a single blade is modeled using a 72° periodic sector representing one-fifth of the complete rotor. </a:t>
            </a:r>
          </a:p>
          <a:p>
            <a:pPr marL="0" lvl="0" indent="0">
              <a:spcBef>
                <a:spcPts val="1800"/>
              </a:spcBef>
              <a:buNone/>
              <a:defRPr/>
            </a:pPr>
            <a:r>
              <a:rPr lang="en-US" sz="4000" dirty="0"/>
              <a:t>A polyhedral mesh with localized refinement is employed in the rotating region, while a trimmed-cell mesh is used in the stationary far-field region. A total of 20 million cells is generated.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B322E5F-3ABC-0098-FDD9-23F1D68FF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/>
          <a:stretch>
            <a:fillRect/>
          </a:stretch>
        </p:blipFill>
        <p:spPr>
          <a:xfrm>
            <a:off x="14546077" y="12987238"/>
            <a:ext cx="2906656" cy="18191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0CC501D-C903-B7FC-39E0-7B85F62DF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3" r="53635" b="3039"/>
          <a:stretch>
            <a:fillRect/>
          </a:stretch>
        </p:blipFill>
        <p:spPr>
          <a:xfrm>
            <a:off x="18549343" y="12032229"/>
            <a:ext cx="2049934" cy="506092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1864B8F-4067-7E14-01C0-8D590D80D69F}"/>
              </a:ext>
            </a:extLst>
          </p:cNvPr>
          <p:cNvGrpSpPr/>
          <p:nvPr/>
        </p:nvGrpSpPr>
        <p:grpSpPr>
          <a:xfrm>
            <a:off x="21814971" y="12289972"/>
            <a:ext cx="6346371" cy="4338661"/>
            <a:chOff x="6220408" y="1690688"/>
            <a:chExt cx="5810308" cy="3901265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CA92F40-B272-0449-2B33-12A1B4BFB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6" r="13749" b="1827"/>
            <a:stretch>
              <a:fillRect/>
            </a:stretch>
          </p:blipFill>
          <p:spPr>
            <a:xfrm>
              <a:off x="6220408" y="1690688"/>
              <a:ext cx="5810308" cy="390126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7C1382B-7055-61A8-2553-FFEAD9101AAD}"/>
                </a:ext>
              </a:extLst>
            </p:cNvPr>
            <p:cNvSpPr txBox="1"/>
            <p:nvPr/>
          </p:nvSpPr>
          <p:spPr>
            <a:xfrm>
              <a:off x="6220408" y="1753329"/>
              <a:ext cx="1921944" cy="500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2A976BE-2FB0-E62B-FF00-373A79D1AB55}"/>
              </a:ext>
            </a:extLst>
          </p:cNvPr>
          <p:cNvSpPr txBox="1"/>
          <p:nvPr/>
        </p:nvSpPr>
        <p:spPr>
          <a:xfrm>
            <a:off x="16844653" y="29168514"/>
            <a:ext cx="80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1: Sectional lift and drag coefficient table at different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𝞪.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6803AA-0562-BE6E-E946-8251E784516B}"/>
              </a:ext>
            </a:extLst>
          </p:cNvPr>
          <p:cNvCxnSpPr>
            <a:cxnSpLocks/>
          </p:cNvCxnSpPr>
          <p:nvPr/>
        </p:nvCxnSpPr>
        <p:spPr>
          <a:xfrm>
            <a:off x="18590967" y="17155885"/>
            <a:ext cx="19666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32498A7-33FC-67C3-FCB8-946BFFE5CC7E}"/>
              </a:ext>
            </a:extLst>
          </p:cNvPr>
          <p:cNvSpPr txBox="1"/>
          <p:nvPr/>
        </p:nvSpPr>
        <p:spPr>
          <a:xfrm>
            <a:off x="19358429" y="17103809"/>
            <a:ext cx="823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20R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2EAD47-4C5A-847C-1CCF-8B24A197C47C}"/>
              </a:ext>
            </a:extLst>
          </p:cNvPr>
          <p:cNvCxnSpPr>
            <a:cxnSpLocks/>
          </p:cNvCxnSpPr>
          <p:nvPr/>
        </p:nvCxnSpPr>
        <p:spPr>
          <a:xfrm>
            <a:off x="20749036" y="12091443"/>
            <a:ext cx="0" cy="2040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8E0DFAA-D2FE-DAE0-7115-FA4C526F40A3}"/>
              </a:ext>
            </a:extLst>
          </p:cNvPr>
          <p:cNvCxnSpPr>
            <a:cxnSpLocks/>
          </p:cNvCxnSpPr>
          <p:nvPr/>
        </p:nvCxnSpPr>
        <p:spPr>
          <a:xfrm flipH="1">
            <a:off x="20749036" y="14153867"/>
            <a:ext cx="173" cy="29088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6A9FE30-4D2D-251E-AF1B-C3171FC217B4}"/>
              </a:ext>
            </a:extLst>
          </p:cNvPr>
          <p:cNvSpPr txBox="1"/>
          <p:nvPr/>
        </p:nvSpPr>
        <p:spPr>
          <a:xfrm>
            <a:off x="20756285" y="12967427"/>
            <a:ext cx="823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25R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C06EFF-E133-E94A-C332-C47CECCFAF4C}"/>
              </a:ext>
            </a:extLst>
          </p:cNvPr>
          <p:cNvSpPr txBox="1"/>
          <p:nvPr/>
        </p:nvSpPr>
        <p:spPr>
          <a:xfrm>
            <a:off x="20729627" y="15238942"/>
            <a:ext cx="823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30R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7761810-1B9B-E733-5EFF-3753721D1A64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7452733" y="13896828"/>
            <a:ext cx="1069466" cy="235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01DAE9F-6DF1-FFC0-C5C9-43A6D256B23D}"/>
              </a:ext>
            </a:extLst>
          </p:cNvPr>
          <p:cNvSpPr txBox="1"/>
          <p:nvPr/>
        </p:nvSpPr>
        <p:spPr>
          <a:xfrm>
            <a:off x="15546130" y="14385471"/>
            <a:ext cx="205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Stationary domain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BB86A0-B4DA-CF71-5CEA-940025A3A3D4}"/>
              </a:ext>
            </a:extLst>
          </p:cNvPr>
          <p:cNvSpPr txBox="1"/>
          <p:nvPr/>
        </p:nvSpPr>
        <p:spPr>
          <a:xfrm>
            <a:off x="14691993" y="12453105"/>
            <a:ext cx="205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Rotating domain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615B92C-554A-DABC-E8F3-B1354B417A5B}"/>
              </a:ext>
            </a:extLst>
          </p:cNvPr>
          <p:cNvCxnSpPr>
            <a:cxnSpLocks/>
            <a:stCxn id="72" idx="2"/>
          </p:cNvCxnSpPr>
          <p:nvPr/>
        </p:nvCxnSpPr>
        <p:spPr>
          <a:xfrm>
            <a:off x="15720174" y="12822437"/>
            <a:ext cx="522895" cy="87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0341E21-57A0-5A74-E62D-BAAD2D2492B2}"/>
              </a:ext>
            </a:extLst>
          </p:cNvPr>
          <p:cNvSpPr txBox="1"/>
          <p:nvPr/>
        </p:nvSpPr>
        <p:spPr>
          <a:xfrm>
            <a:off x="4561115" y="31966351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1: SNLF rotor blade geometry.</a:t>
            </a:r>
          </a:p>
        </p:txBody>
      </p:sp>
      <p:sp>
        <p:nvSpPr>
          <p:cNvPr id="78" name="Text Placeholder 15">
            <a:extLst>
              <a:ext uri="{FF2B5EF4-FFF2-40B4-BE49-F238E27FC236}">
                <a16:creationId xmlns:a16="http://schemas.microsoft.com/office/drawing/2014/main" id="{4B973E81-1B74-0309-D393-24679A8F0222}"/>
              </a:ext>
            </a:extLst>
          </p:cNvPr>
          <p:cNvSpPr txBox="1">
            <a:spLocks/>
          </p:cNvSpPr>
          <p:nvPr/>
        </p:nvSpPr>
        <p:spPr>
          <a:xfrm>
            <a:off x="29718381" y="28801758"/>
            <a:ext cx="12474649" cy="830997"/>
          </a:xfrm>
          <a:prstGeom prst="rect">
            <a:avLst/>
          </a:prstGeom>
          <a:solidFill>
            <a:srgbClr val="1E407C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/>
              <a:t>Reference</a:t>
            </a:r>
          </a:p>
        </p:txBody>
      </p:sp>
      <p:sp>
        <p:nvSpPr>
          <p:cNvPr id="79" name="Content Placeholder 24">
            <a:extLst>
              <a:ext uri="{FF2B5EF4-FFF2-40B4-BE49-F238E27FC236}">
                <a16:creationId xmlns:a16="http://schemas.microsoft.com/office/drawing/2014/main" id="{3EF0C31C-42A1-B999-CB2B-2CE9463C221F}"/>
              </a:ext>
            </a:extLst>
          </p:cNvPr>
          <p:cNvSpPr txBox="1">
            <a:spLocks/>
          </p:cNvSpPr>
          <p:nvPr/>
        </p:nvSpPr>
        <p:spPr>
          <a:xfrm>
            <a:off x="29694413" y="29729121"/>
            <a:ext cx="12474835" cy="2237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097280" indent="-1097280" algn="l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324000" algn="just">
              <a:spcBef>
                <a:spcPts val="600"/>
              </a:spcBef>
              <a:buFont typeface="+mj-lt"/>
              <a:buAutoNum type="arabicPeriod"/>
            </a:pPr>
            <a:r>
              <a:rPr lang="en-US" sz="2800" dirty="0"/>
              <a:t>Axten, C., Keflemariam, Y., &amp; Coder, J., “Assessment of a slotted, natural-laminar-flow airfoil for advanced air mobility applications,” 81st Annual VFS Forum. 2025</a:t>
            </a:r>
          </a:p>
          <a:p>
            <a:pPr marL="180000" indent="-324000" algn="just">
              <a:spcBef>
                <a:spcPts val="600"/>
              </a:spcBef>
              <a:buFont typeface="+mj-lt"/>
              <a:buAutoNum type="arabicPeriod"/>
            </a:pPr>
            <a:r>
              <a:rPr lang="en-US" sz="2800" dirty="0"/>
              <a:t> Somers, D., and Maughmer, M., “Design and Experimental Results for a Low-Speed, Flapped, Slotted, Natural-Laminar-Flow Airfoil,” NASA/CR-2022-0014964, 2022.</a:t>
            </a:r>
          </a:p>
          <a:p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BA342187-3839-E451-5BE7-D1E28C6160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1993" y="26551180"/>
            <a:ext cx="11772396" cy="2517866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D692C24-4A05-F47C-D91F-F397FC5CD1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8384" y="21834100"/>
            <a:ext cx="4840514" cy="381731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C04C11B6-5FD4-4095-08EB-C61F13A025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94860" y="21760023"/>
            <a:ext cx="4840514" cy="3891394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11AAC8D-1AE8-28EF-A13B-50BECDD00117}"/>
              </a:ext>
            </a:extLst>
          </p:cNvPr>
          <p:cNvSpPr txBox="1"/>
          <p:nvPr/>
        </p:nvSpPr>
        <p:spPr>
          <a:xfrm>
            <a:off x="17263591" y="25715332"/>
            <a:ext cx="8879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3: Coefficient of pressure comparison for SA Turbulence and SA-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𝞬 Transition models, against experimental data at </a:t>
            </a:r>
            <a:r>
              <a:rPr lang="en-US" dirty="0"/>
              <a:t>angle of attack (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𝞪</a:t>
            </a:r>
            <a:r>
              <a:rPr lang="en-US" dirty="0"/>
              <a:t>)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of 0, 4, and 8 degrees.</a:t>
            </a:r>
            <a:endParaRPr lang="en-US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CF54A6C3-36D4-BAC0-E62D-CD5C9299B1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45976" y="21834099"/>
            <a:ext cx="4436826" cy="3817317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D2A73270-EDE9-20F1-9BA1-2E83FFA40E4F}"/>
              </a:ext>
            </a:extLst>
          </p:cNvPr>
          <p:cNvSpPr txBox="1"/>
          <p:nvPr/>
        </p:nvSpPr>
        <p:spPr>
          <a:xfrm>
            <a:off x="18277114" y="17720846"/>
            <a:ext cx="6068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2: Computational domain and surface mesh.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55BE38F-C5C0-98B7-CA26-8FC9A6F09DD3}"/>
              </a:ext>
            </a:extLst>
          </p:cNvPr>
          <p:cNvSpPr txBox="1"/>
          <p:nvPr/>
        </p:nvSpPr>
        <p:spPr>
          <a:xfrm>
            <a:off x="36728400" y="12212220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4(b): Pressure contours at blade surface and radial stations.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0DBFFB4-C2A5-E362-D47F-093B8E0552AD}"/>
              </a:ext>
            </a:extLst>
          </p:cNvPr>
          <p:cNvSpPr txBox="1"/>
          <p:nvPr/>
        </p:nvSpPr>
        <p:spPr>
          <a:xfrm>
            <a:off x="36433533" y="17645800"/>
            <a:ext cx="622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5(b): Skin friction coefficient on upper surface for SA Turbulence (top) and SA-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𝞬 Transition model (bottom).</a:t>
            </a:r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3E08AEE-11C7-ABB6-3E5A-F7809667B5D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4025" r="12946" b="34545"/>
          <a:stretch>
            <a:fillRect/>
          </a:stretch>
        </p:blipFill>
        <p:spPr>
          <a:xfrm>
            <a:off x="36138667" y="13500007"/>
            <a:ext cx="6816933" cy="1384431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68CE22E8-71B5-3410-2107-E9F82268E3A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149" t="23171" r="13417" b="26713"/>
          <a:stretch>
            <a:fillRect/>
          </a:stretch>
        </p:blipFill>
        <p:spPr>
          <a:xfrm>
            <a:off x="36138667" y="15165005"/>
            <a:ext cx="6816933" cy="2331198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5C1C080-97CF-A224-4C07-0A8FE5F4AA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99647" y="13679128"/>
            <a:ext cx="5888056" cy="3444612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47A64A3C-ECB1-4D60-C4DD-76A966CF70C7}"/>
              </a:ext>
            </a:extLst>
          </p:cNvPr>
          <p:cNvSpPr txBox="1"/>
          <p:nvPr/>
        </p:nvSpPr>
        <p:spPr>
          <a:xfrm>
            <a:off x="30339193" y="17288475"/>
            <a:ext cx="5592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5(a): Skin friction coefficient distribution at 70% radial station.</a:t>
            </a: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9C9A2AF1-E055-4BB3-8879-7D3AA7BE4B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567" y="7829388"/>
            <a:ext cx="6069136" cy="3667331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6D5A9110-D4EC-697F-3E40-D802F209BC08}"/>
              </a:ext>
            </a:extLst>
          </p:cNvPr>
          <p:cNvSpPr txBox="1"/>
          <p:nvPr/>
        </p:nvSpPr>
        <p:spPr>
          <a:xfrm>
            <a:off x="30195067" y="12117841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4(a): Sectional coefficient of pressure distribution at 70% radial station.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C431ED30-8AD5-E933-9288-06135609DE1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339193" y="18562230"/>
            <a:ext cx="6620830" cy="2152075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84CA7C35-BE20-855D-C1E0-254B0B21E126}"/>
              </a:ext>
            </a:extLst>
          </p:cNvPr>
          <p:cNvSpPr txBox="1"/>
          <p:nvPr/>
        </p:nvSpPr>
        <p:spPr>
          <a:xfrm>
            <a:off x="30409932" y="20830473"/>
            <a:ext cx="80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2: Comparison of integrated values for the two models.</a:t>
            </a:r>
          </a:p>
        </p:txBody>
      </p:sp>
    </p:spTree>
    <p:extLst>
      <p:ext uri="{BB962C8B-B14F-4D97-AF65-F5344CB8AC3E}">
        <p14:creationId xmlns:p14="http://schemas.microsoft.com/office/powerpoint/2010/main" val="103846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3564</TotalTime>
  <Words>717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Wingdings</vt:lpstr>
      <vt:lpstr>Office 2013 - 2022 Theme</vt:lpstr>
      <vt:lpstr>CFD Investigation of an Isolated AAM Rotor Using a Slotted Natural-Laminar-Flow Airfoil Yisehak A. Keflemariam  Advisor: Dr. James Coder    Co-advisor: Dr. Christopher Axten Department of Aerospace Engineering, Pennsylvania State University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Bower, Samantha Lea</dc:creator>
  <cp:lastModifiedBy>Yisehak Abreham</cp:lastModifiedBy>
  <cp:revision>52</cp:revision>
  <dcterms:created xsi:type="dcterms:W3CDTF">2022-03-28T15:23:10Z</dcterms:created>
  <dcterms:modified xsi:type="dcterms:W3CDTF">2026-09-22T15:51:11Z</dcterms:modified>
</cp:coreProperties>
</file>