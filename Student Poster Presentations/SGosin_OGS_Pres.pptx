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75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DF0D045-0CAB-4957-AB4B-A66DF64D78E5}">
          <p14:sldIdLst>
            <p14:sldId id="7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" dt="2026-09-22T05:08:39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08"/>
  </p:normalViewPr>
  <p:slideViewPr>
    <p:cSldViewPr snapToGrid="0">
      <p:cViewPr varScale="1">
        <p:scale>
          <a:sx n="103" d="100"/>
          <a:sy n="103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in, Samuel" userId="S::sag6096@psu.edu::8892cb2e-34f5-459f-a605-5dd4d9613665" providerId="AD" clId="Web-{00000000-0000-0000-0000-000000000000}"/>
    <pc:docChg chg="modSld">
      <pc:chgData name="Gosin, Samuel" userId="S::sag6096@psu.edu::8892cb2e-34f5-459f-a605-5dd4d9613665" providerId="AD" clId="Web-{00000000-0000-0000-0000-000000000000}" dt="2026-09-22T05:08:39.553" v="4" actId="20577"/>
      <pc:docMkLst>
        <pc:docMk/>
      </pc:docMkLst>
      <pc:sldChg chg="modSp">
        <pc:chgData name="Gosin, Samuel" userId="S::sag6096@psu.edu::8892cb2e-34f5-459f-a605-5dd4d9613665" providerId="AD" clId="Web-{00000000-0000-0000-0000-000000000000}" dt="2026-09-22T05:08:39.553" v="4" actId="20577"/>
        <pc:sldMkLst>
          <pc:docMk/>
          <pc:sldMk cId="2834481922" sldId="752"/>
        </pc:sldMkLst>
        <pc:spChg chg="mod">
          <ac:chgData name="Gosin, Samuel" userId="S::sag6096@psu.edu::8892cb2e-34f5-459f-a605-5dd4d9613665" providerId="AD" clId="Web-{00000000-0000-0000-0000-000000000000}" dt="2026-09-22T05:07:57.473" v="3" actId="1076"/>
          <ac:spMkLst>
            <pc:docMk/>
            <pc:sldMk cId="2834481922" sldId="752"/>
            <ac:spMk id="2" creationId="{9E8EAC6D-ACD6-848A-9146-0AE962583B1B}"/>
          </ac:spMkLst>
        </pc:spChg>
        <pc:spChg chg="mod">
          <ac:chgData name="Gosin, Samuel" userId="S::sag6096@psu.edu::8892cb2e-34f5-459f-a605-5dd4d9613665" providerId="AD" clId="Web-{00000000-0000-0000-0000-000000000000}" dt="2026-09-22T05:08:39.553" v="4" actId="20577"/>
          <ac:spMkLst>
            <pc:docMk/>
            <pc:sldMk cId="2834481922" sldId="752"/>
            <ac:spMk id="3" creationId="{37EA3A08-538A-D627-E5CC-C50421B3BA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AAB98-F0B7-7A49-8AD8-99666195728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9BAF7-535A-6242-BE23-F02C7AEAA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0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9BAF7-535A-6242-BE23-F02C7AEAA4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2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BAAF7C3-A3E3-0F4B-BC1E-8BF967B7F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BB73A-1D9A-0B40-812F-E7B3C0CE8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1124712"/>
            <a:ext cx="6370257" cy="13074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BA2DF-E569-3F47-9756-5605F68DD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2596291"/>
            <a:ext cx="6370257" cy="1249844"/>
          </a:xfr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D21693-2D97-B341-9A10-A738BFB4E999}"/>
              </a:ext>
            </a:extLst>
          </p:cNvPr>
          <p:cNvSpPr/>
          <p:nvPr userDrawn="1"/>
        </p:nvSpPr>
        <p:spPr>
          <a:xfrm>
            <a:off x="0" y="5517931"/>
            <a:ext cx="12192000" cy="134006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98341-1D02-9849-9164-B79B204437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52" y="5517931"/>
            <a:ext cx="2839772" cy="131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4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CD6F0D-2556-034A-973E-93D486D5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0"/>
            <a:ext cx="10515600" cy="62020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504DB4-746B-E749-A0E3-B97103A9D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175"/>
            <a:ext cx="10515600" cy="4157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BB397-9D3C-734E-A021-677341C2E952}"/>
              </a:ext>
            </a:extLst>
          </p:cNvPr>
          <p:cNvSpPr/>
          <p:nvPr userDrawn="1"/>
        </p:nvSpPr>
        <p:spPr>
          <a:xfrm>
            <a:off x="0" y="6023728"/>
            <a:ext cx="12192000" cy="83427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202506-E198-D743-98C7-84C599116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2" y="6070820"/>
            <a:ext cx="1742115" cy="8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8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CD6F0D-2556-034A-973E-93D486D5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0"/>
            <a:ext cx="10515600" cy="62020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504DB4-746B-E749-A0E3-B97103A9D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175"/>
            <a:ext cx="4978138" cy="4157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BB397-9D3C-734E-A021-677341C2E952}"/>
              </a:ext>
            </a:extLst>
          </p:cNvPr>
          <p:cNvSpPr/>
          <p:nvPr userDrawn="1"/>
        </p:nvSpPr>
        <p:spPr>
          <a:xfrm>
            <a:off x="0" y="6023728"/>
            <a:ext cx="12192000" cy="83427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202506-E198-D743-98C7-84C599116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47" y="6052732"/>
            <a:ext cx="1742115" cy="805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D5BA00-8839-D74D-BF23-18ABB194A7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76595" y="1527175"/>
            <a:ext cx="5377206" cy="4157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DB4FD-7CBD-0104-D128-5F62668FE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7371" y="625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7494AF-7A60-5941-B7EE-EAEF4DC6AE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0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CD6F0D-2556-034A-973E-93D486D5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0"/>
            <a:ext cx="10515600" cy="62020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504DB4-746B-E749-A0E3-B97103A9D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175"/>
            <a:ext cx="10515600" cy="1574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BB397-9D3C-734E-A021-677341C2E952}"/>
              </a:ext>
            </a:extLst>
          </p:cNvPr>
          <p:cNvSpPr/>
          <p:nvPr userDrawn="1"/>
        </p:nvSpPr>
        <p:spPr>
          <a:xfrm>
            <a:off x="0" y="6023728"/>
            <a:ext cx="12192000" cy="83427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202506-E198-D743-98C7-84C599116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47" y="6052732"/>
            <a:ext cx="1742115" cy="805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D5BA00-8839-D74D-BF23-18ABB194A7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3264409"/>
            <a:ext cx="10515601" cy="2759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9134FEF-53B5-0863-0AEA-FA7F10050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7371" y="625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7494AF-7A60-5941-B7EE-EAEF4DC6AE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2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F03D-96E1-EA4A-A5CA-D7B7B645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180"/>
            <a:ext cx="10515600" cy="6202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0111-36C8-C24F-9621-6339CD04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baseline="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baseline="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F5FCF1-62D6-0849-8705-3D4455A3B5BF}"/>
              </a:ext>
            </a:extLst>
          </p:cNvPr>
          <p:cNvSpPr/>
          <p:nvPr userDrawn="1"/>
        </p:nvSpPr>
        <p:spPr>
          <a:xfrm>
            <a:off x="0" y="6023728"/>
            <a:ext cx="12192000" cy="83427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E018F-3B31-194A-8158-5204614E27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47" y="6052732"/>
            <a:ext cx="1742115" cy="805268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18CA3C-B6A2-7810-6225-83C095C10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7371" y="625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7494AF-7A60-5941-B7EE-EAEF4DC6AE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0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--L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60D7-B473-B940-BB52-4F215DBE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5404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71C3E-21D7-0345-9EE2-9CE1F3CF0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50220"/>
            <a:ext cx="10515600" cy="1717482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1772B-3267-9341-A866-A720819393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50" b="26936"/>
          <a:stretch/>
        </p:blipFill>
        <p:spPr>
          <a:xfrm>
            <a:off x="0" y="3264218"/>
            <a:ext cx="12205252" cy="3593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C25ECF-4EC7-234A-96B2-FD1BB006E0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" y="405517"/>
            <a:ext cx="2014018" cy="71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4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--You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60D7-B473-B940-BB52-4F215DBE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34435"/>
            <a:ext cx="10515600" cy="5404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71C3E-21D7-0345-9EE2-9CE1F3CF0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93213"/>
            <a:ext cx="10515600" cy="945264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C25ECF-4EC7-234A-96B2-FD1BB006E0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" y="405517"/>
            <a:ext cx="2014018" cy="713298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5836B3-8827-BE44-B710-51D85012FE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264310"/>
            <a:ext cx="12192000" cy="3593689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4557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--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60D7-B473-B940-BB52-4F215DBE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34435"/>
            <a:ext cx="10515600" cy="5404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71C3E-21D7-0345-9EE2-9CE1F3CF0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93213"/>
            <a:ext cx="10515600" cy="945264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C25ECF-4EC7-234A-96B2-FD1BB006E0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" y="405517"/>
            <a:ext cx="2014018" cy="7132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D92BDD-D388-874A-90F8-43BCD6BEAD2E}"/>
              </a:ext>
            </a:extLst>
          </p:cNvPr>
          <p:cNvSpPr/>
          <p:nvPr userDrawn="1"/>
        </p:nvSpPr>
        <p:spPr>
          <a:xfrm>
            <a:off x="0" y="3254477"/>
            <a:ext cx="12192000" cy="36035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9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BAAF7C3-A3E3-0F4B-BC1E-8BF967B7F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12192000" cy="6851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BB73A-1D9A-0B40-812F-E7B3C0CE89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1248" y="1124712"/>
            <a:ext cx="6528660" cy="65157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D21693-2D97-B341-9A10-A738BFB4E999}"/>
              </a:ext>
            </a:extLst>
          </p:cNvPr>
          <p:cNvSpPr/>
          <p:nvPr userDrawn="1"/>
        </p:nvSpPr>
        <p:spPr>
          <a:xfrm>
            <a:off x="0" y="5517931"/>
            <a:ext cx="12192000" cy="134006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98341-1D02-9849-9164-B79B204437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52" y="5517931"/>
            <a:ext cx="2839772" cy="13126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4ADC273-FF26-7747-9D06-18DA6AC747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248" y="3790462"/>
            <a:ext cx="6528660" cy="1469291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44861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017E7-E765-2E4C-B8EA-6A761B6C4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6650"/>
            <a:ext cx="10515600" cy="4650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1787-F2F1-A240-95DB-6E922CB6F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55D7-F7D2-3D45-AE69-9E630A590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494AF-7A60-5941-B7EE-EAEF4DC6AE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2E68AEDA-2005-BA41-942E-1472FDD7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408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3" r:id="rId3"/>
    <p:sldLayoutId id="2147483664" r:id="rId4"/>
    <p:sldLayoutId id="2147483650" r:id="rId5"/>
    <p:sldLayoutId id="2147483651" r:id="rId6"/>
    <p:sldLayoutId id="2147483661" r:id="rId7"/>
    <p:sldLayoutId id="2147483662" r:id="rId8"/>
    <p:sldLayoutId id="214748366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A3A08-538A-D627-E5CC-C50421B3BA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995" y="1505134"/>
            <a:ext cx="4912647" cy="477477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900" dirty="0"/>
              <a:t>Uncertainty Quantification (UQ) is critical to understand how input variations affect a model’s outputs</a:t>
            </a:r>
          </a:p>
          <a:p>
            <a:r>
              <a:rPr lang="en-US" sz="2900" dirty="0"/>
              <a:t>The Conjugate Unscented Transform (CUT) has shown its capability to account for uncertainty while limiting the computational requirement</a:t>
            </a:r>
            <a:endParaRPr lang="en-US" sz="33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500" dirty="0"/>
              <a:t>Extension of Unscented Transform (UT), higher order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500" dirty="0"/>
              <a:t>Fewer sampling points than Monte Carlo (MC) or quadrature schemes to achieve similar accuracy</a:t>
            </a:r>
          </a:p>
          <a:p>
            <a:r>
              <a:rPr lang="en-US" sz="2900" dirty="0"/>
              <a:t>Spalart-Allmaras (SA) turbulence model used as test case in applicability to Computational Fluid Dynamics (CFD) modeling uncertainty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 dirty="0"/>
              <a:t>Two test cases: 2D Mixing Layer and Turbulent Boundary Layer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500" dirty="0"/>
              <a:t>Across both cases, CUT consistently demonstrated improved accuracy relative to LHS for equivalent sample counts</a:t>
            </a:r>
          </a:p>
          <a:p>
            <a:endParaRPr lang="en-US" dirty="0"/>
          </a:p>
        </p:txBody>
      </p:sp>
      <p:pic>
        <p:nvPicPr>
          <p:cNvPr id="4" name="Picture 10" descr="methodofsol.jpg">
            <a:extLst>
              <a:ext uri="{FF2B5EF4-FFF2-40B4-BE49-F238E27FC236}">
                <a16:creationId xmlns:a16="http://schemas.microsoft.com/office/drawing/2014/main" id="{DD1AD59C-D2C6-95DF-1328-89FDAB385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05155" y="1754863"/>
            <a:ext cx="2827878" cy="139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BC4FDFB-87F9-C077-DD4C-793824701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433" y="1457076"/>
            <a:ext cx="3407567" cy="1987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CACE25-1D96-FDD2-2D11-827B07FBA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642" y="3377552"/>
            <a:ext cx="2667391" cy="2023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075BA-AD37-1C9C-9641-931F12DC70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841" y="3377553"/>
            <a:ext cx="2728412" cy="2023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5D89FA-5B87-713B-CC4B-9E8DFD4BBE52}"/>
              </a:ext>
            </a:extLst>
          </p:cNvPr>
          <p:cNvSpPr txBox="1"/>
          <p:nvPr/>
        </p:nvSpPr>
        <p:spPr>
          <a:xfrm>
            <a:off x="6343632" y="5363745"/>
            <a:ext cx="1911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Latin Hypercube Sampling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BFFBD-2576-0E78-0092-947FB5CF9475}"/>
              </a:ext>
            </a:extLst>
          </p:cNvPr>
          <p:cNvSpPr txBox="1"/>
          <p:nvPr/>
        </p:nvSpPr>
        <p:spPr>
          <a:xfrm>
            <a:off x="8891146" y="5363745"/>
            <a:ext cx="2304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Conjugate Unscented Transform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EAC6D-ACD6-848A-9146-0AE96258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662306"/>
            <a:ext cx="10515600" cy="620202"/>
          </a:xfrm>
        </p:spPr>
        <p:txBody>
          <a:bodyPr>
            <a:noAutofit/>
          </a:bodyPr>
          <a:lstStyle/>
          <a:p>
            <a:r>
              <a:rPr lang="en-US" sz="2400" dirty="0"/>
              <a:t>The Conjugate Unscented Transform for Uncertainty Quantification of the </a:t>
            </a:r>
            <a:r>
              <a:rPr lang="en-US" sz="2400" dirty="0" err="1"/>
              <a:t>Spalart</a:t>
            </a:r>
            <a:r>
              <a:rPr lang="en-US" sz="2400" dirty="0"/>
              <a:t>-Allmaras Turbulence Model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6E159E3-B692-646C-FBAE-21C1DFF78A0B}"/>
              </a:ext>
            </a:extLst>
          </p:cNvPr>
          <p:cNvSpPr txBox="1">
            <a:spLocks/>
          </p:cNvSpPr>
          <p:nvPr/>
        </p:nvSpPr>
        <p:spPr>
          <a:xfrm>
            <a:off x="1981694" y="6283036"/>
            <a:ext cx="8228611" cy="4481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bg2">
                    <a:lumMod val="90000"/>
                  </a:schemeClr>
                </a:solidFill>
              </a:rPr>
              <a:t>Samuel Gosin, Ryan Glenn, Christopher Axten, James Coder, Puneet Singla</a:t>
            </a:r>
          </a:p>
        </p:txBody>
      </p:sp>
    </p:spTree>
    <p:extLst>
      <p:ext uri="{BB962C8B-B14F-4D97-AF65-F5344CB8AC3E}">
        <p14:creationId xmlns:p14="http://schemas.microsoft.com/office/powerpoint/2010/main" val="2834481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D794F48-7A7D-D54C-AA47-0C282524260C}" vid="{894BBDBF-06BB-DB47-A6BB-EED50A27E2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64d349-6bb4-4693-8394-6d034d14ad9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F363B0349E984CB10F5B4CA1445F5D" ma:contentTypeVersion="12" ma:contentTypeDescription="Create a new document." ma:contentTypeScope="" ma:versionID="d91a6bcf843fb5a1252891a7ae759ebc">
  <xsd:schema xmlns:xsd="http://www.w3.org/2001/XMLSchema" xmlns:xs="http://www.w3.org/2001/XMLSchema" xmlns:p="http://schemas.microsoft.com/office/2006/metadata/properties" xmlns:ns3="ce4e6913-0a94-4d19-9bc7-17807c133074" xmlns:ns4="0264d349-6bb4-4693-8394-6d034d14ad98" targetNamespace="http://schemas.microsoft.com/office/2006/metadata/properties" ma:root="true" ma:fieldsID="e8b1fc5012bdfce30977bddb6818aba2" ns3:_="" ns4:_="">
    <xsd:import namespace="ce4e6913-0a94-4d19-9bc7-17807c133074"/>
    <xsd:import namespace="0264d349-6bb4-4693-8394-6d034d14ad9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e6913-0a94-4d19-9bc7-17807c1330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64d349-6bb4-4693-8394-6d034d14ad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C40AF2-678C-4C8C-B549-592D9C4C6951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0264d349-6bb4-4693-8394-6d034d14ad98"/>
    <ds:schemaRef ds:uri="http://schemas.openxmlformats.org/package/2006/metadata/core-properties"/>
    <ds:schemaRef ds:uri="http://schemas.microsoft.com/office/infopath/2007/PartnerControls"/>
    <ds:schemaRef ds:uri="ce4e6913-0a94-4d19-9bc7-17807c133074"/>
  </ds:schemaRefs>
</ds:datastoreItem>
</file>

<file path=customXml/itemProps2.xml><?xml version="1.0" encoding="utf-8"?>
<ds:datastoreItem xmlns:ds="http://schemas.openxmlformats.org/officeDocument/2006/customXml" ds:itemID="{23EDBA24-C189-423D-84C1-59F4884EF8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65A334-9043-4F34-B134-D5F2F600F5C7}">
  <ds:schemaRefs>
    <ds:schemaRef ds:uri="0264d349-6bb4-4693-8394-6d034d14ad98"/>
    <ds:schemaRef ds:uri="ce4e6913-0a94-4d19-9bc7-17807c1330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142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Conjugate Unscented Transform for Uncertainty Quantification of the Spalart-Allmaras Turbulence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and Non-Intrusive  Frameworks for Uncertainty and Sensitivity Analysis of RANS-Based Boundary-Layer Closure Modeling Comprehensive Exam, Spring 2026</dc:title>
  <dc:creator>Gosin, Samuel</dc:creator>
  <cp:lastModifiedBy>Gosin, Samuel</cp:lastModifiedBy>
  <cp:revision>11</cp:revision>
  <cp:lastPrinted>1601-01-01T00:00:00Z</cp:lastPrinted>
  <dcterms:created xsi:type="dcterms:W3CDTF">2025-12-11T19:50:37Z</dcterms:created>
  <dcterms:modified xsi:type="dcterms:W3CDTF">2026-09-22T05:08:49Z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0x010100BEF363B0349E984CB10F5B4CA1445F5D</vt:lpwstr>
  </property>
</Properties>
</file>