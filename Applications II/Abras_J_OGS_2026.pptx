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ebm" ContentType="video/webm"/>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4" r:id="rId1"/>
    <p:sldMasterId id="2147483737" r:id="rId2"/>
    <p:sldMasterId id="2147483755" r:id="rId3"/>
    <p:sldMasterId id="2147483773" r:id="rId4"/>
  </p:sldMasterIdLst>
  <p:notesMasterIdLst>
    <p:notesMasterId r:id="rId43"/>
  </p:notesMasterIdLst>
  <p:handoutMasterIdLst>
    <p:handoutMasterId r:id="rId44"/>
  </p:handoutMasterIdLst>
  <p:sldIdLst>
    <p:sldId id="267" r:id="rId5"/>
    <p:sldId id="268" r:id="rId6"/>
    <p:sldId id="431" r:id="rId7"/>
    <p:sldId id="434" r:id="rId8"/>
    <p:sldId id="435" r:id="rId9"/>
    <p:sldId id="436" r:id="rId10"/>
    <p:sldId id="437" r:id="rId11"/>
    <p:sldId id="440" r:id="rId12"/>
    <p:sldId id="439" r:id="rId13"/>
    <p:sldId id="441" r:id="rId14"/>
    <p:sldId id="443" r:id="rId15"/>
    <p:sldId id="442" r:id="rId16"/>
    <p:sldId id="444" r:id="rId17"/>
    <p:sldId id="464" r:id="rId18"/>
    <p:sldId id="463" r:id="rId19"/>
    <p:sldId id="476" r:id="rId20"/>
    <p:sldId id="451" r:id="rId21"/>
    <p:sldId id="452" r:id="rId22"/>
    <p:sldId id="449" r:id="rId23"/>
    <p:sldId id="474" r:id="rId24"/>
    <p:sldId id="445" r:id="rId25"/>
    <p:sldId id="450" r:id="rId26"/>
    <p:sldId id="465" r:id="rId27"/>
    <p:sldId id="454" r:id="rId28"/>
    <p:sldId id="446" r:id="rId29"/>
    <p:sldId id="455" r:id="rId30"/>
    <p:sldId id="472" r:id="rId31"/>
    <p:sldId id="473" r:id="rId32"/>
    <p:sldId id="461" r:id="rId33"/>
    <p:sldId id="478" r:id="rId34"/>
    <p:sldId id="479" r:id="rId35"/>
    <p:sldId id="428" r:id="rId36"/>
    <p:sldId id="447" r:id="rId37"/>
    <p:sldId id="457" r:id="rId38"/>
    <p:sldId id="459" r:id="rId39"/>
    <p:sldId id="448" r:id="rId40"/>
    <p:sldId id="460" r:id="rId41"/>
    <p:sldId id="47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0059"/>
    <a:srgbClr val="303030"/>
    <a:srgbClr val="C00000"/>
    <a:srgbClr val="812928"/>
    <a:srgbClr val="A6A6A6"/>
    <a:srgbClr val="FFFF00"/>
    <a:srgbClr val="C4BD97"/>
    <a:srgbClr val="CF5152"/>
    <a:srgbClr val="F2F2F2"/>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60" autoAdjust="0"/>
    <p:restoredTop sz="89868" autoAdjust="0"/>
  </p:normalViewPr>
  <p:slideViewPr>
    <p:cSldViewPr snapToGrid="0">
      <p:cViewPr varScale="1">
        <p:scale>
          <a:sx n="88" d="100"/>
          <a:sy n="88" d="100"/>
        </p:scale>
        <p:origin x="354" y="9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4" d="100"/>
          <a:sy n="64" d="100"/>
        </p:scale>
        <p:origin x="-3144" y="-7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09098E8-95B9-402F-ACF7-ADD5DDDA507E}" type="datetimeFigureOut">
              <a:rPr lang="en-US" smtClean="0"/>
              <a:pPr/>
              <a:t>9/17/2026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62026F6-C512-4483-B1C6-294204BEBACA}" type="slidenum">
              <a:rPr lang="en-US" smtClean="0"/>
              <a:pPr/>
              <a:t>‹#›</a:t>
            </a:fld>
            <a:endParaRPr lang="en-US"/>
          </a:p>
        </p:txBody>
      </p:sp>
    </p:spTree>
    <p:extLst>
      <p:ext uri="{BB962C8B-B14F-4D97-AF65-F5344CB8AC3E}">
        <p14:creationId xmlns:p14="http://schemas.microsoft.com/office/powerpoint/2010/main" val="2029772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FA7B31-5DB6-40EE-BB85-4001E1770444}" type="datetimeFigureOut">
              <a:rPr lang="en-US" smtClean="0"/>
              <a:pPr/>
              <a:t>9/17/2026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2AD896-584F-4D15-9540-179520A096AE}" type="slidenum">
              <a:rPr lang="en-US" smtClean="0"/>
              <a:pPr/>
              <a:t>‹#›</a:t>
            </a:fld>
            <a:endParaRPr lang="en-US"/>
          </a:p>
        </p:txBody>
      </p:sp>
    </p:spTree>
    <p:extLst>
      <p:ext uri="{BB962C8B-B14F-4D97-AF65-F5344CB8AC3E}">
        <p14:creationId xmlns:p14="http://schemas.microsoft.com/office/powerpoint/2010/main" val="4162996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455BA-88E6-0F16-3EC8-572848033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39884-B7BE-D7AE-2D7D-4D0648D10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93587-A1C0-CF44-126B-D8927E07E2A2}"/>
              </a:ext>
            </a:extLst>
          </p:cNvPr>
          <p:cNvSpPr>
            <a:spLocks noGrp="1"/>
          </p:cNvSpPr>
          <p:nvPr>
            <p:ph type="body" idx="1"/>
          </p:nvPr>
        </p:nvSpPr>
        <p:spPr/>
        <p:txBody>
          <a:bodyPr/>
          <a:lstStyle/>
          <a:p>
            <a:r>
              <a:rPr lang="en-US" dirty="0"/>
              <a:t>I am going to start with this generic simulation-centric engineering workflow.  The simulation specific tasks are represented by the dark red boxes, which influence the pre and post processing of information going into and coming out of the software.  Which in turn influence the gathering and reporting of information.  Thus, the simulation tasks influence the entire workflow to varying degrees.</a:t>
            </a:r>
          </a:p>
        </p:txBody>
      </p:sp>
      <p:sp>
        <p:nvSpPr>
          <p:cNvPr id="4" name="Slide Number Placeholder 3">
            <a:extLst>
              <a:ext uri="{FF2B5EF4-FFF2-40B4-BE49-F238E27FC236}">
                <a16:creationId xmlns:a16="http://schemas.microsoft.com/office/drawing/2014/main" id="{61F89DEB-C942-70B1-6D33-778FB4717700}"/>
              </a:ext>
            </a:extLst>
          </p:cNvPr>
          <p:cNvSpPr>
            <a:spLocks noGrp="1"/>
          </p:cNvSpPr>
          <p:nvPr>
            <p:ph type="sldNum" sz="quarter" idx="5"/>
          </p:nvPr>
        </p:nvSpPr>
        <p:spPr/>
        <p:txBody>
          <a:bodyPr/>
          <a:lstStyle/>
          <a:p>
            <a:fld id="{F22AD896-584F-4D15-9540-179520A096AE}" type="slidenum">
              <a:rPr lang="en-US" smtClean="0"/>
              <a:pPr/>
              <a:t>3</a:t>
            </a:fld>
            <a:endParaRPr lang="en-US"/>
          </a:p>
        </p:txBody>
      </p:sp>
    </p:spTree>
    <p:extLst>
      <p:ext uri="{BB962C8B-B14F-4D97-AF65-F5344CB8AC3E}">
        <p14:creationId xmlns:p14="http://schemas.microsoft.com/office/powerpoint/2010/main" val="4196718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A8FBD-E184-6A89-5704-A44507ECB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1647E-7B46-B943-B212-45C29E780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9776B4-B24C-57AF-6B84-E676DF971DC7}"/>
              </a:ext>
            </a:extLst>
          </p:cNvPr>
          <p:cNvSpPr>
            <a:spLocks noGrp="1"/>
          </p:cNvSpPr>
          <p:nvPr>
            <p:ph type="body" idx="1"/>
          </p:nvPr>
        </p:nvSpPr>
        <p:spPr/>
        <p:txBody>
          <a:bodyPr/>
          <a:lstStyle/>
          <a:p>
            <a:r>
              <a:rPr lang="en-US" dirty="0"/>
              <a:t>CREATE has a wide variety of tools available including tools for both fixed and rotary wing air vehicles, design, surrogate modeling, ships, RF, ground vehicles and grid generation.  In the current effort I am focusing on Capstone and Helios which are the grid generation and rotary wing air vehicle software packages.</a:t>
            </a:r>
          </a:p>
        </p:txBody>
      </p:sp>
      <p:sp>
        <p:nvSpPr>
          <p:cNvPr id="4" name="Slide Number Placeholder 3">
            <a:extLst>
              <a:ext uri="{FF2B5EF4-FFF2-40B4-BE49-F238E27FC236}">
                <a16:creationId xmlns:a16="http://schemas.microsoft.com/office/drawing/2014/main" id="{25670118-1AA2-948D-5040-D508479911AE}"/>
              </a:ext>
            </a:extLst>
          </p:cNvPr>
          <p:cNvSpPr>
            <a:spLocks noGrp="1"/>
          </p:cNvSpPr>
          <p:nvPr>
            <p:ph type="sldNum" sz="quarter" idx="5"/>
          </p:nvPr>
        </p:nvSpPr>
        <p:spPr/>
        <p:txBody>
          <a:bodyPr/>
          <a:lstStyle/>
          <a:p>
            <a:fld id="{F22AD896-584F-4D15-9540-179520A096AE}" type="slidenum">
              <a:rPr lang="en-US" smtClean="0"/>
              <a:pPr/>
              <a:t>4</a:t>
            </a:fld>
            <a:endParaRPr lang="en-US"/>
          </a:p>
        </p:txBody>
      </p:sp>
    </p:spTree>
    <p:extLst>
      <p:ext uri="{BB962C8B-B14F-4D97-AF65-F5344CB8AC3E}">
        <p14:creationId xmlns:p14="http://schemas.microsoft.com/office/powerpoint/2010/main" val="495327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080A9-23F7-CA76-1CF9-FC01FAE47C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F25B9C-8DAD-980B-DBD0-FEA4D71678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EA26A-067B-842E-65F8-61411D9B317D}"/>
              </a:ext>
            </a:extLst>
          </p:cNvPr>
          <p:cNvSpPr>
            <a:spLocks noGrp="1"/>
          </p:cNvSpPr>
          <p:nvPr>
            <p:ph type="body" idx="1"/>
          </p:nvPr>
        </p:nvSpPr>
        <p:spPr/>
        <p:txBody>
          <a:bodyPr/>
          <a:lstStyle/>
          <a:p>
            <a:r>
              <a:rPr lang="en-US" dirty="0"/>
              <a:t>Specifically we will be looking at the relation between these three items and how recent features can save time in the workflow.</a:t>
            </a:r>
          </a:p>
        </p:txBody>
      </p:sp>
      <p:sp>
        <p:nvSpPr>
          <p:cNvPr id="4" name="Slide Number Placeholder 3">
            <a:extLst>
              <a:ext uri="{FF2B5EF4-FFF2-40B4-BE49-F238E27FC236}">
                <a16:creationId xmlns:a16="http://schemas.microsoft.com/office/drawing/2014/main" id="{E75FE772-3C69-8882-289B-10FA07822047}"/>
              </a:ext>
            </a:extLst>
          </p:cNvPr>
          <p:cNvSpPr>
            <a:spLocks noGrp="1"/>
          </p:cNvSpPr>
          <p:nvPr>
            <p:ph type="sldNum" sz="quarter" idx="5"/>
          </p:nvPr>
        </p:nvSpPr>
        <p:spPr/>
        <p:txBody>
          <a:bodyPr/>
          <a:lstStyle/>
          <a:p>
            <a:fld id="{F22AD896-584F-4D15-9540-179520A096AE}" type="slidenum">
              <a:rPr lang="en-US" smtClean="0"/>
              <a:pPr/>
              <a:t>5</a:t>
            </a:fld>
            <a:endParaRPr lang="en-US"/>
          </a:p>
        </p:txBody>
      </p:sp>
    </p:spTree>
    <p:extLst>
      <p:ext uri="{BB962C8B-B14F-4D97-AF65-F5344CB8AC3E}">
        <p14:creationId xmlns:p14="http://schemas.microsoft.com/office/powerpoint/2010/main" val="1475946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D37DF-5A18-82DB-D706-EDE7B0C09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6B924-2F7B-A1E0-D529-8A370310F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99D438-2105-5A80-D000-89CA81D3BD47}"/>
              </a:ext>
            </a:extLst>
          </p:cNvPr>
          <p:cNvSpPr>
            <a:spLocks noGrp="1"/>
          </p:cNvSpPr>
          <p:nvPr>
            <p:ph type="body" idx="1"/>
          </p:nvPr>
        </p:nvSpPr>
        <p:spPr/>
        <p:txBody>
          <a:bodyPr/>
          <a:lstStyle/>
          <a:p>
            <a:r>
              <a:rPr lang="en-US" dirty="0"/>
              <a:t>The features discussed are shrink-wrapping which reduces the Pre-Processing time, auto-meshing which reduces the time spent in grid generation, and GPU execution which reduces the simulation wall time</a:t>
            </a:r>
          </a:p>
        </p:txBody>
      </p:sp>
      <p:sp>
        <p:nvSpPr>
          <p:cNvPr id="4" name="Slide Number Placeholder 3">
            <a:extLst>
              <a:ext uri="{FF2B5EF4-FFF2-40B4-BE49-F238E27FC236}">
                <a16:creationId xmlns:a16="http://schemas.microsoft.com/office/drawing/2014/main" id="{684652F7-8178-651C-BDF9-0A94EA55B1C4}"/>
              </a:ext>
            </a:extLst>
          </p:cNvPr>
          <p:cNvSpPr>
            <a:spLocks noGrp="1"/>
          </p:cNvSpPr>
          <p:nvPr>
            <p:ph type="sldNum" sz="quarter" idx="5"/>
          </p:nvPr>
        </p:nvSpPr>
        <p:spPr/>
        <p:txBody>
          <a:bodyPr/>
          <a:lstStyle/>
          <a:p>
            <a:fld id="{F22AD896-584F-4D15-9540-179520A096AE}" type="slidenum">
              <a:rPr lang="en-US" smtClean="0"/>
              <a:pPr/>
              <a:t>6</a:t>
            </a:fld>
            <a:endParaRPr lang="en-US"/>
          </a:p>
        </p:txBody>
      </p:sp>
    </p:spTree>
    <p:extLst>
      <p:ext uri="{BB962C8B-B14F-4D97-AF65-F5344CB8AC3E}">
        <p14:creationId xmlns:p14="http://schemas.microsoft.com/office/powerpoint/2010/main" val="3351527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7</a:t>
            </a:fld>
            <a:endParaRPr lang="en-US"/>
          </a:p>
        </p:txBody>
      </p:sp>
    </p:spTree>
    <p:extLst>
      <p:ext uri="{BB962C8B-B14F-4D97-AF65-F5344CB8AC3E}">
        <p14:creationId xmlns:p14="http://schemas.microsoft.com/office/powerpoint/2010/main" val="2208811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82961-7C11-7C89-0FD6-5869288DE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BB49A-060B-3C4E-5E21-2E9D6B67A2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885B08-DF4C-2399-5137-84531406D2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8B3E99-BEFC-D99B-9FF5-6674F998DE88}"/>
              </a:ext>
            </a:extLst>
          </p:cNvPr>
          <p:cNvSpPr>
            <a:spLocks noGrp="1"/>
          </p:cNvSpPr>
          <p:nvPr>
            <p:ph type="sldNum" sz="quarter" idx="5"/>
          </p:nvPr>
        </p:nvSpPr>
        <p:spPr/>
        <p:txBody>
          <a:bodyPr/>
          <a:lstStyle/>
          <a:p>
            <a:fld id="{F22AD896-584F-4D15-9540-179520A096AE}" type="slidenum">
              <a:rPr lang="en-US" smtClean="0"/>
              <a:pPr/>
              <a:t>8</a:t>
            </a:fld>
            <a:endParaRPr lang="en-US"/>
          </a:p>
        </p:txBody>
      </p:sp>
    </p:spTree>
    <p:extLst>
      <p:ext uri="{BB962C8B-B14F-4D97-AF65-F5344CB8AC3E}">
        <p14:creationId xmlns:p14="http://schemas.microsoft.com/office/powerpoint/2010/main" val="2072279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9</a:t>
            </a:fld>
            <a:endParaRPr lang="en-US"/>
          </a:p>
        </p:txBody>
      </p:sp>
    </p:spTree>
    <p:extLst>
      <p:ext uri="{BB962C8B-B14F-4D97-AF65-F5344CB8AC3E}">
        <p14:creationId xmlns:p14="http://schemas.microsoft.com/office/powerpoint/2010/main" val="727209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10</a:t>
            </a:fld>
            <a:endParaRPr lang="en-US"/>
          </a:p>
        </p:txBody>
      </p:sp>
    </p:spTree>
    <p:extLst>
      <p:ext uri="{BB962C8B-B14F-4D97-AF65-F5344CB8AC3E}">
        <p14:creationId xmlns:p14="http://schemas.microsoft.com/office/powerpoint/2010/main" val="3512979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11</a:t>
            </a:fld>
            <a:endParaRPr lang="en-US"/>
          </a:p>
        </p:txBody>
      </p:sp>
    </p:spTree>
    <p:extLst>
      <p:ext uri="{BB962C8B-B14F-4D97-AF65-F5344CB8AC3E}">
        <p14:creationId xmlns:p14="http://schemas.microsoft.com/office/powerpoint/2010/main" val="1806635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12</a:t>
            </a:fld>
            <a:endParaRPr lang="en-US"/>
          </a:p>
        </p:txBody>
      </p:sp>
    </p:spTree>
    <p:extLst>
      <p:ext uri="{BB962C8B-B14F-4D97-AF65-F5344CB8AC3E}">
        <p14:creationId xmlns:p14="http://schemas.microsoft.com/office/powerpoint/2010/main" val="3719403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13</a:t>
            </a:fld>
            <a:endParaRPr lang="en-US"/>
          </a:p>
        </p:txBody>
      </p:sp>
    </p:spTree>
    <p:extLst>
      <p:ext uri="{BB962C8B-B14F-4D97-AF65-F5344CB8AC3E}">
        <p14:creationId xmlns:p14="http://schemas.microsoft.com/office/powerpoint/2010/main" val="21907473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14</a:t>
            </a:fld>
            <a:endParaRPr lang="en-US"/>
          </a:p>
        </p:txBody>
      </p:sp>
    </p:spTree>
    <p:extLst>
      <p:ext uri="{BB962C8B-B14F-4D97-AF65-F5344CB8AC3E}">
        <p14:creationId xmlns:p14="http://schemas.microsoft.com/office/powerpoint/2010/main" val="725726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15</a:t>
            </a:fld>
            <a:endParaRPr lang="en-US"/>
          </a:p>
        </p:txBody>
      </p:sp>
    </p:spTree>
    <p:extLst>
      <p:ext uri="{BB962C8B-B14F-4D97-AF65-F5344CB8AC3E}">
        <p14:creationId xmlns:p14="http://schemas.microsoft.com/office/powerpoint/2010/main" val="4119503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CB69-0525-2A7B-F586-66D1314013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F9A20-077F-1FFA-79B4-81FC20E3F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F87844-A7A6-9260-D24B-9C6C0875AB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95A8B8-62F9-9750-3C00-577AD14C503E}"/>
              </a:ext>
            </a:extLst>
          </p:cNvPr>
          <p:cNvSpPr>
            <a:spLocks noGrp="1"/>
          </p:cNvSpPr>
          <p:nvPr>
            <p:ph type="sldNum" sz="quarter" idx="5"/>
          </p:nvPr>
        </p:nvSpPr>
        <p:spPr/>
        <p:txBody>
          <a:bodyPr/>
          <a:lstStyle/>
          <a:p>
            <a:fld id="{F22AD896-584F-4D15-9540-179520A096AE}" type="slidenum">
              <a:rPr lang="en-US" smtClean="0"/>
              <a:pPr/>
              <a:t>16</a:t>
            </a:fld>
            <a:endParaRPr lang="en-US"/>
          </a:p>
        </p:txBody>
      </p:sp>
    </p:spTree>
    <p:extLst>
      <p:ext uri="{BB962C8B-B14F-4D97-AF65-F5344CB8AC3E}">
        <p14:creationId xmlns:p14="http://schemas.microsoft.com/office/powerpoint/2010/main" val="8845177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17</a:t>
            </a:fld>
            <a:endParaRPr lang="en-US"/>
          </a:p>
        </p:txBody>
      </p:sp>
    </p:spTree>
    <p:extLst>
      <p:ext uri="{BB962C8B-B14F-4D97-AF65-F5344CB8AC3E}">
        <p14:creationId xmlns:p14="http://schemas.microsoft.com/office/powerpoint/2010/main" val="4093832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18</a:t>
            </a:fld>
            <a:endParaRPr lang="en-US"/>
          </a:p>
        </p:txBody>
      </p:sp>
    </p:spTree>
    <p:extLst>
      <p:ext uri="{BB962C8B-B14F-4D97-AF65-F5344CB8AC3E}">
        <p14:creationId xmlns:p14="http://schemas.microsoft.com/office/powerpoint/2010/main" val="40096008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19</a:t>
            </a:fld>
            <a:endParaRPr lang="en-US"/>
          </a:p>
        </p:txBody>
      </p:sp>
    </p:spTree>
    <p:extLst>
      <p:ext uri="{BB962C8B-B14F-4D97-AF65-F5344CB8AC3E}">
        <p14:creationId xmlns:p14="http://schemas.microsoft.com/office/powerpoint/2010/main" val="22563711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54F80-9AA1-9CFD-0D92-D1119A708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ACC96-6163-B43C-AED5-4212848BAD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872F9-64B9-BD8C-CF32-C258C73B4C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570B31-B527-5CF2-ACB6-B7F911FD2807}"/>
              </a:ext>
            </a:extLst>
          </p:cNvPr>
          <p:cNvSpPr>
            <a:spLocks noGrp="1"/>
          </p:cNvSpPr>
          <p:nvPr>
            <p:ph type="sldNum" sz="quarter" idx="5"/>
          </p:nvPr>
        </p:nvSpPr>
        <p:spPr/>
        <p:txBody>
          <a:bodyPr/>
          <a:lstStyle/>
          <a:p>
            <a:fld id="{F22AD896-584F-4D15-9540-179520A096AE}" type="slidenum">
              <a:rPr lang="en-US" smtClean="0"/>
              <a:pPr/>
              <a:t>20</a:t>
            </a:fld>
            <a:endParaRPr lang="en-US"/>
          </a:p>
        </p:txBody>
      </p:sp>
    </p:spTree>
    <p:extLst>
      <p:ext uri="{BB962C8B-B14F-4D97-AF65-F5344CB8AC3E}">
        <p14:creationId xmlns:p14="http://schemas.microsoft.com/office/powerpoint/2010/main" val="2041966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21</a:t>
            </a:fld>
            <a:endParaRPr lang="en-US"/>
          </a:p>
        </p:txBody>
      </p:sp>
    </p:spTree>
    <p:extLst>
      <p:ext uri="{BB962C8B-B14F-4D97-AF65-F5344CB8AC3E}">
        <p14:creationId xmlns:p14="http://schemas.microsoft.com/office/powerpoint/2010/main" val="724253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22</a:t>
            </a:fld>
            <a:endParaRPr lang="en-US"/>
          </a:p>
        </p:txBody>
      </p:sp>
    </p:spTree>
    <p:extLst>
      <p:ext uri="{BB962C8B-B14F-4D97-AF65-F5344CB8AC3E}">
        <p14:creationId xmlns:p14="http://schemas.microsoft.com/office/powerpoint/2010/main" val="37468447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FA360-3EFC-2274-7B17-0312457C9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79D30-8C4C-BA43-2DF5-1AA098EED5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5483B8-1E0E-4E48-A3A2-83D5FC5DEF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EDBF50-52A4-4AA5-B911-B84442B753BC}"/>
              </a:ext>
            </a:extLst>
          </p:cNvPr>
          <p:cNvSpPr>
            <a:spLocks noGrp="1"/>
          </p:cNvSpPr>
          <p:nvPr>
            <p:ph type="sldNum" sz="quarter" idx="5"/>
          </p:nvPr>
        </p:nvSpPr>
        <p:spPr/>
        <p:txBody>
          <a:bodyPr/>
          <a:lstStyle/>
          <a:p>
            <a:fld id="{F22AD896-584F-4D15-9540-179520A096AE}" type="slidenum">
              <a:rPr lang="en-US" smtClean="0"/>
              <a:pPr/>
              <a:t>23</a:t>
            </a:fld>
            <a:endParaRPr lang="en-US"/>
          </a:p>
        </p:txBody>
      </p:sp>
    </p:spTree>
    <p:extLst>
      <p:ext uri="{BB962C8B-B14F-4D97-AF65-F5344CB8AC3E}">
        <p14:creationId xmlns:p14="http://schemas.microsoft.com/office/powerpoint/2010/main" val="26239648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24</a:t>
            </a:fld>
            <a:endParaRPr lang="en-US"/>
          </a:p>
        </p:txBody>
      </p:sp>
    </p:spTree>
    <p:extLst>
      <p:ext uri="{BB962C8B-B14F-4D97-AF65-F5344CB8AC3E}">
        <p14:creationId xmlns:p14="http://schemas.microsoft.com/office/powerpoint/2010/main" val="3443084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25</a:t>
            </a:fld>
            <a:endParaRPr lang="en-US"/>
          </a:p>
        </p:txBody>
      </p:sp>
    </p:spTree>
    <p:extLst>
      <p:ext uri="{BB962C8B-B14F-4D97-AF65-F5344CB8AC3E}">
        <p14:creationId xmlns:p14="http://schemas.microsoft.com/office/powerpoint/2010/main" val="87216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26</a:t>
            </a:fld>
            <a:endParaRPr lang="en-US"/>
          </a:p>
        </p:txBody>
      </p:sp>
    </p:spTree>
    <p:extLst>
      <p:ext uri="{BB962C8B-B14F-4D97-AF65-F5344CB8AC3E}">
        <p14:creationId xmlns:p14="http://schemas.microsoft.com/office/powerpoint/2010/main" val="41321465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EC7B9-657A-5462-8D86-2CF242A37C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51BE9-07AE-5138-1532-5F8B536A72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1033C5-2281-BE4D-63B2-46A663515F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39771E-4DAD-4A94-65FC-624A26B6E2FD}"/>
              </a:ext>
            </a:extLst>
          </p:cNvPr>
          <p:cNvSpPr>
            <a:spLocks noGrp="1"/>
          </p:cNvSpPr>
          <p:nvPr>
            <p:ph type="sldNum" sz="quarter" idx="5"/>
          </p:nvPr>
        </p:nvSpPr>
        <p:spPr/>
        <p:txBody>
          <a:bodyPr/>
          <a:lstStyle/>
          <a:p>
            <a:fld id="{F22AD896-584F-4D15-9540-179520A096AE}" type="slidenum">
              <a:rPr lang="en-US" smtClean="0"/>
              <a:pPr/>
              <a:t>27</a:t>
            </a:fld>
            <a:endParaRPr lang="en-US"/>
          </a:p>
        </p:txBody>
      </p:sp>
    </p:spTree>
    <p:extLst>
      <p:ext uri="{BB962C8B-B14F-4D97-AF65-F5344CB8AC3E}">
        <p14:creationId xmlns:p14="http://schemas.microsoft.com/office/powerpoint/2010/main" val="24909844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6B21B-69E8-0A7E-8736-9B07401C7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3CAEE-E372-5774-5698-B249581D4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5C6B5-83CE-21FF-7173-C25189542C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985A05-C2B9-B644-4761-13562FD939C7}"/>
              </a:ext>
            </a:extLst>
          </p:cNvPr>
          <p:cNvSpPr>
            <a:spLocks noGrp="1"/>
          </p:cNvSpPr>
          <p:nvPr>
            <p:ph type="sldNum" sz="quarter" idx="5"/>
          </p:nvPr>
        </p:nvSpPr>
        <p:spPr/>
        <p:txBody>
          <a:bodyPr/>
          <a:lstStyle/>
          <a:p>
            <a:fld id="{F22AD896-584F-4D15-9540-179520A096AE}" type="slidenum">
              <a:rPr lang="en-US" smtClean="0"/>
              <a:pPr/>
              <a:t>28</a:t>
            </a:fld>
            <a:endParaRPr lang="en-US"/>
          </a:p>
        </p:txBody>
      </p:sp>
    </p:spTree>
    <p:extLst>
      <p:ext uri="{BB962C8B-B14F-4D97-AF65-F5344CB8AC3E}">
        <p14:creationId xmlns:p14="http://schemas.microsoft.com/office/powerpoint/2010/main" val="8839291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29</a:t>
            </a:fld>
            <a:endParaRPr lang="en-US"/>
          </a:p>
        </p:txBody>
      </p:sp>
    </p:spTree>
    <p:extLst>
      <p:ext uri="{BB962C8B-B14F-4D97-AF65-F5344CB8AC3E}">
        <p14:creationId xmlns:p14="http://schemas.microsoft.com/office/powerpoint/2010/main" val="2337977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Assumptions: 2 H100 nodes, 10 rev equivalent simulation timeframe, engineering fidelity 10% chord/1 deg step size, CPU 10 </a:t>
            </a:r>
            <a:r>
              <a:rPr lang="en-US" dirty="0" err="1"/>
              <a:t>hrs</a:t>
            </a:r>
            <a:r>
              <a:rPr lang="en-US" dirty="0"/>
              <a:t>/rev, GPU 2 </a:t>
            </a:r>
            <a:r>
              <a:rPr lang="en-US" dirty="0" err="1"/>
              <a:t>hrs</a:t>
            </a:r>
            <a:r>
              <a:rPr lang="en-US" dirty="0"/>
              <a:t>/rev</a:t>
            </a:r>
          </a:p>
        </p:txBody>
      </p:sp>
      <p:sp>
        <p:nvSpPr>
          <p:cNvPr id="4" name="Slide Number Placeholder 3"/>
          <p:cNvSpPr>
            <a:spLocks noGrp="1"/>
          </p:cNvSpPr>
          <p:nvPr>
            <p:ph type="sldNum" sz="quarter" idx="5"/>
          </p:nvPr>
        </p:nvSpPr>
        <p:spPr/>
        <p:txBody>
          <a:bodyPr/>
          <a:lstStyle/>
          <a:p>
            <a:fld id="{F22AD896-584F-4D15-9540-179520A096AE}" type="slidenum">
              <a:rPr lang="en-US" smtClean="0"/>
              <a:pPr/>
              <a:t>30</a:t>
            </a:fld>
            <a:endParaRPr lang="en-US"/>
          </a:p>
        </p:txBody>
      </p:sp>
    </p:spTree>
    <p:extLst>
      <p:ext uri="{BB962C8B-B14F-4D97-AF65-F5344CB8AC3E}">
        <p14:creationId xmlns:p14="http://schemas.microsoft.com/office/powerpoint/2010/main" val="5348813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CF86E-DAF0-E750-A1DA-53A42BE99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4E189-0BBE-83D1-6514-093452377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2BEC7-EFDB-F8EC-8978-48172E7823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C09181-5CBE-D99A-39A6-3D62CC2520D8}"/>
              </a:ext>
            </a:extLst>
          </p:cNvPr>
          <p:cNvSpPr>
            <a:spLocks noGrp="1"/>
          </p:cNvSpPr>
          <p:nvPr>
            <p:ph type="sldNum" sz="quarter" idx="5"/>
          </p:nvPr>
        </p:nvSpPr>
        <p:spPr/>
        <p:txBody>
          <a:bodyPr/>
          <a:lstStyle/>
          <a:p>
            <a:fld id="{F22AD896-584F-4D15-9540-179520A096AE}" type="slidenum">
              <a:rPr lang="en-US" smtClean="0"/>
              <a:pPr/>
              <a:t>31</a:t>
            </a:fld>
            <a:endParaRPr lang="en-US"/>
          </a:p>
        </p:txBody>
      </p:sp>
    </p:spTree>
    <p:extLst>
      <p:ext uri="{BB962C8B-B14F-4D97-AF65-F5344CB8AC3E}">
        <p14:creationId xmlns:p14="http://schemas.microsoft.com/office/powerpoint/2010/main" val="28866380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33</a:t>
            </a:fld>
            <a:endParaRPr lang="en-US"/>
          </a:p>
        </p:txBody>
      </p:sp>
    </p:spTree>
    <p:extLst>
      <p:ext uri="{BB962C8B-B14F-4D97-AF65-F5344CB8AC3E}">
        <p14:creationId xmlns:p14="http://schemas.microsoft.com/office/powerpoint/2010/main" val="20370033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34</a:t>
            </a:fld>
            <a:endParaRPr lang="en-US"/>
          </a:p>
        </p:txBody>
      </p:sp>
    </p:spTree>
    <p:extLst>
      <p:ext uri="{BB962C8B-B14F-4D97-AF65-F5344CB8AC3E}">
        <p14:creationId xmlns:p14="http://schemas.microsoft.com/office/powerpoint/2010/main" val="25569391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35</a:t>
            </a:fld>
            <a:endParaRPr lang="en-US"/>
          </a:p>
        </p:txBody>
      </p:sp>
    </p:spTree>
    <p:extLst>
      <p:ext uri="{BB962C8B-B14F-4D97-AF65-F5344CB8AC3E}">
        <p14:creationId xmlns:p14="http://schemas.microsoft.com/office/powerpoint/2010/main" val="4102898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36</a:t>
            </a:fld>
            <a:endParaRPr lang="en-US"/>
          </a:p>
        </p:txBody>
      </p:sp>
    </p:spTree>
    <p:extLst>
      <p:ext uri="{BB962C8B-B14F-4D97-AF65-F5344CB8AC3E}">
        <p14:creationId xmlns:p14="http://schemas.microsoft.com/office/powerpoint/2010/main" val="16407150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2AD896-584F-4D15-9540-179520A096AE}" type="slidenum">
              <a:rPr lang="en-US" smtClean="0"/>
              <a:pPr/>
              <a:t>37</a:t>
            </a:fld>
            <a:endParaRPr lang="en-US"/>
          </a:p>
        </p:txBody>
      </p:sp>
    </p:spTree>
    <p:extLst>
      <p:ext uri="{BB962C8B-B14F-4D97-AF65-F5344CB8AC3E}">
        <p14:creationId xmlns:p14="http://schemas.microsoft.com/office/powerpoint/2010/main" val="846630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4.xml"/><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4.xml"/><Relationship Id="rId4"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None">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3098800" y="5688386"/>
            <a:ext cx="9093200" cy="1097280"/>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latin typeface="Arial" pitchFamily="34" charset="0"/>
              <a:cs typeface="Arial" pitchFamily="34" charset="0"/>
            </a:endParaRPr>
          </a:p>
        </p:txBody>
      </p:sp>
      <p:sp>
        <p:nvSpPr>
          <p:cNvPr id="2" name="Title 1"/>
          <p:cNvSpPr>
            <a:spLocks noGrp="1"/>
          </p:cNvSpPr>
          <p:nvPr>
            <p:ph type="ctrTitle" hasCustomPrompt="1"/>
          </p:nvPr>
        </p:nvSpPr>
        <p:spPr>
          <a:xfrm>
            <a:off x="51888" y="2800644"/>
            <a:ext cx="10668000" cy="646331"/>
          </a:xfrm>
        </p:spPr>
        <p:txBody>
          <a:bodyPr wrap="square">
            <a:spAutoFit/>
          </a:bodyPr>
          <a:lstStyle>
            <a:lvl1pPr algn="l">
              <a:defRPr sz="3600" b="1">
                <a:solidFill>
                  <a:schemeClr val="tx1"/>
                </a:solidFill>
                <a:latin typeface="Arial" pitchFamily="34" charset="0"/>
                <a:cs typeface="Arial" pitchFamily="34" charset="0"/>
              </a:defRPr>
            </a:lvl1pPr>
          </a:lstStyle>
          <a:p>
            <a:r>
              <a:rPr lang="en-US" dirty="0"/>
              <a:t>Presentation Title</a:t>
            </a:r>
          </a:p>
        </p:txBody>
      </p:sp>
      <p:sp>
        <p:nvSpPr>
          <p:cNvPr id="3" name="Subtitle 2"/>
          <p:cNvSpPr>
            <a:spLocks noGrp="1"/>
          </p:cNvSpPr>
          <p:nvPr>
            <p:ph type="subTitle" idx="1" hasCustomPrompt="1"/>
          </p:nvPr>
        </p:nvSpPr>
        <p:spPr>
          <a:xfrm>
            <a:off x="3219851" y="5704863"/>
            <a:ext cx="8795656" cy="369332"/>
          </a:xfrm>
          <a:prstGeom prst="rect">
            <a:avLst/>
          </a:prstGeom>
        </p:spPr>
        <p:txBody>
          <a:bodyPr wrap="square">
            <a:spAutoFit/>
          </a:bodyPr>
          <a:lstStyle>
            <a:lvl1pPr marL="0" indent="0" algn="l">
              <a:spcBef>
                <a:spcPts val="500"/>
              </a:spcBef>
              <a:buNone/>
              <a:defRPr sz="1800" b="1">
                <a:solidFill>
                  <a:schemeClr val="bg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Presenters</a:t>
            </a:r>
          </a:p>
        </p:txBody>
      </p:sp>
      <p:sp>
        <p:nvSpPr>
          <p:cNvPr id="14" name="Rectangle 13"/>
          <p:cNvSpPr/>
          <p:nvPr userDrawn="1"/>
        </p:nvSpPr>
        <p:spPr>
          <a:xfrm>
            <a:off x="508" y="5688386"/>
            <a:ext cx="2999232" cy="1097280"/>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12" name="Rectangle 11"/>
          <p:cNvSpPr/>
          <p:nvPr userDrawn="1"/>
        </p:nvSpPr>
        <p:spPr>
          <a:xfrm>
            <a:off x="10555112" y="0"/>
            <a:ext cx="1636889" cy="301752"/>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7" name="TextBox 6"/>
          <p:cNvSpPr txBox="1"/>
          <p:nvPr userDrawn="1"/>
        </p:nvSpPr>
        <p:spPr>
          <a:xfrm>
            <a:off x="197031" y="4867564"/>
            <a:ext cx="2901769" cy="498763"/>
          </a:xfrm>
          <a:prstGeom prst="rect">
            <a:avLst/>
          </a:prstGeom>
          <a:noFill/>
        </p:spPr>
        <p:txBody>
          <a:bodyPr wrap="square" rtlCol="0">
            <a:spAutoFit/>
          </a:bodyPr>
          <a:lstStyle/>
          <a:p>
            <a:endParaRPr lang="en-US" dirty="0"/>
          </a:p>
        </p:txBody>
      </p:sp>
      <p:sp>
        <p:nvSpPr>
          <p:cNvPr id="21" name="Text Placeholder 2">
            <a:extLst>
              <a:ext uri="{FF2B5EF4-FFF2-40B4-BE49-F238E27FC236}">
                <a16:creationId xmlns:a16="http://schemas.microsoft.com/office/drawing/2014/main" id="{01B96450-A575-8EDD-B07F-83ECF875FF4E}"/>
              </a:ext>
            </a:extLst>
          </p:cNvPr>
          <p:cNvSpPr>
            <a:spLocks noGrp="1"/>
          </p:cNvSpPr>
          <p:nvPr>
            <p:ph type="body" idx="10" hasCustomPrompt="1"/>
          </p:nvPr>
        </p:nvSpPr>
        <p:spPr>
          <a:xfrm>
            <a:off x="51887" y="3424689"/>
            <a:ext cx="10667999" cy="400110"/>
          </a:xfrm>
          <a:prstGeom prst="rect">
            <a:avLst/>
          </a:prstGeo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Presentation Subtitle</a:t>
            </a:r>
          </a:p>
        </p:txBody>
      </p:sp>
      <p:pic>
        <p:nvPicPr>
          <p:cNvPr id="1026" name="Picture 2">
            <a:extLst>
              <a:ext uri="{FF2B5EF4-FFF2-40B4-BE49-F238E27FC236}">
                <a16:creationId xmlns:a16="http://schemas.microsoft.com/office/drawing/2014/main" id="{8CE6FB83-D787-9A0E-E784-D9182A3C5BA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992678" y="361386"/>
            <a:ext cx="1139687" cy="113968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2955046-1C31-B0CC-BFB5-D88FA9652F1E}"/>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344403" y="5704863"/>
            <a:ext cx="2318549" cy="1097279"/>
          </a:xfrm>
          <a:prstGeom prst="rect">
            <a:avLst/>
          </a:prstGeom>
        </p:spPr>
      </p:pic>
      <p:pic>
        <p:nvPicPr>
          <p:cNvPr id="6" name="Picture 5">
            <a:extLst>
              <a:ext uri="{FF2B5EF4-FFF2-40B4-BE49-F238E27FC236}">
                <a16:creationId xmlns:a16="http://schemas.microsoft.com/office/drawing/2014/main" id="{8F8F1BB6-90D4-4745-8882-82C8DAF4E76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0312" y="-279751"/>
            <a:ext cx="4042720" cy="1830949"/>
          </a:xfrm>
          <a:prstGeom prst="rect">
            <a:avLst/>
          </a:prstGeom>
        </p:spPr>
      </p:pic>
      <p:sp>
        <p:nvSpPr>
          <p:cNvPr id="11" name="Rectangle 10">
            <a:extLst>
              <a:ext uri="{FF2B5EF4-FFF2-40B4-BE49-F238E27FC236}">
                <a16:creationId xmlns:a16="http://schemas.microsoft.com/office/drawing/2014/main" id="{D9C3CA0F-F510-C125-D91A-1803BAD68CC7}"/>
              </a:ext>
            </a:extLst>
          </p:cNvPr>
          <p:cNvSpPr/>
          <p:nvPr userDrawn="1"/>
        </p:nvSpPr>
        <p:spPr>
          <a:xfrm>
            <a:off x="0" y="-1"/>
            <a:ext cx="10555112" cy="301752"/>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Tree>
    <p:extLst>
      <p:ext uri="{BB962C8B-B14F-4D97-AF65-F5344CB8AC3E}">
        <p14:creationId xmlns:p14="http://schemas.microsoft.com/office/powerpoint/2010/main" val="114153180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ody_None">
    <p:spTree>
      <p:nvGrpSpPr>
        <p:cNvPr id="1" name=""/>
        <p:cNvGrpSpPr/>
        <p:nvPr/>
      </p:nvGrpSpPr>
      <p:grpSpPr>
        <a:xfrm>
          <a:off x="0" y="0"/>
          <a:ext cx="0" cy="0"/>
          <a:chOff x="0" y="0"/>
          <a:chExt cx="0" cy="0"/>
        </a:xfrm>
      </p:grpSpPr>
      <p:sp>
        <p:nvSpPr>
          <p:cNvPr id="2" name="Title 1"/>
          <p:cNvSpPr>
            <a:spLocks noGrp="1"/>
          </p:cNvSpPr>
          <p:nvPr>
            <p:ph type="title"/>
          </p:nvPr>
        </p:nvSpPr>
        <p:spPr>
          <a:xfrm>
            <a:off x="182880" y="365760"/>
            <a:ext cx="10184673" cy="584775"/>
          </a:xfrm>
        </p:spPr>
        <p:txBody>
          <a:bodyPr/>
          <a:lstStyle/>
          <a:p>
            <a:r>
              <a:rPr lang="en-US" dirty="0"/>
              <a:t>Click to edit Master title style</a:t>
            </a:r>
          </a:p>
        </p:txBody>
      </p:sp>
      <p:sp>
        <p:nvSpPr>
          <p:cNvPr id="3" name="Content Placeholder 2"/>
          <p:cNvSpPr>
            <a:spLocks noGrp="1"/>
          </p:cNvSpPr>
          <p:nvPr>
            <p:ph idx="1"/>
          </p:nvPr>
        </p:nvSpPr>
        <p:spPr>
          <a:xfrm>
            <a:off x="182880" y="1097279"/>
            <a:ext cx="11795760" cy="1585049"/>
          </a:xfrm>
          <a:prstGeom prst="rect">
            <a:avLst/>
          </a:prstGeom>
        </p:spPr>
        <p:txBody>
          <a:bodyPr/>
          <a:lstStyle>
            <a:lvl1pPr>
              <a:defRPr sz="2400"/>
            </a:lvl1pPr>
            <a:lvl2pPr>
              <a:defRPr sz="2000"/>
            </a:lvl2pPr>
            <a:lvl3pPr marL="1027113" indent="-342900">
              <a:buFont typeface="Wingdings" pitchFamily="2" charset="2"/>
              <a:buChar char="§"/>
              <a:defRPr sz="2000"/>
            </a:lvl3pPr>
            <a:lvl4pPr marL="1376363" indent="-346075">
              <a:buFont typeface="Arial" panose="020B0604020202020204" pitchFamily="34" charset="0"/>
              <a:buChar char="•"/>
              <a:defRPr sz="20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3">
            <a:extLst>
              <a:ext uri="{FF2B5EF4-FFF2-40B4-BE49-F238E27FC236}">
                <a16:creationId xmlns:a16="http://schemas.microsoft.com/office/drawing/2014/main" id="{D9B73D31-6A63-7A4C-986B-023423C27D18}"/>
              </a:ext>
            </a:extLst>
          </p:cNvPr>
          <p:cNvSpPr>
            <a:spLocks noGrp="1"/>
          </p:cNvSpPr>
          <p:nvPr>
            <p:ph type="sldNum" sz="quarter" idx="4"/>
          </p:nvPr>
        </p:nvSpPr>
        <p:spPr>
          <a:xfrm>
            <a:off x="11668058" y="6598914"/>
            <a:ext cx="533399" cy="259085"/>
          </a:xfrm>
          <a:prstGeom prst="rect">
            <a:avLst/>
          </a:prstGeom>
        </p:spPr>
        <p:txBody>
          <a:bodyPr vert="horz" lIns="91440" tIns="45720" rIns="91440" bIns="45720" rtlCol="0" anchor="ctr"/>
          <a:lstStyle>
            <a:lvl1pPr algn="r">
              <a:defRPr sz="1200" b="1">
                <a:solidFill>
                  <a:srgbClr val="303030"/>
                </a:solidFill>
                <a:latin typeface="Arial" panose="020B0604020202020204" pitchFamily="34" charset="0"/>
                <a:cs typeface="Arial" panose="020B0604020202020204" pitchFamily="34" charset="0"/>
              </a:defRPr>
            </a:lvl1pPr>
          </a:lstStyle>
          <a:p>
            <a:fld id="{20E7C221-15A6-47A8-9EBA-6BEF4440D1AA}" type="slidenum">
              <a:rPr lang="en-US" smtClean="0"/>
              <a:pPr/>
              <a:t>‹#›</a:t>
            </a:fld>
            <a:endParaRPr lang="en-US" dirty="0"/>
          </a:p>
        </p:txBody>
      </p:sp>
    </p:spTree>
    <p:extLst>
      <p:ext uri="{BB962C8B-B14F-4D97-AF65-F5344CB8AC3E}">
        <p14:creationId xmlns:p14="http://schemas.microsoft.com/office/powerpoint/2010/main" val="2462611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_None">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707886"/>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4052957"/>
            <a:ext cx="10363200" cy="353943"/>
          </a:xfrm>
          <a:prstGeom prst="rect">
            <a:avLst/>
          </a:prstGeom>
        </p:spPr>
        <p:txBody>
          <a:bodyPr anchor="b"/>
          <a:lstStyle>
            <a:lvl1pPr marL="0" indent="0">
              <a:buNone/>
              <a:defRPr sz="17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sldNum" sz="quarter" idx="10"/>
          </p:nvPr>
        </p:nvSpPr>
        <p:spPr/>
        <p:txBody>
          <a:bodyPr/>
          <a:lstStyle/>
          <a:p>
            <a:fld id="{20E7C221-15A6-47A8-9EBA-6BEF4440D1AA}" type="slidenum">
              <a:rPr lang="en-US" smtClean="0"/>
              <a:t>‹#›</a:t>
            </a:fld>
            <a:endParaRPr lang="en-US"/>
          </a:p>
        </p:txBody>
      </p:sp>
    </p:spTree>
    <p:extLst>
      <p:ext uri="{BB962C8B-B14F-4D97-AF65-F5344CB8AC3E}">
        <p14:creationId xmlns:p14="http://schemas.microsoft.com/office/powerpoint/2010/main" val="3360324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Only_No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9FBB4-A72F-C643-BB59-683B62519EDB}"/>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7033241F-EF24-6142-9B8B-2D9AD18A6C2E}"/>
              </a:ext>
            </a:extLst>
          </p:cNvPr>
          <p:cNvSpPr>
            <a:spLocks noGrp="1"/>
          </p:cNvSpPr>
          <p:nvPr>
            <p:ph type="sldNum" sz="quarter" idx="10"/>
          </p:nvPr>
        </p:nvSpPr>
        <p:spPr/>
        <p:txBody>
          <a:bodyPr/>
          <a:lstStyle/>
          <a:p>
            <a:fld id="{20E7C221-15A6-47A8-9EBA-6BEF4440D1AA}" type="slidenum">
              <a:rPr lang="en-US" smtClean="0"/>
              <a:pPr/>
              <a:t>‹#›</a:t>
            </a:fld>
            <a:endParaRPr lang="en-US" dirty="0"/>
          </a:p>
        </p:txBody>
      </p:sp>
    </p:spTree>
    <p:extLst>
      <p:ext uri="{BB962C8B-B14F-4D97-AF65-F5344CB8AC3E}">
        <p14:creationId xmlns:p14="http://schemas.microsoft.com/office/powerpoint/2010/main" val="1877055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Non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20E7C221-15A6-47A8-9EBA-6BEF4440D1AA}" type="slidenum">
              <a:rPr lang="en-US" smtClean="0"/>
              <a:t>‹#›</a:t>
            </a:fld>
            <a:endParaRPr lang="en-US"/>
          </a:p>
        </p:txBody>
      </p:sp>
    </p:spTree>
    <p:extLst>
      <p:ext uri="{BB962C8B-B14F-4D97-AF65-F5344CB8AC3E}">
        <p14:creationId xmlns:p14="http://schemas.microsoft.com/office/powerpoint/2010/main" val="3873468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p:txBody>
          <a:bodyPr/>
          <a:lstStyle/>
          <a:p>
            <a:fld id="{0AB53790-719C-4748-B51D-E976E207180C}" type="slidenum">
              <a:rPr lang="en-US" smtClean="0"/>
              <a:t>‹#›</a:t>
            </a:fld>
            <a:endParaRPr lang="en-US"/>
          </a:p>
        </p:txBody>
      </p:sp>
    </p:spTree>
    <p:extLst>
      <p:ext uri="{BB962C8B-B14F-4D97-AF65-F5344CB8AC3E}">
        <p14:creationId xmlns:p14="http://schemas.microsoft.com/office/powerpoint/2010/main" val="3834920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_DistA">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3098800" y="5688386"/>
            <a:ext cx="9093200" cy="1097280"/>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latin typeface="Arial" pitchFamily="34" charset="0"/>
              <a:cs typeface="Arial" pitchFamily="34" charset="0"/>
            </a:endParaRPr>
          </a:p>
        </p:txBody>
      </p:sp>
      <p:sp>
        <p:nvSpPr>
          <p:cNvPr id="2" name="Title 1"/>
          <p:cNvSpPr>
            <a:spLocks noGrp="1"/>
          </p:cNvSpPr>
          <p:nvPr>
            <p:ph type="ctrTitle" hasCustomPrompt="1"/>
          </p:nvPr>
        </p:nvSpPr>
        <p:spPr>
          <a:xfrm>
            <a:off x="51888" y="2800645"/>
            <a:ext cx="10668000" cy="646331"/>
          </a:xfrm>
        </p:spPr>
        <p:txBody>
          <a:bodyPr wrap="square">
            <a:spAutoFit/>
          </a:bodyPr>
          <a:lstStyle>
            <a:lvl1pPr algn="l">
              <a:defRPr sz="3600" b="1">
                <a:solidFill>
                  <a:schemeClr val="tx1"/>
                </a:solidFill>
                <a:latin typeface="Arial" pitchFamily="34" charset="0"/>
                <a:cs typeface="Arial" pitchFamily="34" charset="0"/>
              </a:defRPr>
            </a:lvl1pPr>
          </a:lstStyle>
          <a:p>
            <a:r>
              <a:rPr lang="en-US" dirty="0"/>
              <a:t>Presentation Title</a:t>
            </a:r>
          </a:p>
        </p:txBody>
      </p:sp>
      <p:sp>
        <p:nvSpPr>
          <p:cNvPr id="3" name="Subtitle 2"/>
          <p:cNvSpPr>
            <a:spLocks noGrp="1"/>
          </p:cNvSpPr>
          <p:nvPr>
            <p:ph type="subTitle" idx="1" hasCustomPrompt="1"/>
          </p:nvPr>
        </p:nvSpPr>
        <p:spPr>
          <a:xfrm>
            <a:off x="3219851" y="5704863"/>
            <a:ext cx="8795656" cy="710451"/>
          </a:xfrm>
          <a:prstGeom prst="rect">
            <a:avLst/>
          </a:prstGeom>
        </p:spPr>
        <p:txBody>
          <a:bodyPr wrap="square">
            <a:spAutoFit/>
          </a:bodyPr>
          <a:lstStyle>
            <a:lvl1pPr marL="0" indent="0" algn="l">
              <a:spcBef>
                <a:spcPts val="500"/>
              </a:spcBef>
              <a:buNone/>
              <a:defRPr sz="1800" b="1">
                <a:solidFill>
                  <a:schemeClr val="bg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Presenters</a:t>
            </a:r>
          </a:p>
          <a:p>
            <a:r>
              <a:rPr lang="en-US" dirty="0"/>
              <a:t>Date</a:t>
            </a:r>
          </a:p>
        </p:txBody>
      </p:sp>
      <p:sp>
        <p:nvSpPr>
          <p:cNvPr id="14" name="Rectangle 13"/>
          <p:cNvSpPr/>
          <p:nvPr userDrawn="1"/>
        </p:nvSpPr>
        <p:spPr>
          <a:xfrm>
            <a:off x="508" y="5688386"/>
            <a:ext cx="2999232" cy="1097280"/>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12" name="Rectangle 11"/>
          <p:cNvSpPr/>
          <p:nvPr userDrawn="1"/>
        </p:nvSpPr>
        <p:spPr>
          <a:xfrm>
            <a:off x="10555112" y="0"/>
            <a:ext cx="1636889" cy="301752"/>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13" name="Rectangle 12"/>
          <p:cNvSpPr/>
          <p:nvPr userDrawn="1"/>
        </p:nvSpPr>
        <p:spPr>
          <a:xfrm>
            <a:off x="0" y="-1"/>
            <a:ext cx="10555112" cy="301752"/>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8" name="TextBox 7"/>
          <p:cNvSpPr txBox="1"/>
          <p:nvPr userDrawn="1"/>
        </p:nvSpPr>
        <p:spPr>
          <a:xfrm>
            <a:off x="3219851" y="6500177"/>
            <a:ext cx="7468471"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dirty="0">
                <a:solidFill>
                  <a:schemeClr val="bg1"/>
                </a:solidFill>
                <a:latin typeface="Arial" pitchFamily="34" charset="0"/>
                <a:cs typeface="Arial" pitchFamily="34" charset="0"/>
              </a:rPr>
              <a:t>DISTRIBUTION STATEMENT A.  Approved for public release.  Distribution is unlimited.</a:t>
            </a:r>
          </a:p>
        </p:txBody>
      </p:sp>
      <p:sp>
        <p:nvSpPr>
          <p:cNvPr id="6" name="Text Placeholder 2">
            <a:extLst>
              <a:ext uri="{FF2B5EF4-FFF2-40B4-BE49-F238E27FC236}">
                <a16:creationId xmlns:a16="http://schemas.microsoft.com/office/drawing/2014/main" id="{54DCED34-4A1D-68C5-90FC-220B9FE72990}"/>
              </a:ext>
            </a:extLst>
          </p:cNvPr>
          <p:cNvSpPr>
            <a:spLocks noGrp="1"/>
          </p:cNvSpPr>
          <p:nvPr>
            <p:ph type="body" idx="10" hasCustomPrompt="1"/>
          </p:nvPr>
        </p:nvSpPr>
        <p:spPr>
          <a:xfrm>
            <a:off x="51887" y="3424689"/>
            <a:ext cx="10667999" cy="400110"/>
          </a:xfrm>
          <a:prstGeom prst="rect">
            <a:avLst/>
          </a:prstGeo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Presentation Subtitle</a:t>
            </a:r>
          </a:p>
        </p:txBody>
      </p:sp>
      <p:pic>
        <p:nvPicPr>
          <p:cNvPr id="7" name="Picture 2">
            <a:extLst>
              <a:ext uri="{FF2B5EF4-FFF2-40B4-BE49-F238E27FC236}">
                <a16:creationId xmlns:a16="http://schemas.microsoft.com/office/drawing/2014/main" id="{F4D0FDE5-BF6A-D826-919F-BF8F35BEC68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992678" y="361386"/>
            <a:ext cx="1139687" cy="113968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D7CCEB0A-ACDD-788A-4171-A088CD79DFD1}"/>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344403" y="5704863"/>
            <a:ext cx="2318549" cy="1097279"/>
          </a:xfrm>
          <a:prstGeom prst="rect">
            <a:avLst/>
          </a:prstGeom>
        </p:spPr>
      </p:pic>
      <p:pic>
        <p:nvPicPr>
          <p:cNvPr id="4" name="Picture 3">
            <a:extLst>
              <a:ext uri="{FF2B5EF4-FFF2-40B4-BE49-F238E27FC236}">
                <a16:creationId xmlns:a16="http://schemas.microsoft.com/office/drawing/2014/main" id="{D8579D80-D528-C969-6F37-580F7352187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0312" y="-279751"/>
            <a:ext cx="4042720" cy="1830949"/>
          </a:xfrm>
          <a:prstGeom prst="rect">
            <a:avLst/>
          </a:prstGeom>
        </p:spPr>
      </p:pic>
    </p:spTree>
    <p:extLst>
      <p:ext uri="{BB962C8B-B14F-4D97-AF65-F5344CB8AC3E}">
        <p14:creationId xmlns:p14="http://schemas.microsoft.com/office/powerpoint/2010/main" val="178992069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Body_DistA">
    <p:spTree>
      <p:nvGrpSpPr>
        <p:cNvPr id="1" name=""/>
        <p:cNvGrpSpPr/>
        <p:nvPr/>
      </p:nvGrpSpPr>
      <p:grpSpPr>
        <a:xfrm>
          <a:off x="0" y="0"/>
          <a:ext cx="0" cy="0"/>
          <a:chOff x="0" y="0"/>
          <a:chExt cx="0" cy="0"/>
        </a:xfrm>
      </p:grpSpPr>
      <p:sp>
        <p:nvSpPr>
          <p:cNvPr id="2" name="Title 1"/>
          <p:cNvSpPr>
            <a:spLocks noGrp="1"/>
          </p:cNvSpPr>
          <p:nvPr>
            <p:ph type="title"/>
          </p:nvPr>
        </p:nvSpPr>
        <p:spPr>
          <a:xfrm>
            <a:off x="182880" y="365760"/>
            <a:ext cx="10184673" cy="584775"/>
          </a:xfrm>
        </p:spPr>
        <p:txBody>
          <a:bodyPr/>
          <a:lstStyle/>
          <a:p>
            <a:r>
              <a:rPr lang="en-US" dirty="0"/>
              <a:t>Click to edit Master title style</a:t>
            </a:r>
          </a:p>
        </p:txBody>
      </p:sp>
      <p:sp>
        <p:nvSpPr>
          <p:cNvPr id="3" name="Content Placeholder 2"/>
          <p:cNvSpPr>
            <a:spLocks noGrp="1"/>
          </p:cNvSpPr>
          <p:nvPr>
            <p:ph idx="1"/>
          </p:nvPr>
        </p:nvSpPr>
        <p:spPr>
          <a:xfrm>
            <a:off x="182880" y="1097279"/>
            <a:ext cx="11795760" cy="1585049"/>
          </a:xfrm>
          <a:prstGeom prst="rect">
            <a:avLst/>
          </a:prstGeom>
        </p:spPr>
        <p:txBody>
          <a:bodyPr/>
          <a:lstStyle>
            <a:lvl1pPr>
              <a:defRPr sz="2400"/>
            </a:lvl1pPr>
            <a:lvl2pPr>
              <a:defRPr sz="2000"/>
            </a:lvl2pPr>
            <a:lvl3pPr marL="1027113" indent="-342900">
              <a:buFont typeface="Wingdings" pitchFamily="2" charset="2"/>
              <a:buChar char="§"/>
              <a:defRPr sz="2000"/>
            </a:lvl3pPr>
            <a:lvl4pPr marL="1376363" indent="-346075">
              <a:buFont typeface="Arial" panose="020B0604020202020204" pitchFamily="34" charset="0"/>
              <a:buChar char="•"/>
              <a:defRPr sz="20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3">
            <a:extLst>
              <a:ext uri="{FF2B5EF4-FFF2-40B4-BE49-F238E27FC236}">
                <a16:creationId xmlns:a16="http://schemas.microsoft.com/office/drawing/2014/main" id="{D9B73D31-6A63-7A4C-986B-023423C27D18}"/>
              </a:ext>
            </a:extLst>
          </p:cNvPr>
          <p:cNvSpPr>
            <a:spLocks noGrp="1"/>
          </p:cNvSpPr>
          <p:nvPr>
            <p:ph type="sldNum" sz="quarter" idx="4"/>
          </p:nvPr>
        </p:nvSpPr>
        <p:spPr>
          <a:xfrm>
            <a:off x="11668058" y="6598914"/>
            <a:ext cx="533399" cy="259085"/>
          </a:xfrm>
          <a:prstGeom prst="rect">
            <a:avLst/>
          </a:prstGeom>
        </p:spPr>
        <p:txBody>
          <a:bodyPr vert="horz" lIns="91440" tIns="45720" rIns="91440" bIns="45720" rtlCol="0" anchor="ctr"/>
          <a:lstStyle>
            <a:lvl1pPr algn="r">
              <a:defRPr sz="1200" b="1">
                <a:solidFill>
                  <a:srgbClr val="303030"/>
                </a:solidFill>
                <a:latin typeface="Arial" panose="020B0604020202020204" pitchFamily="34" charset="0"/>
                <a:cs typeface="Arial" panose="020B0604020202020204" pitchFamily="34" charset="0"/>
              </a:defRPr>
            </a:lvl1pPr>
          </a:lstStyle>
          <a:p>
            <a:fld id="{20E7C221-15A6-47A8-9EBA-6BEF4440D1AA}" type="slidenum">
              <a:rPr lang="en-US" smtClean="0"/>
              <a:pPr/>
              <a:t>‹#›</a:t>
            </a:fld>
            <a:endParaRPr lang="en-US" dirty="0"/>
          </a:p>
        </p:txBody>
      </p:sp>
    </p:spTree>
    <p:extLst>
      <p:ext uri="{BB962C8B-B14F-4D97-AF65-F5344CB8AC3E}">
        <p14:creationId xmlns:p14="http://schemas.microsoft.com/office/powerpoint/2010/main" val="2995284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_DistA">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707886"/>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4052957"/>
            <a:ext cx="10363200" cy="353943"/>
          </a:xfrm>
          <a:prstGeom prst="rect">
            <a:avLst/>
          </a:prstGeom>
        </p:spPr>
        <p:txBody>
          <a:bodyPr anchor="b"/>
          <a:lstStyle>
            <a:lvl1pPr marL="0" indent="0">
              <a:buNone/>
              <a:defRPr sz="17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sldNum" sz="quarter" idx="10"/>
          </p:nvPr>
        </p:nvSpPr>
        <p:spPr/>
        <p:txBody>
          <a:bodyPr/>
          <a:lstStyle/>
          <a:p>
            <a:fld id="{20E7C221-15A6-47A8-9EBA-6BEF4440D1AA}" type="slidenum">
              <a:rPr lang="en-US" smtClean="0"/>
              <a:t>‹#›</a:t>
            </a:fld>
            <a:endParaRPr lang="en-US"/>
          </a:p>
        </p:txBody>
      </p:sp>
    </p:spTree>
    <p:extLst>
      <p:ext uri="{BB962C8B-B14F-4D97-AF65-F5344CB8AC3E}">
        <p14:creationId xmlns:p14="http://schemas.microsoft.com/office/powerpoint/2010/main" val="724739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Only_Dis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9FBB4-A72F-C643-BB59-683B62519EDB}"/>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7033241F-EF24-6142-9B8B-2D9AD18A6C2E}"/>
              </a:ext>
            </a:extLst>
          </p:cNvPr>
          <p:cNvSpPr>
            <a:spLocks noGrp="1"/>
          </p:cNvSpPr>
          <p:nvPr>
            <p:ph type="sldNum" sz="quarter" idx="10"/>
          </p:nvPr>
        </p:nvSpPr>
        <p:spPr/>
        <p:txBody>
          <a:bodyPr/>
          <a:lstStyle/>
          <a:p>
            <a:fld id="{20E7C221-15A6-47A8-9EBA-6BEF4440D1AA}" type="slidenum">
              <a:rPr lang="en-US" smtClean="0"/>
              <a:pPr/>
              <a:t>‹#›</a:t>
            </a:fld>
            <a:endParaRPr lang="en-US" dirty="0"/>
          </a:p>
        </p:txBody>
      </p:sp>
    </p:spTree>
    <p:extLst>
      <p:ext uri="{BB962C8B-B14F-4D97-AF65-F5344CB8AC3E}">
        <p14:creationId xmlns:p14="http://schemas.microsoft.com/office/powerpoint/2010/main" val="1647987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DistA">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20E7C221-15A6-47A8-9EBA-6BEF4440D1AA}" type="slidenum">
              <a:rPr lang="en-US" smtClean="0"/>
              <a:t>‹#›</a:t>
            </a:fld>
            <a:endParaRPr lang="en-US"/>
          </a:p>
        </p:txBody>
      </p:sp>
    </p:spTree>
    <p:extLst>
      <p:ext uri="{BB962C8B-B14F-4D97-AF65-F5344CB8AC3E}">
        <p14:creationId xmlns:p14="http://schemas.microsoft.com/office/powerpoint/2010/main" val="51781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_DistC_Export">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3098292" y="5701863"/>
            <a:ext cx="9093200" cy="1097280"/>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latin typeface="Arial" pitchFamily="34" charset="0"/>
              <a:cs typeface="Arial" pitchFamily="34" charset="0"/>
            </a:endParaRPr>
          </a:p>
        </p:txBody>
      </p:sp>
      <p:sp>
        <p:nvSpPr>
          <p:cNvPr id="2" name="Title 1"/>
          <p:cNvSpPr>
            <a:spLocks noGrp="1"/>
          </p:cNvSpPr>
          <p:nvPr>
            <p:ph type="ctrTitle" hasCustomPrompt="1"/>
          </p:nvPr>
        </p:nvSpPr>
        <p:spPr>
          <a:xfrm>
            <a:off x="51888" y="2800645"/>
            <a:ext cx="10668000" cy="646331"/>
          </a:xfrm>
        </p:spPr>
        <p:txBody>
          <a:bodyPr wrap="square">
            <a:spAutoFit/>
          </a:bodyPr>
          <a:lstStyle>
            <a:lvl1pPr algn="l">
              <a:defRPr sz="3600" b="1">
                <a:solidFill>
                  <a:schemeClr val="tx1"/>
                </a:solidFill>
                <a:latin typeface="Arial" pitchFamily="34" charset="0"/>
                <a:cs typeface="Arial" pitchFamily="34" charset="0"/>
              </a:defRPr>
            </a:lvl1pPr>
          </a:lstStyle>
          <a:p>
            <a:r>
              <a:rPr lang="en-US" dirty="0"/>
              <a:t>Presentation Title</a:t>
            </a:r>
          </a:p>
        </p:txBody>
      </p:sp>
      <p:sp>
        <p:nvSpPr>
          <p:cNvPr id="3" name="Subtitle 2"/>
          <p:cNvSpPr>
            <a:spLocks noGrp="1"/>
          </p:cNvSpPr>
          <p:nvPr>
            <p:ph type="subTitle" idx="1" hasCustomPrompt="1"/>
          </p:nvPr>
        </p:nvSpPr>
        <p:spPr>
          <a:xfrm>
            <a:off x="3180095" y="5672584"/>
            <a:ext cx="8795656" cy="648896"/>
          </a:xfrm>
          <a:prstGeom prst="rect">
            <a:avLst/>
          </a:prstGeom>
        </p:spPr>
        <p:txBody>
          <a:bodyPr wrap="square">
            <a:spAutoFit/>
          </a:bodyPr>
          <a:lstStyle>
            <a:lvl1pPr marL="0" indent="0" algn="l">
              <a:spcBef>
                <a:spcPts val="500"/>
              </a:spcBef>
              <a:buNone/>
              <a:defRPr sz="1600" b="1">
                <a:solidFill>
                  <a:schemeClr val="bg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Presenters</a:t>
            </a:r>
          </a:p>
          <a:p>
            <a:r>
              <a:rPr lang="en-US" dirty="0"/>
              <a:t>Date</a:t>
            </a:r>
          </a:p>
        </p:txBody>
      </p:sp>
      <p:sp>
        <p:nvSpPr>
          <p:cNvPr id="14" name="Rectangle 13"/>
          <p:cNvSpPr/>
          <p:nvPr userDrawn="1"/>
        </p:nvSpPr>
        <p:spPr>
          <a:xfrm>
            <a:off x="508" y="5688386"/>
            <a:ext cx="2999232" cy="1097280"/>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13" name="Rectangle 12"/>
          <p:cNvSpPr/>
          <p:nvPr userDrawn="1"/>
        </p:nvSpPr>
        <p:spPr>
          <a:xfrm>
            <a:off x="0" y="0"/>
            <a:ext cx="12191492" cy="304801"/>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r>
              <a:rPr kumimoji="0" lang="en-US" sz="1400" dirty="0">
                <a:latin typeface="Arial" pitchFamily="34" charset="0"/>
                <a:cs typeface="Arial" pitchFamily="34" charset="0"/>
              </a:rPr>
              <a:t>CUI</a:t>
            </a:r>
          </a:p>
        </p:txBody>
      </p:sp>
      <p:sp>
        <p:nvSpPr>
          <p:cNvPr id="7" name="TextBox 6"/>
          <p:cNvSpPr txBox="1"/>
          <p:nvPr userDrawn="1"/>
        </p:nvSpPr>
        <p:spPr>
          <a:xfrm>
            <a:off x="197031" y="4867564"/>
            <a:ext cx="2901769" cy="498763"/>
          </a:xfrm>
          <a:prstGeom prst="rect">
            <a:avLst/>
          </a:prstGeom>
          <a:noFill/>
        </p:spPr>
        <p:txBody>
          <a:bodyPr wrap="square" rtlCol="0">
            <a:spAutoFit/>
          </a:bodyPr>
          <a:lstStyle/>
          <a:p>
            <a:endParaRPr lang="en-US" dirty="0"/>
          </a:p>
        </p:txBody>
      </p:sp>
      <p:sp>
        <p:nvSpPr>
          <p:cNvPr id="12" name="Rectangle 11"/>
          <p:cNvSpPr/>
          <p:nvPr userDrawn="1"/>
        </p:nvSpPr>
        <p:spPr>
          <a:xfrm>
            <a:off x="10555112" y="0"/>
            <a:ext cx="1636889" cy="301752"/>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11" name="Text Placeholder 2">
            <a:extLst>
              <a:ext uri="{FF2B5EF4-FFF2-40B4-BE49-F238E27FC236}">
                <a16:creationId xmlns:a16="http://schemas.microsoft.com/office/drawing/2014/main" id="{85CD4E90-673F-E5B8-2DD3-ABDDCEC3803C}"/>
              </a:ext>
            </a:extLst>
          </p:cNvPr>
          <p:cNvSpPr>
            <a:spLocks noGrp="1"/>
          </p:cNvSpPr>
          <p:nvPr>
            <p:ph type="body" idx="10" hasCustomPrompt="1"/>
          </p:nvPr>
        </p:nvSpPr>
        <p:spPr>
          <a:xfrm>
            <a:off x="51887" y="3424689"/>
            <a:ext cx="10667999" cy="400110"/>
          </a:xfrm>
          <a:prstGeom prst="rect">
            <a:avLst/>
          </a:prstGeo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Presentation Subtitle</a:t>
            </a:r>
          </a:p>
        </p:txBody>
      </p:sp>
      <p:sp>
        <p:nvSpPr>
          <p:cNvPr id="15" name="TextBox 14">
            <a:extLst>
              <a:ext uri="{FF2B5EF4-FFF2-40B4-BE49-F238E27FC236}">
                <a16:creationId xmlns:a16="http://schemas.microsoft.com/office/drawing/2014/main" id="{D7F756C1-82C3-F829-063F-4BA9066BA7AC}"/>
              </a:ext>
            </a:extLst>
          </p:cNvPr>
          <p:cNvSpPr txBox="1"/>
          <p:nvPr userDrawn="1"/>
        </p:nvSpPr>
        <p:spPr>
          <a:xfrm>
            <a:off x="3098800" y="6312378"/>
            <a:ext cx="8876951" cy="5078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dirty="0">
                <a:solidFill>
                  <a:schemeClr val="bg1"/>
                </a:solidFill>
                <a:latin typeface="Arial" pitchFamily="34" charset="0"/>
                <a:cs typeface="Arial" pitchFamily="34" charset="0"/>
              </a:rPr>
              <a:t>DISTRIBUTION STATEMENT C. Distribution authorized to U.S. Government agencies and their contractors (under DoD Directive 5230.25, Oct 1st, 2010). Other requests for this document shall be referred to DoD HPCMP.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dirty="0">
                <a:solidFill>
                  <a:schemeClr val="bg1"/>
                </a:solidFill>
                <a:latin typeface="Arial" pitchFamily="34" charset="0"/>
                <a:cs typeface="Arial" pitchFamily="34" charset="0"/>
              </a:rPr>
              <a:t>                                                                                           CUI</a:t>
            </a:r>
          </a:p>
        </p:txBody>
      </p:sp>
      <p:sp>
        <p:nvSpPr>
          <p:cNvPr id="16" name="TextBox 15">
            <a:extLst>
              <a:ext uri="{FF2B5EF4-FFF2-40B4-BE49-F238E27FC236}">
                <a16:creationId xmlns:a16="http://schemas.microsoft.com/office/drawing/2014/main" id="{3BE23E1C-EC29-D5EA-F402-0B21763032D6}"/>
              </a:ext>
            </a:extLst>
          </p:cNvPr>
          <p:cNvSpPr txBox="1"/>
          <p:nvPr userDrawn="1"/>
        </p:nvSpPr>
        <p:spPr>
          <a:xfrm>
            <a:off x="0" y="4942320"/>
            <a:ext cx="7139709"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Export Warning</a:t>
            </a:r>
            <a:r>
              <a:rPr kumimoji="0" lang="en-US"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document contains technical data whose export is restricted by the Arms Export Control Act (Section 2751 of Title 22, United States Code) or the Export Control Reform Act of 2018 (Chapter 58 Sections 4801-4852 of Title 50, United States Code). Violations of these export laws are subject to severe criminal penalties. Disseminate in accordance with provisions of DoD Directive 5230.25 and DoD Instruction 2040.02.</a:t>
            </a:r>
          </a:p>
        </p:txBody>
      </p:sp>
      <p:sp>
        <p:nvSpPr>
          <p:cNvPr id="18" name="TextBox 17">
            <a:extLst>
              <a:ext uri="{FF2B5EF4-FFF2-40B4-BE49-F238E27FC236}">
                <a16:creationId xmlns:a16="http://schemas.microsoft.com/office/drawing/2014/main" id="{1B2E556E-1170-54E1-AD53-26F6FA5BF2EB}"/>
              </a:ext>
            </a:extLst>
          </p:cNvPr>
          <p:cNvSpPr txBox="1"/>
          <p:nvPr userDrawn="1"/>
        </p:nvSpPr>
        <p:spPr>
          <a:xfrm>
            <a:off x="9780104" y="4664233"/>
            <a:ext cx="2319346" cy="938719"/>
          </a:xfrm>
          <a:prstGeom prst="rect">
            <a:avLst/>
          </a:prstGeom>
          <a:noFill/>
          <a:ln>
            <a:solidFill>
              <a:schemeClr val="tx1"/>
            </a:solidFill>
          </a:ln>
        </p:spPr>
        <p:txBody>
          <a:bodyPr wrap="square" rtlCol="0">
            <a:spAutoFit/>
          </a:bodyPr>
          <a:lstStyle/>
          <a:p>
            <a:r>
              <a:rPr lang="en-US" sz="1100" dirty="0"/>
              <a:t>Controlled by: DoD HPCMP</a:t>
            </a:r>
          </a:p>
          <a:p>
            <a:r>
              <a:rPr lang="en-US" sz="1100" dirty="0"/>
              <a:t>Controlled by: HCPMP CREATE</a:t>
            </a:r>
            <a:r>
              <a:rPr lang="en-US" sz="1100" baseline="30000" dirty="0"/>
              <a:t>TM</a:t>
            </a:r>
            <a:endParaRPr lang="en-US" sz="1100" baseline="0" dirty="0"/>
          </a:p>
          <a:p>
            <a:r>
              <a:rPr lang="en-US" sz="1100" baseline="0" dirty="0"/>
              <a:t>CUI Category: CTI, Export Controlled</a:t>
            </a:r>
          </a:p>
          <a:p>
            <a:r>
              <a:rPr lang="en-US" sz="1100" baseline="0" dirty="0"/>
              <a:t>Distribution Statement: C</a:t>
            </a:r>
          </a:p>
          <a:p>
            <a:r>
              <a:rPr lang="en-US" sz="1100" baseline="0" dirty="0"/>
              <a:t>POC: </a:t>
            </a:r>
            <a:r>
              <a:rPr lang="en-US" sz="1100" baseline="0" dirty="0" err="1"/>
              <a:t>create@hpc.mil</a:t>
            </a:r>
            <a:endParaRPr lang="en-US" sz="1100" dirty="0"/>
          </a:p>
        </p:txBody>
      </p:sp>
      <p:pic>
        <p:nvPicPr>
          <p:cNvPr id="6" name="Picture 2">
            <a:extLst>
              <a:ext uri="{FF2B5EF4-FFF2-40B4-BE49-F238E27FC236}">
                <a16:creationId xmlns:a16="http://schemas.microsoft.com/office/drawing/2014/main" id="{4C6FE529-3681-0E9D-42EB-850FCCD40BB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992678" y="361386"/>
            <a:ext cx="1139687" cy="113968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C6F2CA9-B49D-CD06-DB63-9D0A48883CFB}"/>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344403" y="5704863"/>
            <a:ext cx="2318549" cy="1097279"/>
          </a:xfrm>
          <a:prstGeom prst="rect">
            <a:avLst/>
          </a:prstGeom>
        </p:spPr>
      </p:pic>
      <p:pic>
        <p:nvPicPr>
          <p:cNvPr id="5" name="Picture 4">
            <a:extLst>
              <a:ext uri="{FF2B5EF4-FFF2-40B4-BE49-F238E27FC236}">
                <a16:creationId xmlns:a16="http://schemas.microsoft.com/office/drawing/2014/main" id="{AA9CAB3E-520A-4CC0-3D24-71C10FAA601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0312" y="-279751"/>
            <a:ext cx="4042720" cy="1830949"/>
          </a:xfrm>
          <a:prstGeom prst="rect">
            <a:avLst/>
          </a:prstGeom>
        </p:spPr>
      </p:pic>
    </p:spTree>
    <p:extLst>
      <p:ext uri="{BB962C8B-B14F-4D97-AF65-F5344CB8AC3E}">
        <p14:creationId xmlns:p14="http://schemas.microsoft.com/office/powerpoint/2010/main" val="116541918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_DistC">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3098800" y="5688386"/>
            <a:ext cx="9093200" cy="1097280"/>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latin typeface="Arial" pitchFamily="34" charset="0"/>
              <a:cs typeface="Arial" pitchFamily="34" charset="0"/>
            </a:endParaRPr>
          </a:p>
        </p:txBody>
      </p:sp>
      <p:sp>
        <p:nvSpPr>
          <p:cNvPr id="2" name="Title 1"/>
          <p:cNvSpPr>
            <a:spLocks noGrp="1"/>
          </p:cNvSpPr>
          <p:nvPr>
            <p:ph type="ctrTitle" hasCustomPrompt="1"/>
          </p:nvPr>
        </p:nvSpPr>
        <p:spPr>
          <a:xfrm>
            <a:off x="51888" y="2800645"/>
            <a:ext cx="10668000" cy="646331"/>
          </a:xfrm>
        </p:spPr>
        <p:txBody>
          <a:bodyPr wrap="square">
            <a:spAutoFit/>
          </a:bodyPr>
          <a:lstStyle>
            <a:lvl1pPr algn="l">
              <a:defRPr sz="3600" b="1">
                <a:solidFill>
                  <a:schemeClr val="tx1"/>
                </a:solidFill>
                <a:latin typeface="Arial" pitchFamily="34" charset="0"/>
                <a:cs typeface="Arial" pitchFamily="34" charset="0"/>
              </a:defRPr>
            </a:lvl1pPr>
          </a:lstStyle>
          <a:p>
            <a:r>
              <a:rPr lang="en-US" dirty="0"/>
              <a:t>Presentation Title</a:t>
            </a:r>
          </a:p>
        </p:txBody>
      </p:sp>
      <p:sp>
        <p:nvSpPr>
          <p:cNvPr id="14" name="Rectangle 13"/>
          <p:cNvSpPr/>
          <p:nvPr userDrawn="1"/>
        </p:nvSpPr>
        <p:spPr>
          <a:xfrm>
            <a:off x="508" y="5688386"/>
            <a:ext cx="2999232" cy="1097280"/>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13" name="Rectangle 12"/>
          <p:cNvSpPr/>
          <p:nvPr userDrawn="1"/>
        </p:nvSpPr>
        <p:spPr>
          <a:xfrm>
            <a:off x="0" y="-1"/>
            <a:ext cx="12192000" cy="304801"/>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r>
              <a:rPr kumimoji="0" lang="en-US" sz="1400" dirty="0">
                <a:latin typeface="Arial" pitchFamily="34" charset="0"/>
                <a:cs typeface="Arial" pitchFamily="34" charset="0"/>
              </a:rPr>
              <a:t>CUI</a:t>
            </a:r>
          </a:p>
        </p:txBody>
      </p:sp>
      <p:sp>
        <p:nvSpPr>
          <p:cNvPr id="7" name="TextBox 6"/>
          <p:cNvSpPr txBox="1"/>
          <p:nvPr userDrawn="1"/>
        </p:nvSpPr>
        <p:spPr>
          <a:xfrm>
            <a:off x="197031" y="4867564"/>
            <a:ext cx="2901769" cy="498763"/>
          </a:xfrm>
          <a:prstGeom prst="rect">
            <a:avLst/>
          </a:prstGeom>
          <a:noFill/>
        </p:spPr>
        <p:txBody>
          <a:bodyPr wrap="square" rtlCol="0">
            <a:spAutoFit/>
          </a:bodyPr>
          <a:lstStyle/>
          <a:p>
            <a:endParaRPr lang="en-US" dirty="0"/>
          </a:p>
        </p:txBody>
      </p:sp>
      <p:sp>
        <p:nvSpPr>
          <p:cNvPr id="12" name="Rectangle 11"/>
          <p:cNvSpPr/>
          <p:nvPr userDrawn="1"/>
        </p:nvSpPr>
        <p:spPr>
          <a:xfrm>
            <a:off x="10555112" y="0"/>
            <a:ext cx="1636889" cy="301752"/>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11" name="Subtitle 2">
            <a:extLst>
              <a:ext uri="{FF2B5EF4-FFF2-40B4-BE49-F238E27FC236}">
                <a16:creationId xmlns:a16="http://schemas.microsoft.com/office/drawing/2014/main" id="{935340EF-4D1E-4D5A-7A55-53E58AB8E61C}"/>
              </a:ext>
            </a:extLst>
          </p:cNvPr>
          <p:cNvSpPr>
            <a:spLocks noGrp="1"/>
          </p:cNvSpPr>
          <p:nvPr>
            <p:ph type="subTitle" idx="1" hasCustomPrompt="1"/>
          </p:nvPr>
        </p:nvSpPr>
        <p:spPr>
          <a:xfrm>
            <a:off x="3180095" y="5672584"/>
            <a:ext cx="8795656" cy="648896"/>
          </a:xfrm>
          <a:prstGeom prst="rect">
            <a:avLst/>
          </a:prstGeom>
        </p:spPr>
        <p:txBody>
          <a:bodyPr wrap="square">
            <a:spAutoFit/>
          </a:bodyPr>
          <a:lstStyle>
            <a:lvl1pPr marL="0" indent="0" algn="l">
              <a:spcBef>
                <a:spcPts val="500"/>
              </a:spcBef>
              <a:buNone/>
              <a:defRPr sz="1600" b="1">
                <a:solidFill>
                  <a:schemeClr val="bg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Presenters</a:t>
            </a:r>
          </a:p>
          <a:p>
            <a:r>
              <a:rPr lang="en-US" dirty="0"/>
              <a:t>Date</a:t>
            </a:r>
          </a:p>
        </p:txBody>
      </p:sp>
      <p:sp>
        <p:nvSpPr>
          <p:cNvPr id="15" name="TextBox 14">
            <a:extLst>
              <a:ext uri="{FF2B5EF4-FFF2-40B4-BE49-F238E27FC236}">
                <a16:creationId xmlns:a16="http://schemas.microsoft.com/office/drawing/2014/main" id="{0C624F0C-64DF-9AD6-26F2-2A83528E9B0B}"/>
              </a:ext>
            </a:extLst>
          </p:cNvPr>
          <p:cNvSpPr txBox="1"/>
          <p:nvPr userDrawn="1"/>
        </p:nvSpPr>
        <p:spPr>
          <a:xfrm>
            <a:off x="3098800" y="6312378"/>
            <a:ext cx="8876951" cy="5078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dirty="0">
                <a:solidFill>
                  <a:schemeClr val="bg1"/>
                </a:solidFill>
                <a:latin typeface="Arial" pitchFamily="34" charset="0"/>
                <a:cs typeface="Arial" pitchFamily="34" charset="0"/>
              </a:rPr>
              <a:t>DISTRIBUTION STATEMENT C. Distribution authorized to U.S. Government agencies and their contractors (under DoD Directive 5230.25, Oct 1st, 2010). Other requests for this document shall be referred to DoD HPCMP.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dirty="0">
                <a:solidFill>
                  <a:schemeClr val="bg1"/>
                </a:solidFill>
                <a:latin typeface="Arial" pitchFamily="34" charset="0"/>
                <a:cs typeface="Arial" pitchFamily="34" charset="0"/>
              </a:rPr>
              <a:t>                                                                                           CUI</a:t>
            </a:r>
          </a:p>
        </p:txBody>
      </p:sp>
      <p:sp>
        <p:nvSpPr>
          <p:cNvPr id="6" name="Text Placeholder 2">
            <a:extLst>
              <a:ext uri="{FF2B5EF4-FFF2-40B4-BE49-F238E27FC236}">
                <a16:creationId xmlns:a16="http://schemas.microsoft.com/office/drawing/2014/main" id="{7D0FF54D-379B-01DD-C74A-76A9F79C5CD8}"/>
              </a:ext>
            </a:extLst>
          </p:cNvPr>
          <p:cNvSpPr>
            <a:spLocks noGrp="1"/>
          </p:cNvSpPr>
          <p:nvPr>
            <p:ph type="body" idx="10" hasCustomPrompt="1"/>
          </p:nvPr>
        </p:nvSpPr>
        <p:spPr>
          <a:xfrm>
            <a:off x="51887" y="3424689"/>
            <a:ext cx="10667999" cy="400110"/>
          </a:xfrm>
          <a:prstGeom prst="rect">
            <a:avLst/>
          </a:prstGeo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Presentation Subtitle</a:t>
            </a:r>
          </a:p>
        </p:txBody>
      </p:sp>
      <p:sp>
        <p:nvSpPr>
          <p:cNvPr id="8" name="TextBox 7">
            <a:extLst>
              <a:ext uri="{FF2B5EF4-FFF2-40B4-BE49-F238E27FC236}">
                <a16:creationId xmlns:a16="http://schemas.microsoft.com/office/drawing/2014/main" id="{D3262AAE-4731-A813-03EF-D167505B287C}"/>
              </a:ext>
            </a:extLst>
          </p:cNvPr>
          <p:cNvSpPr txBox="1"/>
          <p:nvPr userDrawn="1"/>
        </p:nvSpPr>
        <p:spPr>
          <a:xfrm>
            <a:off x="9780104" y="4664233"/>
            <a:ext cx="2319346" cy="938719"/>
          </a:xfrm>
          <a:prstGeom prst="rect">
            <a:avLst/>
          </a:prstGeom>
          <a:noFill/>
          <a:ln>
            <a:solidFill>
              <a:schemeClr val="tx1"/>
            </a:solidFill>
          </a:ln>
        </p:spPr>
        <p:txBody>
          <a:bodyPr wrap="square" rtlCol="0">
            <a:spAutoFit/>
          </a:bodyPr>
          <a:lstStyle/>
          <a:p>
            <a:r>
              <a:rPr lang="en-US" sz="1100" dirty="0"/>
              <a:t>Controlled by: DoD HPCMP</a:t>
            </a:r>
          </a:p>
          <a:p>
            <a:r>
              <a:rPr lang="en-US" sz="1100" dirty="0"/>
              <a:t>Controlled by: HCPMP CREATE</a:t>
            </a:r>
            <a:r>
              <a:rPr lang="en-US" sz="1100" baseline="30000" dirty="0"/>
              <a:t>TM</a:t>
            </a:r>
            <a:endParaRPr lang="en-US" sz="1100" baseline="0" dirty="0"/>
          </a:p>
          <a:p>
            <a:r>
              <a:rPr lang="en-US" sz="1100" baseline="0" dirty="0"/>
              <a:t>CUI Category: CTI</a:t>
            </a:r>
          </a:p>
          <a:p>
            <a:r>
              <a:rPr lang="en-US" sz="1100" baseline="0" dirty="0"/>
              <a:t>Distribution Statement: C</a:t>
            </a:r>
          </a:p>
          <a:p>
            <a:r>
              <a:rPr lang="en-US" sz="1100" baseline="0" dirty="0"/>
              <a:t>POC: </a:t>
            </a:r>
            <a:r>
              <a:rPr lang="en-US" sz="1100" baseline="0" dirty="0" err="1"/>
              <a:t>create@hpc.mil</a:t>
            </a:r>
            <a:endParaRPr lang="en-US" sz="1100" dirty="0"/>
          </a:p>
        </p:txBody>
      </p:sp>
      <p:pic>
        <p:nvPicPr>
          <p:cNvPr id="3" name="Picture 2">
            <a:extLst>
              <a:ext uri="{FF2B5EF4-FFF2-40B4-BE49-F238E27FC236}">
                <a16:creationId xmlns:a16="http://schemas.microsoft.com/office/drawing/2014/main" id="{3FC4C1CA-3D4D-DF14-5726-03021E0F51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992678" y="361386"/>
            <a:ext cx="1139687" cy="113968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9445D771-71B9-DDB0-7134-27DCE4AFD5A5}"/>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344403" y="5704863"/>
            <a:ext cx="2318549" cy="1097279"/>
          </a:xfrm>
          <a:prstGeom prst="rect">
            <a:avLst/>
          </a:prstGeom>
        </p:spPr>
      </p:pic>
      <p:pic>
        <p:nvPicPr>
          <p:cNvPr id="5" name="Picture 4">
            <a:extLst>
              <a:ext uri="{FF2B5EF4-FFF2-40B4-BE49-F238E27FC236}">
                <a16:creationId xmlns:a16="http://schemas.microsoft.com/office/drawing/2014/main" id="{2343377E-EB89-9D6E-C983-D851F35DC2A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0312" y="-279751"/>
            <a:ext cx="4042720" cy="1830949"/>
          </a:xfrm>
          <a:prstGeom prst="rect">
            <a:avLst/>
          </a:prstGeom>
        </p:spPr>
      </p:pic>
    </p:spTree>
    <p:extLst>
      <p:ext uri="{BB962C8B-B14F-4D97-AF65-F5344CB8AC3E}">
        <p14:creationId xmlns:p14="http://schemas.microsoft.com/office/powerpoint/2010/main" val="373816127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Body_DistC">
    <p:spTree>
      <p:nvGrpSpPr>
        <p:cNvPr id="1" name=""/>
        <p:cNvGrpSpPr/>
        <p:nvPr/>
      </p:nvGrpSpPr>
      <p:grpSpPr>
        <a:xfrm>
          <a:off x="0" y="0"/>
          <a:ext cx="0" cy="0"/>
          <a:chOff x="0" y="0"/>
          <a:chExt cx="0" cy="0"/>
        </a:xfrm>
      </p:grpSpPr>
      <p:sp>
        <p:nvSpPr>
          <p:cNvPr id="2" name="Title 1"/>
          <p:cNvSpPr>
            <a:spLocks noGrp="1"/>
          </p:cNvSpPr>
          <p:nvPr>
            <p:ph type="title"/>
          </p:nvPr>
        </p:nvSpPr>
        <p:spPr>
          <a:xfrm>
            <a:off x="182880" y="365760"/>
            <a:ext cx="10184673" cy="584775"/>
          </a:xfrm>
        </p:spPr>
        <p:txBody>
          <a:bodyPr/>
          <a:lstStyle/>
          <a:p>
            <a:r>
              <a:rPr lang="en-US" dirty="0"/>
              <a:t>Click to edit Master title style</a:t>
            </a:r>
          </a:p>
        </p:txBody>
      </p:sp>
      <p:sp>
        <p:nvSpPr>
          <p:cNvPr id="3" name="Content Placeholder 2"/>
          <p:cNvSpPr>
            <a:spLocks noGrp="1"/>
          </p:cNvSpPr>
          <p:nvPr>
            <p:ph idx="1"/>
          </p:nvPr>
        </p:nvSpPr>
        <p:spPr>
          <a:xfrm>
            <a:off x="182880" y="1097279"/>
            <a:ext cx="11795760" cy="1585049"/>
          </a:xfrm>
          <a:prstGeom prst="rect">
            <a:avLst/>
          </a:prstGeom>
        </p:spPr>
        <p:txBody>
          <a:bodyPr/>
          <a:lstStyle>
            <a:lvl1pPr>
              <a:defRPr sz="2400"/>
            </a:lvl1pPr>
            <a:lvl2pPr>
              <a:defRPr sz="2000"/>
            </a:lvl2pPr>
            <a:lvl3pPr marL="1030288" indent="-346075">
              <a:buFont typeface="Wingdings" pitchFamily="2" charset="2"/>
              <a:buChar char="§"/>
              <a:defRPr sz="2000"/>
            </a:lvl3pPr>
            <a:lvl4pPr marL="1376363" indent="-346075">
              <a:buFont typeface="Arial" panose="020B0604020202020204" pitchFamily="34" charset="0"/>
              <a:buChar char="•"/>
              <a:defRPr sz="20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3">
            <a:extLst>
              <a:ext uri="{FF2B5EF4-FFF2-40B4-BE49-F238E27FC236}">
                <a16:creationId xmlns:a16="http://schemas.microsoft.com/office/drawing/2014/main" id="{D9B73D31-6A63-7A4C-986B-023423C27D18}"/>
              </a:ext>
            </a:extLst>
          </p:cNvPr>
          <p:cNvSpPr>
            <a:spLocks noGrp="1"/>
          </p:cNvSpPr>
          <p:nvPr>
            <p:ph type="sldNum" sz="quarter" idx="4"/>
          </p:nvPr>
        </p:nvSpPr>
        <p:spPr>
          <a:xfrm>
            <a:off x="11668058" y="6598914"/>
            <a:ext cx="533399" cy="259085"/>
          </a:xfrm>
          <a:prstGeom prst="rect">
            <a:avLst/>
          </a:prstGeom>
        </p:spPr>
        <p:txBody>
          <a:bodyPr vert="horz" lIns="91440" tIns="45720" rIns="91440" bIns="45720" rtlCol="0" anchor="ctr"/>
          <a:lstStyle>
            <a:lvl1pPr algn="r">
              <a:defRPr sz="1200" b="1">
                <a:solidFill>
                  <a:srgbClr val="303030"/>
                </a:solidFill>
                <a:latin typeface="Arial" panose="020B0604020202020204" pitchFamily="34" charset="0"/>
                <a:cs typeface="Arial" panose="020B0604020202020204" pitchFamily="34" charset="0"/>
              </a:defRPr>
            </a:lvl1pPr>
          </a:lstStyle>
          <a:p>
            <a:fld id="{20E7C221-15A6-47A8-9EBA-6BEF4440D1AA}" type="slidenum">
              <a:rPr lang="en-US" smtClean="0"/>
              <a:pPr/>
              <a:t>‹#›</a:t>
            </a:fld>
            <a:endParaRPr lang="en-US" dirty="0"/>
          </a:p>
        </p:txBody>
      </p:sp>
    </p:spTree>
    <p:extLst>
      <p:ext uri="{BB962C8B-B14F-4D97-AF65-F5344CB8AC3E}">
        <p14:creationId xmlns:p14="http://schemas.microsoft.com/office/powerpoint/2010/main" val="26996428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_DistC">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707886"/>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4052957"/>
            <a:ext cx="10363200" cy="353943"/>
          </a:xfrm>
          <a:prstGeom prst="rect">
            <a:avLst/>
          </a:prstGeom>
        </p:spPr>
        <p:txBody>
          <a:bodyPr anchor="b"/>
          <a:lstStyle>
            <a:lvl1pPr marL="0" indent="0">
              <a:buNone/>
              <a:defRPr sz="17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sldNum" sz="quarter" idx="10"/>
          </p:nvPr>
        </p:nvSpPr>
        <p:spPr/>
        <p:txBody>
          <a:bodyPr/>
          <a:lstStyle/>
          <a:p>
            <a:fld id="{20E7C221-15A6-47A8-9EBA-6BEF4440D1AA}" type="slidenum">
              <a:rPr lang="en-US" smtClean="0"/>
              <a:t>‹#›</a:t>
            </a:fld>
            <a:endParaRPr lang="en-US"/>
          </a:p>
        </p:txBody>
      </p:sp>
    </p:spTree>
    <p:extLst>
      <p:ext uri="{BB962C8B-B14F-4D97-AF65-F5344CB8AC3E}">
        <p14:creationId xmlns:p14="http://schemas.microsoft.com/office/powerpoint/2010/main" val="2329067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Only_Dist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9FBB4-A72F-C643-BB59-683B62519EDB}"/>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7033241F-EF24-6142-9B8B-2D9AD18A6C2E}"/>
              </a:ext>
            </a:extLst>
          </p:cNvPr>
          <p:cNvSpPr>
            <a:spLocks noGrp="1"/>
          </p:cNvSpPr>
          <p:nvPr>
            <p:ph type="sldNum" sz="quarter" idx="10"/>
          </p:nvPr>
        </p:nvSpPr>
        <p:spPr/>
        <p:txBody>
          <a:bodyPr/>
          <a:lstStyle/>
          <a:p>
            <a:fld id="{20E7C221-15A6-47A8-9EBA-6BEF4440D1AA}" type="slidenum">
              <a:rPr lang="en-US" smtClean="0"/>
              <a:pPr/>
              <a:t>‹#›</a:t>
            </a:fld>
            <a:endParaRPr lang="en-US" dirty="0"/>
          </a:p>
        </p:txBody>
      </p:sp>
    </p:spTree>
    <p:extLst>
      <p:ext uri="{BB962C8B-B14F-4D97-AF65-F5344CB8AC3E}">
        <p14:creationId xmlns:p14="http://schemas.microsoft.com/office/powerpoint/2010/main" val="16757327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_DistC">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20E7C221-15A6-47A8-9EBA-6BEF4440D1AA}" type="slidenum">
              <a:rPr lang="en-US" smtClean="0"/>
              <a:t>‹#›</a:t>
            </a:fld>
            <a:endParaRPr lang="en-US"/>
          </a:p>
        </p:txBody>
      </p:sp>
    </p:spTree>
    <p:extLst>
      <p:ext uri="{BB962C8B-B14F-4D97-AF65-F5344CB8AC3E}">
        <p14:creationId xmlns:p14="http://schemas.microsoft.com/office/powerpoint/2010/main" val="26643830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_DistD_Export">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3098800" y="5688386"/>
            <a:ext cx="9093200" cy="1097280"/>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latin typeface="Arial" pitchFamily="34" charset="0"/>
              <a:cs typeface="Arial" pitchFamily="34" charset="0"/>
            </a:endParaRPr>
          </a:p>
        </p:txBody>
      </p:sp>
      <p:sp>
        <p:nvSpPr>
          <p:cNvPr id="2" name="Title 1"/>
          <p:cNvSpPr>
            <a:spLocks noGrp="1"/>
          </p:cNvSpPr>
          <p:nvPr>
            <p:ph type="ctrTitle" hasCustomPrompt="1"/>
          </p:nvPr>
        </p:nvSpPr>
        <p:spPr>
          <a:xfrm>
            <a:off x="51888" y="2800645"/>
            <a:ext cx="10668000" cy="646331"/>
          </a:xfrm>
        </p:spPr>
        <p:txBody>
          <a:bodyPr wrap="square">
            <a:spAutoFit/>
          </a:bodyPr>
          <a:lstStyle>
            <a:lvl1pPr algn="l">
              <a:defRPr sz="3600" b="1">
                <a:solidFill>
                  <a:schemeClr val="tx1"/>
                </a:solidFill>
                <a:latin typeface="Arial" pitchFamily="34" charset="0"/>
                <a:cs typeface="Arial" pitchFamily="34" charset="0"/>
              </a:defRPr>
            </a:lvl1pPr>
          </a:lstStyle>
          <a:p>
            <a:r>
              <a:rPr lang="en-US" dirty="0"/>
              <a:t>Presentation Title</a:t>
            </a:r>
          </a:p>
        </p:txBody>
      </p:sp>
      <p:sp>
        <p:nvSpPr>
          <p:cNvPr id="14" name="Rectangle 13"/>
          <p:cNvSpPr/>
          <p:nvPr userDrawn="1"/>
        </p:nvSpPr>
        <p:spPr>
          <a:xfrm>
            <a:off x="508" y="5688386"/>
            <a:ext cx="2999232" cy="1097280"/>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13" name="Rectangle 12"/>
          <p:cNvSpPr/>
          <p:nvPr userDrawn="1"/>
        </p:nvSpPr>
        <p:spPr>
          <a:xfrm>
            <a:off x="0" y="0"/>
            <a:ext cx="12192000" cy="304801"/>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r>
              <a:rPr kumimoji="0" lang="en-US" sz="1400" dirty="0">
                <a:latin typeface="Arial" pitchFamily="34" charset="0"/>
                <a:cs typeface="Arial" pitchFamily="34" charset="0"/>
              </a:rPr>
              <a:t>CUI</a:t>
            </a:r>
          </a:p>
        </p:txBody>
      </p:sp>
      <p:sp>
        <p:nvSpPr>
          <p:cNvPr id="7" name="TextBox 6"/>
          <p:cNvSpPr txBox="1"/>
          <p:nvPr userDrawn="1"/>
        </p:nvSpPr>
        <p:spPr>
          <a:xfrm>
            <a:off x="197031" y="4867564"/>
            <a:ext cx="2901769" cy="498763"/>
          </a:xfrm>
          <a:prstGeom prst="rect">
            <a:avLst/>
          </a:prstGeom>
          <a:noFill/>
        </p:spPr>
        <p:txBody>
          <a:bodyPr wrap="square" rtlCol="0">
            <a:spAutoFit/>
          </a:bodyPr>
          <a:lstStyle/>
          <a:p>
            <a:endParaRPr lang="en-US" dirty="0"/>
          </a:p>
        </p:txBody>
      </p:sp>
      <p:sp>
        <p:nvSpPr>
          <p:cNvPr id="8" name="TextBox 7"/>
          <p:cNvSpPr txBox="1"/>
          <p:nvPr userDrawn="1"/>
        </p:nvSpPr>
        <p:spPr>
          <a:xfrm>
            <a:off x="3180095" y="6277835"/>
            <a:ext cx="7468471" cy="5078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dirty="0">
                <a:solidFill>
                  <a:schemeClr val="bg1"/>
                </a:solidFill>
                <a:latin typeface="Arial" pitchFamily="34" charset="0"/>
                <a:cs typeface="Arial" pitchFamily="34" charset="0"/>
              </a:rPr>
              <a:t>DISTRIBUTION STATEMENT D. Distribution authorized to the Department of Defense</a:t>
            </a:r>
            <a:r>
              <a:rPr lang="en-US" sz="900" b="1" i="0" baseline="0" dirty="0">
                <a:solidFill>
                  <a:schemeClr val="bg1"/>
                </a:solidFill>
                <a:latin typeface="Arial" pitchFamily="34" charset="0"/>
                <a:cs typeface="Arial" pitchFamily="34" charset="0"/>
              </a:rPr>
              <a:t> </a:t>
            </a:r>
            <a:r>
              <a:rPr lang="en-US" sz="900" b="1" i="0" dirty="0">
                <a:solidFill>
                  <a:schemeClr val="bg1"/>
                </a:solidFill>
                <a:latin typeface="Arial" pitchFamily="34" charset="0"/>
                <a:cs typeface="Arial" pitchFamily="34" charset="0"/>
              </a:rPr>
              <a:t>and U.S. DoD contractors only (under DoD Directive 5230.25, Oct 1st, 2010). Other requests for this document shall be referred to DoD HPCMP.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dirty="0">
                <a:solidFill>
                  <a:schemeClr val="bg1"/>
                </a:solidFill>
                <a:latin typeface="Arial" pitchFamily="34" charset="0"/>
                <a:cs typeface="Arial" pitchFamily="34" charset="0"/>
              </a:rPr>
              <a:t>                                                                                      CUI</a:t>
            </a:r>
          </a:p>
        </p:txBody>
      </p:sp>
      <p:sp>
        <p:nvSpPr>
          <p:cNvPr id="10" name="TextBox 9"/>
          <p:cNvSpPr txBox="1"/>
          <p:nvPr userDrawn="1"/>
        </p:nvSpPr>
        <p:spPr>
          <a:xfrm>
            <a:off x="0" y="4942320"/>
            <a:ext cx="7139709"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Export Warning</a:t>
            </a:r>
            <a:r>
              <a:rPr kumimoji="0" lang="en-US"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document contains technical data whose export is restricted by the Arms Export Control Act (Section 2751 of Title 22, United States Code) or the Export Control Reform Act of 2018 (Chapter 58 Sections 4801-4852 of Title 50, United States Code). Violations of these export laws are subject to severe criminal penalties. Disseminate in accordance with provisions of DoD Directive 5230.25 and DoD Instruction 2040.02.</a:t>
            </a:r>
          </a:p>
        </p:txBody>
      </p:sp>
      <p:sp>
        <p:nvSpPr>
          <p:cNvPr id="11" name="TextBox 10">
            <a:extLst>
              <a:ext uri="{FF2B5EF4-FFF2-40B4-BE49-F238E27FC236}">
                <a16:creationId xmlns:a16="http://schemas.microsoft.com/office/drawing/2014/main" id="{1D201C06-AE98-A779-234A-BE173887B09E}"/>
              </a:ext>
            </a:extLst>
          </p:cNvPr>
          <p:cNvSpPr txBox="1"/>
          <p:nvPr userDrawn="1"/>
        </p:nvSpPr>
        <p:spPr>
          <a:xfrm>
            <a:off x="9780104" y="4664233"/>
            <a:ext cx="2319346" cy="938719"/>
          </a:xfrm>
          <a:prstGeom prst="rect">
            <a:avLst/>
          </a:prstGeom>
          <a:noFill/>
          <a:ln>
            <a:solidFill>
              <a:schemeClr val="tx1"/>
            </a:solidFill>
          </a:ln>
        </p:spPr>
        <p:txBody>
          <a:bodyPr wrap="square" rtlCol="0">
            <a:spAutoFit/>
          </a:bodyPr>
          <a:lstStyle/>
          <a:p>
            <a:r>
              <a:rPr lang="en-US" sz="1100" dirty="0"/>
              <a:t>Controlled by: DoD HPCMP</a:t>
            </a:r>
          </a:p>
          <a:p>
            <a:r>
              <a:rPr lang="en-US" sz="1100" dirty="0"/>
              <a:t>Controlled by: HCPMP CREATE</a:t>
            </a:r>
            <a:r>
              <a:rPr lang="en-US" sz="1100" baseline="30000" dirty="0"/>
              <a:t>TM</a:t>
            </a:r>
            <a:endParaRPr lang="en-US" sz="1100" baseline="0" dirty="0"/>
          </a:p>
          <a:p>
            <a:r>
              <a:rPr lang="en-US" sz="1100" baseline="0" dirty="0"/>
              <a:t>CUI Category: CTI, Export Controlled</a:t>
            </a:r>
          </a:p>
          <a:p>
            <a:r>
              <a:rPr lang="en-US" sz="1100" baseline="0" dirty="0"/>
              <a:t>Distribution Statement: D</a:t>
            </a:r>
          </a:p>
          <a:p>
            <a:r>
              <a:rPr lang="en-US" sz="1100" baseline="0" dirty="0"/>
              <a:t>POC: </a:t>
            </a:r>
            <a:r>
              <a:rPr lang="en-US" sz="1100" baseline="0" dirty="0" err="1"/>
              <a:t>create@hpc.mil</a:t>
            </a:r>
            <a:endParaRPr lang="en-US" sz="1100" dirty="0"/>
          </a:p>
        </p:txBody>
      </p:sp>
      <p:sp>
        <p:nvSpPr>
          <p:cNvPr id="12" name="Rectangle 11"/>
          <p:cNvSpPr/>
          <p:nvPr userDrawn="1"/>
        </p:nvSpPr>
        <p:spPr>
          <a:xfrm>
            <a:off x="10555112" y="0"/>
            <a:ext cx="1636889" cy="301752"/>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15" name="Subtitle 2">
            <a:extLst>
              <a:ext uri="{FF2B5EF4-FFF2-40B4-BE49-F238E27FC236}">
                <a16:creationId xmlns:a16="http://schemas.microsoft.com/office/drawing/2014/main" id="{CE27E305-CEF3-4065-0814-2CEACC32C971}"/>
              </a:ext>
            </a:extLst>
          </p:cNvPr>
          <p:cNvSpPr>
            <a:spLocks noGrp="1"/>
          </p:cNvSpPr>
          <p:nvPr>
            <p:ph type="subTitle" idx="1" hasCustomPrompt="1"/>
          </p:nvPr>
        </p:nvSpPr>
        <p:spPr>
          <a:xfrm>
            <a:off x="3180095" y="5672584"/>
            <a:ext cx="8795656" cy="648896"/>
          </a:xfrm>
          <a:prstGeom prst="rect">
            <a:avLst/>
          </a:prstGeom>
        </p:spPr>
        <p:txBody>
          <a:bodyPr wrap="square">
            <a:spAutoFit/>
          </a:bodyPr>
          <a:lstStyle>
            <a:lvl1pPr marL="0" indent="0" algn="l">
              <a:spcBef>
                <a:spcPts val="500"/>
              </a:spcBef>
              <a:buNone/>
              <a:defRPr sz="1600" b="1">
                <a:solidFill>
                  <a:schemeClr val="bg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Presenters</a:t>
            </a:r>
          </a:p>
          <a:p>
            <a:r>
              <a:rPr lang="en-US" dirty="0"/>
              <a:t>Date</a:t>
            </a:r>
          </a:p>
        </p:txBody>
      </p:sp>
      <p:sp>
        <p:nvSpPr>
          <p:cNvPr id="3" name="Text Placeholder 2">
            <a:extLst>
              <a:ext uri="{FF2B5EF4-FFF2-40B4-BE49-F238E27FC236}">
                <a16:creationId xmlns:a16="http://schemas.microsoft.com/office/drawing/2014/main" id="{FA444829-BEE2-80B5-C8A7-C004F50760F1}"/>
              </a:ext>
            </a:extLst>
          </p:cNvPr>
          <p:cNvSpPr>
            <a:spLocks noGrp="1"/>
          </p:cNvSpPr>
          <p:nvPr>
            <p:ph type="body" idx="10" hasCustomPrompt="1"/>
          </p:nvPr>
        </p:nvSpPr>
        <p:spPr>
          <a:xfrm>
            <a:off x="51887" y="3424689"/>
            <a:ext cx="10667999" cy="400110"/>
          </a:xfrm>
          <a:prstGeom prst="rect">
            <a:avLst/>
          </a:prstGeo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Presentation Subtitle</a:t>
            </a:r>
          </a:p>
        </p:txBody>
      </p:sp>
      <p:pic>
        <p:nvPicPr>
          <p:cNvPr id="6" name="Picture 2">
            <a:extLst>
              <a:ext uri="{FF2B5EF4-FFF2-40B4-BE49-F238E27FC236}">
                <a16:creationId xmlns:a16="http://schemas.microsoft.com/office/drawing/2014/main" id="{D76A611A-96AD-83D3-A7DA-0147AE26B4B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992678" y="361386"/>
            <a:ext cx="1139687" cy="113968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90EF2EAB-166B-A5C1-3A30-8039B46930B6}"/>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344403" y="5704863"/>
            <a:ext cx="2318549" cy="1097279"/>
          </a:xfrm>
          <a:prstGeom prst="rect">
            <a:avLst/>
          </a:prstGeom>
        </p:spPr>
      </p:pic>
      <p:pic>
        <p:nvPicPr>
          <p:cNvPr id="5" name="Picture 4">
            <a:extLst>
              <a:ext uri="{FF2B5EF4-FFF2-40B4-BE49-F238E27FC236}">
                <a16:creationId xmlns:a16="http://schemas.microsoft.com/office/drawing/2014/main" id="{55743A0C-C908-A06F-52E5-4F1B359FA66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0312" y="-279751"/>
            <a:ext cx="4042720" cy="1830949"/>
          </a:xfrm>
          <a:prstGeom prst="rect">
            <a:avLst/>
          </a:prstGeom>
        </p:spPr>
      </p:pic>
    </p:spTree>
    <p:extLst>
      <p:ext uri="{BB962C8B-B14F-4D97-AF65-F5344CB8AC3E}">
        <p14:creationId xmlns:p14="http://schemas.microsoft.com/office/powerpoint/2010/main" val="2472470950"/>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_DistD">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3098800" y="5688386"/>
            <a:ext cx="9093200" cy="1097280"/>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latin typeface="Arial" pitchFamily="34" charset="0"/>
              <a:cs typeface="Arial" pitchFamily="34" charset="0"/>
            </a:endParaRPr>
          </a:p>
        </p:txBody>
      </p:sp>
      <p:sp>
        <p:nvSpPr>
          <p:cNvPr id="2" name="Title 1"/>
          <p:cNvSpPr>
            <a:spLocks noGrp="1"/>
          </p:cNvSpPr>
          <p:nvPr>
            <p:ph type="ctrTitle" hasCustomPrompt="1"/>
          </p:nvPr>
        </p:nvSpPr>
        <p:spPr>
          <a:xfrm>
            <a:off x="51888" y="2800645"/>
            <a:ext cx="10668000" cy="646331"/>
          </a:xfrm>
        </p:spPr>
        <p:txBody>
          <a:bodyPr wrap="square">
            <a:spAutoFit/>
          </a:bodyPr>
          <a:lstStyle>
            <a:lvl1pPr algn="l">
              <a:defRPr sz="3600" b="1">
                <a:solidFill>
                  <a:schemeClr val="tx1"/>
                </a:solidFill>
                <a:latin typeface="Arial" pitchFamily="34" charset="0"/>
                <a:cs typeface="Arial" pitchFamily="34" charset="0"/>
              </a:defRPr>
            </a:lvl1pPr>
          </a:lstStyle>
          <a:p>
            <a:r>
              <a:rPr lang="en-US" dirty="0"/>
              <a:t>Presentation Title</a:t>
            </a:r>
          </a:p>
        </p:txBody>
      </p:sp>
      <p:sp>
        <p:nvSpPr>
          <p:cNvPr id="14" name="Rectangle 13"/>
          <p:cNvSpPr/>
          <p:nvPr userDrawn="1"/>
        </p:nvSpPr>
        <p:spPr>
          <a:xfrm>
            <a:off x="508" y="5688386"/>
            <a:ext cx="2999232" cy="1097280"/>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13" name="Rectangle 12"/>
          <p:cNvSpPr/>
          <p:nvPr userDrawn="1"/>
        </p:nvSpPr>
        <p:spPr>
          <a:xfrm>
            <a:off x="0" y="-1"/>
            <a:ext cx="12192000" cy="304801"/>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r>
              <a:rPr kumimoji="0" lang="en-US" sz="1400" dirty="0">
                <a:latin typeface="Arial" pitchFamily="34" charset="0"/>
                <a:cs typeface="Arial" pitchFamily="34" charset="0"/>
              </a:rPr>
              <a:t>CUI</a:t>
            </a:r>
          </a:p>
        </p:txBody>
      </p:sp>
      <p:sp>
        <p:nvSpPr>
          <p:cNvPr id="7" name="TextBox 6"/>
          <p:cNvSpPr txBox="1"/>
          <p:nvPr userDrawn="1"/>
        </p:nvSpPr>
        <p:spPr>
          <a:xfrm>
            <a:off x="197031" y="4867564"/>
            <a:ext cx="2901769" cy="498763"/>
          </a:xfrm>
          <a:prstGeom prst="rect">
            <a:avLst/>
          </a:prstGeom>
          <a:noFill/>
        </p:spPr>
        <p:txBody>
          <a:bodyPr wrap="square" rtlCol="0">
            <a:spAutoFit/>
          </a:bodyPr>
          <a:lstStyle/>
          <a:p>
            <a:endParaRPr lang="en-US" dirty="0"/>
          </a:p>
        </p:txBody>
      </p:sp>
      <p:sp>
        <p:nvSpPr>
          <p:cNvPr id="10" name="TextBox 9">
            <a:extLst>
              <a:ext uri="{FF2B5EF4-FFF2-40B4-BE49-F238E27FC236}">
                <a16:creationId xmlns:a16="http://schemas.microsoft.com/office/drawing/2014/main" id="{B39F9F07-3481-1000-2778-04528898FA9F}"/>
              </a:ext>
            </a:extLst>
          </p:cNvPr>
          <p:cNvSpPr txBox="1"/>
          <p:nvPr userDrawn="1"/>
        </p:nvSpPr>
        <p:spPr>
          <a:xfrm>
            <a:off x="3180095" y="6277835"/>
            <a:ext cx="7468471" cy="5078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dirty="0">
                <a:solidFill>
                  <a:schemeClr val="bg1"/>
                </a:solidFill>
                <a:latin typeface="Arial" pitchFamily="34" charset="0"/>
                <a:cs typeface="Arial" pitchFamily="34" charset="0"/>
              </a:rPr>
              <a:t>DISTRIBUTION STATEMENT D. Distribution authorized to the Department of Defense</a:t>
            </a:r>
            <a:r>
              <a:rPr lang="en-US" sz="900" b="1" i="0" baseline="0" dirty="0">
                <a:solidFill>
                  <a:schemeClr val="bg1"/>
                </a:solidFill>
                <a:latin typeface="Arial" pitchFamily="34" charset="0"/>
                <a:cs typeface="Arial" pitchFamily="34" charset="0"/>
              </a:rPr>
              <a:t> </a:t>
            </a:r>
            <a:r>
              <a:rPr lang="en-US" sz="900" b="1" i="0" dirty="0">
                <a:solidFill>
                  <a:schemeClr val="bg1"/>
                </a:solidFill>
                <a:latin typeface="Arial" pitchFamily="34" charset="0"/>
                <a:cs typeface="Arial" pitchFamily="34" charset="0"/>
              </a:rPr>
              <a:t>and U.S. DoD contractors only (under DoD Directive 5230.25, Oct 1st, 2010). Other requests for this document shall be referred to DoD HPCMP.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dirty="0">
                <a:solidFill>
                  <a:schemeClr val="bg1"/>
                </a:solidFill>
                <a:latin typeface="Arial" pitchFamily="34" charset="0"/>
                <a:cs typeface="Arial" pitchFamily="34" charset="0"/>
              </a:rPr>
              <a:t>                                                                                      CUI</a:t>
            </a:r>
          </a:p>
        </p:txBody>
      </p:sp>
      <p:sp>
        <p:nvSpPr>
          <p:cNvPr id="12" name="Rectangle 11"/>
          <p:cNvSpPr/>
          <p:nvPr userDrawn="1"/>
        </p:nvSpPr>
        <p:spPr>
          <a:xfrm>
            <a:off x="10555112" y="0"/>
            <a:ext cx="1636889" cy="301752"/>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11" name="Subtitle 2">
            <a:extLst>
              <a:ext uri="{FF2B5EF4-FFF2-40B4-BE49-F238E27FC236}">
                <a16:creationId xmlns:a16="http://schemas.microsoft.com/office/drawing/2014/main" id="{2D107A32-3AFA-CAD2-A067-0F04CBB31099}"/>
              </a:ext>
            </a:extLst>
          </p:cNvPr>
          <p:cNvSpPr>
            <a:spLocks noGrp="1"/>
          </p:cNvSpPr>
          <p:nvPr>
            <p:ph type="subTitle" idx="1" hasCustomPrompt="1"/>
          </p:nvPr>
        </p:nvSpPr>
        <p:spPr>
          <a:xfrm>
            <a:off x="3180095" y="5672584"/>
            <a:ext cx="8795656" cy="648896"/>
          </a:xfrm>
          <a:prstGeom prst="rect">
            <a:avLst/>
          </a:prstGeom>
        </p:spPr>
        <p:txBody>
          <a:bodyPr wrap="square">
            <a:spAutoFit/>
          </a:bodyPr>
          <a:lstStyle>
            <a:lvl1pPr marL="0" indent="0" algn="l">
              <a:spcBef>
                <a:spcPts val="500"/>
              </a:spcBef>
              <a:buNone/>
              <a:defRPr sz="1600" b="1">
                <a:solidFill>
                  <a:schemeClr val="bg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Presenters</a:t>
            </a:r>
          </a:p>
          <a:p>
            <a:r>
              <a:rPr lang="en-US" dirty="0"/>
              <a:t>Date</a:t>
            </a:r>
          </a:p>
        </p:txBody>
      </p:sp>
      <p:sp>
        <p:nvSpPr>
          <p:cNvPr id="6" name="Text Placeholder 2">
            <a:extLst>
              <a:ext uri="{FF2B5EF4-FFF2-40B4-BE49-F238E27FC236}">
                <a16:creationId xmlns:a16="http://schemas.microsoft.com/office/drawing/2014/main" id="{FE739E8D-7668-56EB-0688-506EDB03416F}"/>
              </a:ext>
            </a:extLst>
          </p:cNvPr>
          <p:cNvSpPr>
            <a:spLocks noGrp="1"/>
          </p:cNvSpPr>
          <p:nvPr>
            <p:ph type="body" idx="10" hasCustomPrompt="1"/>
          </p:nvPr>
        </p:nvSpPr>
        <p:spPr>
          <a:xfrm>
            <a:off x="51887" y="3424689"/>
            <a:ext cx="10667999" cy="400110"/>
          </a:xfrm>
          <a:prstGeom prst="rect">
            <a:avLst/>
          </a:prstGeo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Presentation Subtitle</a:t>
            </a:r>
          </a:p>
        </p:txBody>
      </p:sp>
      <p:sp>
        <p:nvSpPr>
          <p:cNvPr id="8" name="TextBox 7">
            <a:extLst>
              <a:ext uri="{FF2B5EF4-FFF2-40B4-BE49-F238E27FC236}">
                <a16:creationId xmlns:a16="http://schemas.microsoft.com/office/drawing/2014/main" id="{2D17D076-8BD3-33BF-6CC0-1DF533376322}"/>
              </a:ext>
            </a:extLst>
          </p:cNvPr>
          <p:cNvSpPr txBox="1"/>
          <p:nvPr userDrawn="1"/>
        </p:nvSpPr>
        <p:spPr>
          <a:xfrm>
            <a:off x="9780104" y="4664233"/>
            <a:ext cx="2319346" cy="938719"/>
          </a:xfrm>
          <a:prstGeom prst="rect">
            <a:avLst/>
          </a:prstGeom>
          <a:noFill/>
          <a:ln>
            <a:solidFill>
              <a:schemeClr val="tx1"/>
            </a:solidFill>
          </a:ln>
        </p:spPr>
        <p:txBody>
          <a:bodyPr wrap="square" rtlCol="0">
            <a:spAutoFit/>
          </a:bodyPr>
          <a:lstStyle/>
          <a:p>
            <a:r>
              <a:rPr lang="en-US" sz="1100" dirty="0"/>
              <a:t>Controlled by: DoD HPCMP</a:t>
            </a:r>
          </a:p>
          <a:p>
            <a:r>
              <a:rPr lang="en-US" sz="1100" dirty="0"/>
              <a:t>Controlled by: HCPMP CREATE</a:t>
            </a:r>
            <a:r>
              <a:rPr lang="en-US" sz="1100" baseline="30000" dirty="0"/>
              <a:t>TM</a:t>
            </a:r>
            <a:endParaRPr lang="en-US" sz="1100" baseline="0" dirty="0"/>
          </a:p>
          <a:p>
            <a:r>
              <a:rPr lang="en-US" sz="1100" baseline="0" dirty="0"/>
              <a:t>CUI Category: CTI</a:t>
            </a:r>
          </a:p>
          <a:p>
            <a:r>
              <a:rPr lang="en-US" sz="1100" baseline="0" dirty="0"/>
              <a:t>Distribution Statement: D</a:t>
            </a:r>
          </a:p>
          <a:p>
            <a:r>
              <a:rPr lang="en-US" sz="1100" baseline="0" dirty="0"/>
              <a:t>POC: </a:t>
            </a:r>
            <a:r>
              <a:rPr lang="en-US" sz="1100" baseline="0" dirty="0" err="1"/>
              <a:t>create@hpc.mil</a:t>
            </a:r>
            <a:endParaRPr lang="en-US" sz="1100" dirty="0"/>
          </a:p>
        </p:txBody>
      </p:sp>
      <p:pic>
        <p:nvPicPr>
          <p:cNvPr id="3" name="Picture 2">
            <a:extLst>
              <a:ext uri="{FF2B5EF4-FFF2-40B4-BE49-F238E27FC236}">
                <a16:creationId xmlns:a16="http://schemas.microsoft.com/office/drawing/2014/main" id="{0B076B4E-062B-CC18-D64E-E83E7B626B5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992678" y="361386"/>
            <a:ext cx="1139687" cy="113968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DD58DCD2-F74A-3180-2575-24E3CE4A2F0E}"/>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344403" y="5704863"/>
            <a:ext cx="2318549" cy="1097279"/>
          </a:xfrm>
          <a:prstGeom prst="rect">
            <a:avLst/>
          </a:prstGeom>
        </p:spPr>
      </p:pic>
      <p:pic>
        <p:nvPicPr>
          <p:cNvPr id="5" name="Picture 4">
            <a:extLst>
              <a:ext uri="{FF2B5EF4-FFF2-40B4-BE49-F238E27FC236}">
                <a16:creationId xmlns:a16="http://schemas.microsoft.com/office/drawing/2014/main" id="{996A1B22-7309-5593-96C3-E09FD3AE4C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0312" y="-279751"/>
            <a:ext cx="4042720" cy="1830949"/>
          </a:xfrm>
          <a:prstGeom prst="rect">
            <a:avLst/>
          </a:prstGeom>
        </p:spPr>
      </p:pic>
    </p:spTree>
    <p:extLst>
      <p:ext uri="{BB962C8B-B14F-4D97-AF65-F5344CB8AC3E}">
        <p14:creationId xmlns:p14="http://schemas.microsoft.com/office/powerpoint/2010/main" val="1502712278"/>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Body_Distro_D">
    <p:spTree>
      <p:nvGrpSpPr>
        <p:cNvPr id="1" name=""/>
        <p:cNvGrpSpPr/>
        <p:nvPr/>
      </p:nvGrpSpPr>
      <p:grpSpPr>
        <a:xfrm>
          <a:off x="0" y="0"/>
          <a:ext cx="0" cy="0"/>
          <a:chOff x="0" y="0"/>
          <a:chExt cx="0" cy="0"/>
        </a:xfrm>
      </p:grpSpPr>
      <p:sp>
        <p:nvSpPr>
          <p:cNvPr id="2" name="Title 1"/>
          <p:cNvSpPr>
            <a:spLocks noGrp="1"/>
          </p:cNvSpPr>
          <p:nvPr>
            <p:ph type="title"/>
          </p:nvPr>
        </p:nvSpPr>
        <p:spPr>
          <a:xfrm>
            <a:off x="182880" y="365760"/>
            <a:ext cx="10184673" cy="584775"/>
          </a:xfrm>
        </p:spPr>
        <p:txBody>
          <a:bodyPr/>
          <a:lstStyle/>
          <a:p>
            <a:r>
              <a:rPr lang="en-US" dirty="0"/>
              <a:t>Click to edit Master title style</a:t>
            </a:r>
          </a:p>
        </p:txBody>
      </p:sp>
      <p:sp>
        <p:nvSpPr>
          <p:cNvPr id="3" name="Content Placeholder 2"/>
          <p:cNvSpPr>
            <a:spLocks noGrp="1"/>
          </p:cNvSpPr>
          <p:nvPr>
            <p:ph idx="1"/>
          </p:nvPr>
        </p:nvSpPr>
        <p:spPr>
          <a:xfrm>
            <a:off x="182880" y="1097279"/>
            <a:ext cx="11795760" cy="1585049"/>
          </a:xfrm>
          <a:prstGeom prst="rect">
            <a:avLst/>
          </a:prstGeom>
        </p:spPr>
        <p:txBody>
          <a:bodyPr/>
          <a:lstStyle>
            <a:lvl1pPr>
              <a:defRPr sz="2400"/>
            </a:lvl1pPr>
            <a:lvl2pPr>
              <a:defRPr sz="2000"/>
            </a:lvl2pPr>
            <a:lvl3pPr marL="1030288" indent="-346075">
              <a:buFont typeface="Wingdings" pitchFamily="2" charset="2"/>
              <a:buChar char="§"/>
              <a:defRPr sz="2000"/>
            </a:lvl3pPr>
            <a:lvl4pPr marL="1376363" indent="-346075">
              <a:buFont typeface="Arial" panose="020B0604020202020204" pitchFamily="34" charset="0"/>
              <a:buChar char="•"/>
              <a:defRPr sz="20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3">
            <a:extLst>
              <a:ext uri="{FF2B5EF4-FFF2-40B4-BE49-F238E27FC236}">
                <a16:creationId xmlns:a16="http://schemas.microsoft.com/office/drawing/2014/main" id="{D9B73D31-6A63-7A4C-986B-023423C27D18}"/>
              </a:ext>
            </a:extLst>
          </p:cNvPr>
          <p:cNvSpPr>
            <a:spLocks noGrp="1"/>
          </p:cNvSpPr>
          <p:nvPr>
            <p:ph type="sldNum" sz="quarter" idx="4"/>
          </p:nvPr>
        </p:nvSpPr>
        <p:spPr>
          <a:xfrm>
            <a:off x="11668058" y="6598914"/>
            <a:ext cx="533399" cy="259085"/>
          </a:xfrm>
          <a:prstGeom prst="rect">
            <a:avLst/>
          </a:prstGeom>
        </p:spPr>
        <p:txBody>
          <a:bodyPr vert="horz" lIns="91440" tIns="45720" rIns="91440" bIns="45720" rtlCol="0" anchor="ctr"/>
          <a:lstStyle>
            <a:lvl1pPr algn="r">
              <a:defRPr sz="1200" b="1">
                <a:solidFill>
                  <a:srgbClr val="303030"/>
                </a:solidFill>
                <a:latin typeface="Arial" panose="020B0604020202020204" pitchFamily="34" charset="0"/>
                <a:cs typeface="Arial" panose="020B0604020202020204" pitchFamily="34" charset="0"/>
              </a:defRPr>
            </a:lvl1pPr>
          </a:lstStyle>
          <a:p>
            <a:fld id="{20E7C221-15A6-47A8-9EBA-6BEF4440D1AA}" type="slidenum">
              <a:rPr lang="en-US" smtClean="0"/>
              <a:pPr/>
              <a:t>‹#›</a:t>
            </a:fld>
            <a:endParaRPr lang="en-US" dirty="0"/>
          </a:p>
        </p:txBody>
      </p:sp>
    </p:spTree>
    <p:extLst>
      <p:ext uri="{BB962C8B-B14F-4D97-AF65-F5344CB8AC3E}">
        <p14:creationId xmlns:p14="http://schemas.microsoft.com/office/powerpoint/2010/main" val="1429081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_DistD">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707886"/>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4052957"/>
            <a:ext cx="10363200" cy="353943"/>
          </a:xfrm>
          <a:prstGeom prst="rect">
            <a:avLst/>
          </a:prstGeom>
        </p:spPr>
        <p:txBody>
          <a:bodyPr anchor="b"/>
          <a:lstStyle>
            <a:lvl1pPr marL="0" indent="0">
              <a:buNone/>
              <a:defRPr sz="17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sldNum" sz="quarter" idx="10"/>
          </p:nvPr>
        </p:nvSpPr>
        <p:spPr/>
        <p:txBody>
          <a:bodyPr/>
          <a:lstStyle/>
          <a:p>
            <a:fld id="{20E7C221-15A6-47A8-9EBA-6BEF4440D1AA}" type="slidenum">
              <a:rPr lang="en-US" smtClean="0"/>
              <a:t>‹#›</a:t>
            </a:fld>
            <a:endParaRPr lang="en-US"/>
          </a:p>
        </p:txBody>
      </p:sp>
    </p:spTree>
    <p:extLst>
      <p:ext uri="{BB962C8B-B14F-4D97-AF65-F5344CB8AC3E}">
        <p14:creationId xmlns:p14="http://schemas.microsoft.com/office/powerpoint/2010/main" val="9995099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Only_Dist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9FBB4-A72F-C643-BB59-683B62519EDB}"/>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7033241F-EF24-6142-9B8B-2D9AD18A6C2E}"/>
              </a:ext>
            </a:extLst>
          </p:cNvPr>
          <p:cNvSpPr>
            <a:spLocks noGrp="1"/>
          </p:cNvSpPr>
          <p:nvPr>
            <p:ph type="sldNum" sz="quarter" idx="10"/>
          </p:nvPr>
        </p:nvSpPr>
        <p:spPr/>
        <p:txBody>
          <a:bodyPr/>
          <a:lstStyle/>
          <a:p>
            <a:fld id="{20E7C221-15A6-47A8-9EBA-6BEF4440D1AA}" type="slidenum">
              <a:rPr lang="en-US" smtClean="0"/>
              <a:pPr/>
              <a:t>‹#›</a:t>
            </a:fld>
            <a:endParaRPr lang="en-US" dirty="0"/>
          </a:p>
        </p:txBody>
      </p:sp>
    </p:spTree>
    <p:extLst>
      <p:ext uri="{BB962C8B-B14F-4D97-AF65-F5344CB8AC3E}">
        <p14:creationId xmlns:p14="http://schemas.microsoft.com/office/powerpoint/2010/main" val="15540313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_Dist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20E7C221-15A6-47A8-9EBA-6BEF4440D1AA}" type="slidenum">
              <a:rPr lang="en-US" smtClean="0"/>
              <a:t>‹#›</a:t>
            </a:fld>
            <a:endParaRPr lang="en-US"/>
          </a:p>
        </p:txBody>
      </p:sp>
    </p:spTree>
    <p:extLst>
      <p:ext uri="{BB962C8B-B14F-4D97-AF65-F5344CB8AC3E}">
        <p14:creationId xmlns:p14="http://schemas.microsoft.com/office/powerpoint/2010/main" val="3096984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9.xml"/><Relationship Id="rId7"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20.xml"/><Relationship Id="rId7" Type="http://schemas.openxmlformats.org/officeDocument/2006/relationships/theme" Target="../theme/theme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2880" y="367552"/>
            <a:ext cx="10187213" cy="584775"/>
          </a:xfrm>
          <a:prstGeom prst="rect">
            <a:avLst/>
          </a:prstGeom>
        </p:spPr>
        <p:txBody>
          <a:bodyPr vert="horz" wrap="square" lIns="91440" tIns="45720" rIns="91440" bIns="45720" rtlCol="0" anchor="t" anchorCtr="0">
            <a:spAutoFit/>
          </a:bodyPr>
          <a:lstStyle/>
          <a:p>
            <a:r>
              <a:rPr lang="en-US" dirty="0"/>
              <a:t>Click to edit Master title style</a:t>
            </a:r>
          </a:p>
        </p:txBody>
      </p:sp>
      <p:sp>
        <p:nvSpPr>
          <p:cNvPr id="16" name="Text Placeholder 15"/>
          <p:cNvSpPr>
            <a:spLocks noGrp="1"/>
          </p:cNvSpPr>
          <p:nvPr>
            <p:ph type="body" idx="1"/>
          </p:nvPr>
        </p:nvSpPr>
        <p:spPr>
          <a:xfrm>
            <a:off x="182880" y="1097280"/>
            <a:ext cx="11795760" cy="1585049"/>
          </a:xfrm>
          <a:prstGeom prst="rect">
            <a:avLst/>
          </a:prstGeom>
        </p:spPr>
        <p:txBody>
          <a:bodyPr vert="horz" wrap="square" lIns="91440" tIns="45720" rIns="9144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Rectangle 11"/>
          <p:cNvSpPr/>
          <p:nvPr userDrawn="1"/>
        </p:nvSpPr>
        <p:spPr>
          <a:xfrm>
            <a:off x="10555112" y="0"/>
            <a:ext cx="1636889" cy="182880"/>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4" name="Slide Number Placeholder 3"/>
          <p:cNvSpPr>
            <a:spLocks noGrp="1"/>
          </p:cNvSpPr>
          <p:nvPr>
            <p:ph type="sldNum" sz="quarter" idx="4"/>
          </p:nvPr>
        </p:nvSpPr>
        <p:spPr>
          <a:xfrm>
            <a:off x="11668058" y="6598914"/>
            <a:ext cx="533399" cy="259085"/>
          </a:xfrm>
          <a:prstGeom prst="rect">
            <a:avLst/>
          </a:prstGeom>
        </p:spPr>
        <p:txBody>
          <a:bodyPr vert="horz" lIns="91440" tIns="45720" rIns="91440" bIns="45720" rtlCol="0" anchor="ctr"/>
          <a:lstStyle>
            <a:lvl1pPr algn="r">
              <a:defRPr sz="1200" b="1">
                <a:solidFill>
                  <a:srgbClr val="303030"/>
                </a:solidFill>
                <a:latin typeface="Arial" panose="020B0604020202020204" pitchFamily="34" charset="0"/>
                <a:cs typeface="Arial" panose="020B0604020202020204" pitchFamily="34" charset="0"/>
              </a:defRPr>
            </a:lvl1pPr>
          </a:lstStyle>
          <a:p>
            <a:fld id="{20E7C221-15A6-47A8-9EBA-6BEF4440D1AA}" type="slidenum">
              <a:rPr lang="en-US" smtClean="0"/>
              <a:pPr/>
              <a:t>‹#›</a:t>
            </a:fld>
            <a:endParaRPr lang="en-US" dirty="0"/>
          </a:p>
        </p:txBody>
      </p:sp>
      <p:pic>
        <p:nvPicPr>
          <p:cNvPr id="10" name="Picture 9">
            <a:extLst>
              <a:ext uri="{FF2B5EF4-FFF2-40B4-BE49-F238E27FC236}">
                <a16:creationId xmlns:a16="http://schemas.microsoft.com/office/drawing/2014/main" id="{682868D0-DE77-0581-89F9-90DA980F3EF5}"/>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6429953"/>
            <a:ext cx="904461" cy="428046"/>
          </a:xfrm>
          <a:prstGeom prst="rect">
            <a:avLst/>
          </a:prstGeom>
        </p:spPr>
      </p:pic>
      <p:pic>
        <p:nvPicPr>
          <p:cNvPr id="3" name="Picture 2">
            <a:extLst>
              <a:ext uri="{FF2B5EF4-FFF2-40B4-BE49-F238E27FC236}">
                <a16:creationId xmlns:a16="http://schemas.microsoft.com/office/drawing/2014/main" id="{402F2D34-076D-1783-98B6-E2A375F5948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554629" y="-37523"/>
            <a:ext cx="1636889" cy="741348"/>
          </a:xfrm>
          <a:prstGeom prst="rect">
            <a:avLst/>
          </a:prstGeom>
        </p:spPr>
      </p:pic>
      <p:sp>
        <p:nvSpPr>
          <p:cNvPr id="5" name="Rectangle 4">
            <a:extLst>
              <a:ext uri="{FF2B5EF4-FFF2-40B4-BE49-F238E27FC236}">
                <a16:creationId xmlns:a16="http://schemas.microsoft.com/office/drawing/2014/main" id="{744A6E01-1EC4-E731-3C73-173463E7BE06}"/>
              </a:ext>
            </a:extLst>
          </p:cNvPr>
          <p:cNvSpPr/>
          <p:nvPr userDrawn="1"/>
        </p:nvSpPr>
        <p:spPr>
          <a:xfrm>
            <a:off x="0" y="0"/>
            <a:ext cx="10554146" cy="182880"/>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Tree>
    <p:extLst>
      <p:ext uri="{BB962C8B-B14F-4D97-AF65-F5344CB8AC3E}">
        <p14:creationId xmlns:p14="http://schemas.microsoft.com/office/powerpoint/2010/main" val="582260560"/>
      </p:ext>
    </p:extLst>
  </p:cSld>
  <p:clrMap bg1="lt1" tx1="dk1" bg2="lt2" tx2="dk2" accent1="accent1" accent2="accent2" accent3="accent3" accent4="accent4" accent5="accent5" accent6="accent6" hlink="hlink" folHlink="folHlink"/>
  <p:sldLayoutIdLst>
    <p:sldLayoutId id="2147483800" r:id="rId1"/>
    <p:sldLayoutId id="2147483796" r:id="rId2"/>
    <p:sldLayoutId id="2147483797" r:id="rId3"/>
    <p:sldLayoutId id="2147483798" r:id="rId4"/>
    <p:sldLayoutId id="2147483799" r:id="rId5"/>
    <p:sldLayoutId id="2147483801" r:id="rId6"/>
  </p:sldLayoutIdLst>
  <p:hf hdr="0"/>
  <p:txStyles>
    <p:titleStyle>
      <a:lvl1pPr algn="l" defTabSz="914400" rtl="0" eaLnBrk="1" latinLnBrk="0" hangingPunct="1">
        <a:spcBef>
          <a:spcPct val="0"/>
        </a:spcBef>
        <a:buNone/>
        <a:defRPr sz="3200" b="1" kern="120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ts val="1000"/>
        </a:spcBef>
        <a:buClr>
          <a:srgbClr val="440059"/>
        </a:buClr>
        <a:buSzPct val="112000"/>
        <a:buFont typeface="Wingdings 2" pitchFamily="18" charset="2"/>
        <a:buChar char=""/>
        <a:defRPr sz="2400" b="1" kern="1200">
          <a:solidFill>
            <a:schemeClr val="tx1"/>
          </a:solidFill>
          <a:latin typeface="Arial" pitchFamily="34" charset="0"/>
          <a:ea typeface="+mn-ea"/>
          <a:cs typeface="Arial" pitchFamily="34" charset="0"/>
        </a:defRPr>
      </a:lvl1pPr>
      <a:lvl2pPr marL="684213" indent="-342900" algn="l" defTabSz="914400" rtl="0" eaLnBrk="1" latinLnBrk="0" hangingPunct="1">
        <a:spcBef>
          <a:spcPts val="600"/>
        </a:spcBef>
        <a:buClr>
          <a:srgbClr val="440059"/>
        </a:buClr>
        <a:buSzPct val="120000"/>
        <a:buFont typeface="Arial" pitchFamily="34" charset="0"/>
        <a:buChar char="–"/>
        <a:defRPr sz="2000" b="0" kern="1200">
          <a:solidFill>
            <a:schemeClr val="tx1"/>
          </a:solidFill>
          <a:latin typeface="Arial" pitchFamily="34" charset="0"/>
          <a:ea typeface="+mn-ea"/>
          <a:cs typeface="Arial" pitchFamily="34" charset="0"/>
        </a:defRPr>
      </a:lvl2pPr>
      <a:lvl3pPr marL="1030288" indent="-346075" algn="l" defTabSz="914400" rtl="0" eaLnBrk="1" latinLnBrk="0" hangingPunct="1">
        <a:spcBef>
          <a:spcPct val="20000"/>
        </a:spcBef>
        <a:buClr>
          <a:srgbClr val="440059"/>
        </a:buClr>
        <a:buSzPct val="85000"/>
        <a:buFont typeface="Wingdings" pitchFamily="2" charset="2"/>
        <a:buChar char="§"/>
        <a:defRPr sz="2000" kern="1200">
          <a:solidFill>
            <a:schemeClr val="tx1"/>
          </a:solidFill>
          <a:latin typeface="Arial" pitchFamily="34" charset="0"/>
          <a:ea typeface="+mn-ea"/>
          <a:cs typeface="Arial" pitchFamily="34" charset="0"/>
        </a:defRPr>
      </a:lvl3pPr>
      <a:lvl4pPr marL="1376363" indent="-346075" algn="l" defTabSz="914400" rtl="0" eaLnBrk="1" latinLnBrk="0" hangingPunct="1">
        <a:spcBef>
          <a:spcPct val="20000"/>
        </a:spcBef>
        <a:buClr>
          <a:srgbClr val="440059"/>
        </a:buClr>
        <a:buSzPct val="120000"/>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2880" y="367552"/>
            <a:ext cx="10187213" cy="584775"/>
          </a:xfrm>
          <a:prstGeom prst="rect">
            <a:avLst/>
          </a:prstGeom>
        </p:spPr>
        <p:txBody>
          <a:bodyPr vert="horz" wrap="square" lIns="91440" tIns="45720" rIns="91440" bIns="45720" rtlCol="0" anchor="t" anchorCtr="0">
            <a:spAutoFit/>
          </a:bodyPr>
          <a:lstStyle/>
          <a:p>
            <a:r>
              <a:rPr lang="en-US" dirty="0"/>
              <a:t>Click to edit Master title style</a:t>
            </a:r>
          </a:p>
        </p:txBody>
      </p:sp>
      <p:sp>
        <p:nvSpPr>
          <p:cNvPr id="16" name="Text Placeholder 15"/>
          <p:cNvSpPr>
            <a:spLocks noGrp="1"/>
          </p:cNvSpPr>
          <p:nvPr>
            <p:ph type="body" idx="1"/>
          </p:nvPr>
        </p:nvSpPr>
        <p:spPr>
          <a:xfrm>
            <a:off x="182880" y="1097280"/>
            <a:ext cx="11795760" cy="1585049"/>
          </a:xfrm>
          <a:prstGeom prst="rect">
            <a:avLst/>
          </a:prstGeom>
        </p:spPr>
        <p:txBody>
          <a:bodyPr vert="horz" wrap="square" lIns="91440" tIns="45720" rIns="9144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Rectangle 11"/>
          <p:cNvSpPr/>
          <p:nvPr userDrawn="1"/>
        </p:nvSpPr>
        <p:spPr>
          <a:xfrm>
            <a:off x="10555112" y="0"/>
            <a:ext cx="1636889" cy="182880"/>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13" name="Rectangle 12"/>
          <p:cNvSpPr/>
          <p:nvPr userDrawn="1"/>
        </p:nvSpPr>
        <p:spPr>
          <a:xfrm>
            <a:off x="0" y="0"/>
            <a:ext cx="10554146" cy="182880"/>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4" name="Slide Number Placeholder 3"/>
          <p:cNvSpPr>
            <a:spLocks noGrp="1"/>
          </p:cNvSpPr>
          <p:nvPr>
            <p:ph type="sldNum" sz="quarter" idx="4"/>
          </p:nvPr>
        </p:nvSpPr>
        <p:spPr>
          <a:xfrm>
            <a:off x="11668058" y="6598914"/>
            <a:ext cx="533399" cy="259085"/>
          </a:xfrm>
          <a:prstGeom prst="rect">
            <a:avLst/>
          </a:prstGeom>
        </p:spPr>
        <p:txBody>
          <a:bodyPr vert="horz" lIns="91440" tIns="45720" rIns="91440" bIns="45720" rtlCol="0" anchor="ctr"/>
          <a:lstStyle>
            <a:lvl1pPr algn="r">
              <a:defRPr sz="1200" b="1">
                <a:solidFill>
                  <a:srgbClr val="303030"/>
                </a:solidFill>
                <a:latin typeface="Arial" panose="020B0604020202020204" pitchFamily="34" charset="0"/>
                <a:cs typeface="Arial" panose="020B0604020202020204" pitchFamily="34" charset="0"/>
              </a:defRPr>
            </a:lvl1pPr>
          </a:lstStyle>
          <a:p>
            <a:fld id="{20E7C221-15A6-47A8-9EBA-6BEF4440D1AA}" type="slidenum">
              <a:rPr lang="en-US" smtClean="0"/>
              <a:pPr/>
              <a:t>‹#›</a:t>
            </a:fld>
            <a:endParaRPr lang="en-US" dirty="0"/>
          </a:p>
        </p:txBody>
      </p:sp>
      <p:sp>
        <p:nvSpPr>
          <p:cNvPr id="5" name="TextBox 4">
            <a:extLst>
              <a:ext uri="{FF2B5EF4-FFF2-40B4-BE49-F238E27FC236}">
                <a16:creationId xmlns:a16="http://schemas.microsoft.com/office/drawing/2014/main" id="{61C7FBD0-2A14-7074-99F1-B78B127517BA}"/>
              </a:ext>
            </a:extLst>
          </p:cNvPr>
          <p:cNvSpPr txBox="1"/>
          <p:nvPr userDrawn="1"/>
        </p:nvSpPr>
        <p:spPr>
          <a:xfrm>
            <a:off x="2787996" y="6598914"/>
            <a:ext cx="658552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0" dirty="0">
                <a:solidFill>
                  <a:srgbClr val="303030"/>
                </a:solidFill>
                <a:latin typeface="Arial" pitchFamily="34" charset="0"/>
                <a:cs typeface="Arial" pitchFamily="34" charset="0"/>
              </a:rPr>
              <a:t>DISTRIBUTION STATEMENT A.  Approved for public release.  Distribution is unlimited.</a:t>
            </a:r>
          </a:p>
        </p:txBody>
      </p:sp>
      <p:pic>
        <p:nvPicPr>
          <p:cNvPr id="3" name="Picture 2">
            <a:extLst>
              <a:ext uri="{FF2B5EF4-FFF2-40B4-BE49-F238E27FC236}">
                <a16:creationId xmlns:a16="http://schemas.microsoft.com/office/drawing/2014/main" id="{ADF07DA9-E709-C64A-3864-63C6E5E0F64D}"/>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0" y="6429953"/>
            <a:ext cx="904461" cy="428046"/>
          </a:xfrm>
          <a:prstGeom prst="rect">
            <a:avLst/>
          </a:prstGeom>
        </p:spPr>
      </p:pic>
      <p:pic>
        <p:nvPicPr>
          <p:cNvPr id="7" name="Picture 6">
            <a:extLst>
              <a:ext uri="{FF2B5EF4-FFF2-40B4-BE49-F238E27FC236}">
                <a16:creationId xmlns:a16="http://schemas.microsoft.com/office/drawing/2014/main" id="{0807AFAD-B3A8-264A-A1F3-BF7F7A75D8CD}"/>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554629" y="-37523"/>
            <a:ext cx="1636889" cy="741348"/>
          </a:xfrm>
          <a:prstGeom prst="rect">
            <a:avLst/>
          </a:prstGeom>
        </p:spPr>
      </p:pic>
    </p:spTree>
    <p:extLst>
      <p:ext uri="{BB962C8B-B14F-4D97-AF65-F5344CB8AC3E}">
        <p14:creationId xmlns:p14="http://schemas.microsoft.com/office/powerpoint/2010/main" val="1551253256"/>
      </p:ext>
    </p:extLst>
  </p:cSld>
  <p:clrMap bg1="lt1" tx1="dk1" bg2="lt2" tx2="dk2" accent1="accent1" accent2="accent2" accent3="accent3" accent4="accent4" accent5="accent5" accent6="accent6" hlink="hlink" folHlink="folHlink"/>
  <p:sldLayoutIdLst>
    <p:sldLayoutId id="2147483793" r:id="rId1"/>
    <p:sldLayoutId id="2147483743" r:id="rId2"/>
    <p:sldLayoutId id="2147483746" r:id="rId3"/>
    <p:sldLayoutId id="2147483748" r:id="rId4"/>
    <p:sldLayoutId id="2147483752" r:id="rId5"/>
  </p:sldLayoutIdLst>
  <p:hf hdr="0"/>
  <p:txStyles>
    <p:titleStyle>
      <a:lvl1pPr algn="l" defTabSz="914400" rtl="0" eaLnBrk="1" latinLnBrk="0" hangingPunct="1">
        <a:spcBef>
          <a:spcPct val="0"/>
        </a:spcBef>
        <a:buNone/>
        <a:defRPr sz="3200" b="1" kern="120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ts val="1000"/>
        </a:spcBef>
        <a:buClr>
          <a:srgbClr val="440059"/>
        </a:buClr>
        <a:buSzPct val="112000"/>
        <a:buFont typeface="Wingdings 2" pitchFamily="18" charset="2"/>
        <a:buChar char=""/>
        <a:defRPr sz="2400" b="1" kern="1200">
          <a:solidFill>
            <a:schemeClr val="tx1"/>
          </a:solidFill>
          <a:latin typeface="Arial" pitchFamily="34" charset="0"/>
          <a:ea typeface="+mn-ea"/>
          <a:cs typeface="Arial" pitchFamily="34" charset="0"/>
        </a:defRPr>
      </a:lvl1pPr>
      <a:lvl2pPr marL="684213" indent="-342900" algn="l" defTabSz="914400" rtl="0" eaLnBrk="1" latinLnBrk="0" hangingPunct="1">
        <a:spcBef>
          <a:spcPts val="600"/>
        </a:spcBef>
        <a:buClr>
          <a:srgbClr val="440059"/>
        </a:buClr>
        <a:buSzPct val="120000"/>
        <a:buFont typeface="Arial" pitchFamily="34" charset="0"/>
        <a:buChar char="–"/>
        <a:defRPr sz="2000" b="0" kern="1200">
          <a:solidFill>
            <a:schemeClr val="tx1"/>
          </a:solidFill>
          <a:latin typeface="Arial" pitchFamily="34" charset="0"/>
          <a:ea typeface="+mn-ea"/>
          <a:cs typeface="Arial" pitchFamily="34" charset="0"/>
        </a:defRPr>
      </a:lvl2pPr>
      <a:lvl3pPr marL="1030288" indent="-346075" algn="l" defTabSz="914400" rtl="0" eaLnBrk="1" latinLnBrk="0" hangingPunct="1">
        <a:spcBef>
          <a:spcPct val="20000"/>
        </a:spcBef>
        <a:buClr>
          <a:srgbClr val="440059"/>
        </a:buClr>
        <a:buSzPct val="85000"/>
        <a:buFont typeface="Wingdings" pitchFamily="2" charset="2"/>
        <a:buChar char="§"/>
        <a:defRPr sz="2000" kern="1200">
          <a:solidFill>
            <a:schemeClr val="tx1"/>
          </a:solidFill>
          <a:latin typeface="Arial" pitchFamily="34" charset="0"/>
          <a:ea typeface="+mn-ea"/>
          <a:cs typeface="Arial" pitchFamily="34" charset="0"/>
        </a:defRPr>
      </a:lvl3pPr>
      <a:lvl4pPr marL="1376363" indent="-346075" algn="l" defTabSz="914400" rtl="0" eaLnBrk="1" latinLnBrk="0" hangingPunct="1">
        <a:spcBef>
          <a:spcPct val="20000"/>
        </a:spcBef>
        <a:buClr>
          <a:srgbClr val="440059"/>
        </a:buClr>
        <a:buSzPct val="120000"/>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2880" y="367552"/>
            <a:ext cx="10187213" cy="584775"/>
          </a:xfrm>
          <a:prstGeom prst="rect">
            <a:avLst/>
          </a:prstGeom>
        </p:spPr>
        <p:txBody>
          <a:bodyPr vert="horz" wrap="square" lIns="91440" tIns="45720" rIns="91440" bIns="45720" rtlCol="0" anchor="t" anchorCtr="0">
            <a:spAutoFit/>
          </a:bodyPr>
          <a:lstStyle/>
          <a:p>
            <a:r>
              <a:rPr lang="en-US" dirty="0"/>
              <a:t>Click to edit Master title style</a:t>
            </a:r>
          </a:p>
        </p:txBody>
      </p:sp>
      <p:sp>
        <p:nvSpPr>
          <p:cNvPr id="16" name="Text Placeholder 15"/>
          <p:cNvSpPr>
            <a:spLocks noGrp="1"/>
          </p:cNvSpPr>
          <p:nvPr>
            <p:ph type="body" idx="1"/>
          </p:nvPr>
        </p:nvSpPr>
        <p:spPr>
          <a:xfrm>
            <a:off x="182880" y="1097280"/>
            <a:ext cx="11795760" cy="1585049"/>
          </a:xfrm>
          <a:prstGeom prst="rect">
            <a:avLst/>
          </a:prstGeom>
        </p:spPr>
        <p:txBody>
          <a:bodyPr vert="horz" wrap="square" lIns="91440" tIns="45720" rIns="9144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Rectangle 12"/>
          <p:cNvSpPr/>
          <p:nvPr userDrawn="1"/>
        </p:nvSpPr>
        <p:spPr>
          <a:xfrm>
            <a:off x="0" y="0"/>
            <a:ext cx="12192000" cy="182880"/>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r>
              <a:rPr kumimoji="0" lang="en-US" sz="1200" dirty="0">
                <a:latin typeface="Arial" pitchFamily="34" charset="0"/>
                <a:cs typeface="Arial" pitchFamily="34" charset="0"/>
              </a:rPr>
              <a:t>CUI</a:t>
            </a:r>
          </a:p>
        </p:txBody>
      </p:sp>
      <p:sp>
        <p:nvSpPr>
          <p:cNvPr id="4" name="Slide Number Placeholder 3"/>
          <p:cNvSpPr>
            <a:spLocks noGrp="1"/>
          </p:cNvSpPr>
          <p:nvPr>
            <p:ph type="sldNum" sz="quarter" idx="4"/>
          </p:nvPr>
        </p:nvSpPr>
        <p:spPr>
          <a:xfrm>
            <a:off x="11668058" y="6598914"/>
            <a:ext cx="533399" cy="259085"/>
          </a:xfrm>
          <a:prstGeom prst="rect">
            <a:avLst/>
          </a:prstGeom>
        </p:spPr>
        <p:txBody>
          <a:bodyPr vert="horz" lIns="91440" tIns="45720" rIns="91440" bIns="45720" rtlCol="0" anchor="ctr"/>
          <a:lstStyle>
            <a:lvl1pPr algn="r">
              <a:defRPr sz="1200" b="1">
                <a:solidFill>
                  <a:srgbClr val="303030"/>
                </a:solidFill>
                <a:latin typeface="Arial" panose="020B0604020202020204" pitchFamily="34" charset="0"/>
                <a:cs typeface="Arial" panose="020B0604020202020204" pitchFamily="34" charset="0"/>
              </a:defRPr>
            </a:lvl1pPr>
          </a:lstStyle>
          <a:p>
            <a:fld id="{20E7C221-15A6-47A8-9EBA-6BEF4440D1AA}" type="slidenum">
              <a:rPr lang="en-US" smtClean="0"/>
              <a:pPr/>
              <a:t>‹#›</a:t>
            </a:fld>
            <a:endParaRPr lang="en-US" dirty="0"/>
          </a:p>
        </p:txBody>
      </p:sp>
      <p:sp>
        <p:nvSpPr>
          <p:cNvPr id="12" name="Rectangle 11"/>
          <p:cNvSpPr/>
          <p:nvPr userDrawn="1"/>
        </p:nvSpPr>
        <p:spPr>
          <a:xfrm>
            <a:off x="10555112" y="0"/>
            <a:ext cx="1636889" cy="182880"/>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sp>
        <p:nvSpPr>
          <p:cNvPr id="3" name="TextBox 2">
            <a:extLst>
              <a:ext uri="{FF2B5EF4-FFF2-40B4-BE49-F238E27FC236}">
                <a16:creationId xmlns:a16="http://schemas.microsoft.com/office/drawing/2014/main" id="{19AC4143-5E44-65C1-3095-03912822F8A1}"/>
              </a:ext>
            </a:extLst>
          </p:cNvPr>
          <p:cNvSpPr txBox="1"/>
          <p:nvPr userDrawn="1"/>
        </p:nvSpPr>
        <p:spPr>
          <a:xfrm>
            <a:off x="2803236" y="6598245"/>
            <a:ext cx="658552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solidFill>
                  <a:srgbClr val="303030"/>
                </a:solidFill>
                <a:latin typeface="Arial" pitchFamily="34" charset="0"/>
                <a:cs typeface="Arial" pitchFamily="34" charset="0"/>
              </a:rPr>
              <a:t>CUI</a:t>
            </a:r>
          </a:p>
        </p:txBody>
      </p:sp>
      <p:pic>
        <p:nvPicPr>
          <p:cNvPr id="5" name="Picture 4">
            <a:extLst>
              <a:ext uri="{FF2B5EF4-FFF2-40B4-BE49-F238E27FC236}">
                <a16:creationId xmlns:a16="http://schemas.microsoft.com/office/drawing/2014/main" id="{A92BAE3A-11E5-3CF4-8241-FBFB8A42AD9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6429953"/>
            <a:ext cx="904461" cy="428046"/>
          </a:xfrm>
          <a:prstGeom prst="rect">
            <a:avLst/>
          </a:prstGeom>
        </p:spPr>
      </p:pic>
      <p:pic>
        <p:nvPicPr>
          <p:cNvPr id="8" name="Picture 7">
            <a:extLst>
              <a:ext uri="{FF2B5EF4-FFF2-40B4-BE49-F238E27FC236}">
                <a16:creationId xmlns:a16="http://schemas.microsoft.com/office/drawing/2014/main" id="{BF89C6FA-1085-8614-1350-8E2A121EB18F}"/>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554629" y="-37523"/>
            <a:ext cx="1636889" cy="741348"/>
          </a:xfrm>
          <a:prstGeom prst="rect">
            <a:avLst/>
          </a:prstGeom>
        </p:spPr>
      </p:pic>
    </p:spTree>
    <p:extLst>
      <p:ext uri="{BB962C8B-B14F-4D97-AF65-F5344CB8AC3E}">
        <p14:creationId xmlns:p14="http://schemas.microsoft.com/office/powerpoint/2010/main" val="2003194778"/>
      </p:ext>
    </p:extLst>
  </p:cSld>
  <p:clrMap bg1="lt1" tx1="dk1" bg2="lt2" tx2="dk2" accent1="accent1" accent2="accent2" accent3="accent3" accent4="accent4" accent5="accent5" accent6="accent6" hlink="hlink" folHlink="folHlink"/>
  <p:sldLayoutIdLst>
    <p:sldLayoutId id="2147483758" r:id="rId1"/>
    <p:sldLayoutId id="2147483792" r:id="rId2"/>
    <p:sldLayoutId id="2147483762" r:id="rId3"/>
    <p:sldLayoutId id="2147483764" r:id="rId4"/>
    <p:sldLayoutId id="2147483767" r:id="rId5"/>
    <p:sldLayoutId id="2147483771" r:id="rId6"/>
  </p:sldLayoutIdLst>
  <p:hf hdr="0"/>
  <p:txStyles>
    <p:titleStyle>
      <a:lvl1pPr algn="l" defTabSz="914400" rtl="0" eaLnBrk="1" latinLnBrk="0" hangingPunct="1">
        <a:spcBef>
          <a:spcPct val="0"/>
        </a:spcBef>
        <a:buNone/>
        <a:defRPr sz="3200" b="1" kern="120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ts val="1000"/>
        </a:spcBef>
        <a:buClr>
          <a:srgbClr val="440059"/>
        </a:buClr>
        <a:buSzPct val="112000"/>
        <a:buFont typeface="Wingdings 2" pitchFamily="18" charset="2"/>
        <a:buChar char=""/>
        <a:defRPr sz="2400" b="1" kern="1200">
          <a:solidFill>
            <a:schemeClr val="tx1"/>
          </a:solidFill>
          <a:latin typeface="Arial" pitchFamily="34" charset="0"/>
          <a:ea typeface="+mn-ea"/>
          <a:cs typeface="Arial" pitchFamily="34" charset="0"/>
        </a:defRPr>
      </a:lvl1pPr>
      <a:lvl2pPr marL="684213" indent="-342900" algn="l" defTabSz="914400" rtl="0" eaLnBrk="1" latinLnBrk="0" hangingPunct="1">
        <a:spcBef>
          <a:spcPts val="600"/>
        </a:spcBef>
        <a:buClr>
          <a:srgbClr val="440059"/>
        </a:buClr>
        <a:buSzPct val="120000"/>
        <a:buFont typeface="Arial" pitchFamily="34" charset="0"/>
        <a:buChar char="–"/>
        <a:defRPr sz="2000" b="0" kern="1200">
          <a:solidFill>
            <a:schemeClr val="tx1"/>
          </a:solidFill>
          <a:latin typeface="Arial" pitchFamily="34" charset="0"/>
          <a:ea typeface="+mn-ea"/>
          <a:cs typeface="Arial" pitchFamily="34" charset="0"/>
        </a:defRPr>
      </a:lvl2pPr>
      <a:lvl3pPr marL="1030288" indent="-346075" algn="l" defTabSz="914400" rtl="0" eaLnBrk="1" latinLnBrk="0" hangingPunct="1">
        <a:spcBef>
          <a:spcPct val="20000"/>
        </a:spcBef>
        <a:buClr>
          <a:srgbClr val="440059"/>
        </a:buClr>
        <a:buSzPct val="85000"/>
        <a:buFont typeface="Wingdings" pitchFamily="2" charset="2"/>
        <a:buChar char="§"/>
        <a:defRPr sz="2000" kern="1200">
          <a:solidFill>
            <a:schemeClr val="tx1"/>
          </a:solidFill>
          <a:latin typeface="Arial" pitchFamily="34" charset="0"/>
          <a:ea typeface="+mn-ea"/>
          <a:cs typeface="Arial" pitchFamily="34" charset="0"/>
        </a:defRPr>
      </a:lvl3pPr>
      <a:lvl4pPr marL="1376363" indent="-346075" algn="l" defTabSz="914400" rtl="0" eaLnBrk="1" latinLnBrk="0" hangingPunct="1">
        <a:spcBef>
          <a:spcPct val="20000"/>
        </a:spcBef>
        <a:buClr>
          <a:srgbClr val="440059"/>
        </a:buClr>
        <a:buSzPct val="120000"/>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2880" y="367552"/>
            <a:ext cx="10187213" cy="584775"/>
          </a:xfrm>
          <a:prstGeom prst="rect">
            <a:avLst/>
          </a:prstGeom>
        </p:spPr>
        <p:txBody>
          <a:bodyPr vert="horz" wrap="square" lIns="91440" tIns="45720" rIns="91440" bIns="45720" rtlCol="0" anchor="t" anchorCtr="0">
            <a:spAutoFit/>
          </a:bodyPr>
          <a:lstStyle/>
          <a:p>
            <a:r>
              <a:rPr lang="en-US" dirty="0"/>
              <a:t>Click to edit Master title style</a:t>
            </a:r>
          </a:p>
        </p:txBody>
      </p:sp>
      <p:sp>
        <p:nvSpPr>
          <p:cNvPr id="16" name="Text Placeholder 15"/>
          <p:cNvSpPr>
            <a:spLocks noGrp="1"/>
          </p:cNvSpPr>
          <p:nvPr>
            <p:ph type="body" idx="1"/>
          </p:nvPr>
        </p:nvSpPr>
        <p:spPr>
          <a:xfrm>
            <a:off x="182880" y="1097280"/>
            <a:ext cx="11795760" cy="1585049"/>
          </a:xfrm>
          <a:prstGeom prst="rect">
            <a:avLst/>
          </a:prstGeom>
        </p:spPr>
        <p:txBody>
          <a:bodyPr vert="horz" wrap="square" lIns="91440" tIns="45720" rIns="9144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Rectangle 12"/>
          <p:cNvSpPr/>
          <p:nvPr userDrawn="1"/>
        </p:nvSpPr>
        <p:spPr>
          <a:xfrm>
            <a:off x="0" y="0"/>
            <a:ext cx="12192000" cy="182880"/>
          </a:xfrm>
          <a:prstGeom prst="rect">
            <a:avLst/>
          </a:prstGeom>
          <a:solidFill>
            <a:schemeClr val="bg1">
              <a:lumMod val="6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r>
              <a:rPr kumimoji="0" lang="en-US" sz="1200" dirty="0">
                <a:latin typeface="Arial" pitchFamily="34" charset="0"/>
                <a:cs typeface="Arial" pitchFamily="34" charset="0"/>
              </a:rPr>
              <a:t>CUI</a:t>
            </a:r>
          </a:p>
        </p:txBody>
      </p:sp>
      <p:sp>
        <p:nvSpPr>
          <p:cNvPr id="4" name="Slide Number Placeholder 3"/>
          <p:cNvSpPr>
            <a:spLocks noGrp="1"/>
          </p:cNvSpPr>
          <p:nvPr>
            <p:ph type="sldNum" sz="quarter" idx="4"/>
          </p:nvPr>
        </p:nvSpPr>
        <p:spPr>
          <a:xfrm>
            <a:off x="11668058" y="6598914"/>
            <a:ext cx="533399" cy="259085"/>
          </a:xfrm>
          <a:prstGeom prst="rect">
            <a:avLst/>
          </a:prstGeom>
        </p:spPr>
        <p:txBody>
          <a:bodyPr vert="horz" lIns="91440" tIns="45720" rIns="91440" bIns="45720" rtlCol="0" anchor="ctr"/>
          <a:lstStyle>
            <a:lvl1pPr algn="r">
              <a:defRPr sz="1200" b="1">
                <a:solidFill>
                  <a:srgbClr val="303030"/>
                </a:solidFill>
                <a:latin typeface="Arial" panose="020B0604020202020204" pitchFamily="34" charset="0"/>
                <a:cs typeface="Arial" panose="020B0604020202020204" pitchFamily="34" charset="0"/>
              </a:defRPr>
            </a:lvl1pPr>
          </a:lstStyle>
          <a:p>
            <a:fld id="{20E7C221-15A6-47A8-9EBA-6BEF4440D1AA}" type="slidenum">
              <a:rPr lang="en-US" smtClean="0"/>
              <a:pPr/>
              <a:t>‹#›</a:t>
            </a:fld>
            <a:endParaRPr lang="en-US" dirty="0"/>
          </a:p>
        </p:txBody>
      </p:sp>
      <p:sp>
        <p:nvSpPr>
          <p:cNvPr id="6" name="TextBox 5">
            <a:extLst>
              <a:ext uri="{FF2B5EF4-FFF2-40B4-BE49-F238E27FC236}">
                <a16:creationId xmlns:a16="http://schemas.microsoft.com/office/drawing/2014/main" id="{202B7727-974B-04B8-23C0-D5E4B228B0A4}"/>
              </a:ext>
            </a:extLst>
          </p:cNvPr>
          <p:cNvSpPr txBox="1"/>
          <p:nvPr userDrawn="1"/>
        </p:nvSpPr>
        <p:spPr>
          <a:xfrm>
            <a:off x="2803236" y="6598245"/>
            <a:ext cx="658552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solidFill>
                  <a:srgbClr val="303030"/>
                </a:solidFill>
                <a:latin typeface="Arial" pitchFamily="34" charset="0"/>
                <a:cs typeface="Arial" pitchFamily="34" charset="0"/>
              </a:rPr>
              <a:t>CUI</a:t>
            </a:r>
          </a:p>
        </p:txBody>
      </p:sp>
      <p:sp>
        <p:nvSpPr>
          <p:cNvPr id="12" name="Rectangle 11"/>
          <p:cNvSpPr/>
          <p:nvPr userDrawn="1"/>
        </p:nvSpPr>
        <p:spPr>
          <a:xfrm>
            <a:off x="10555112" y="0"/>
            <a:ext cx="1636889" cy="182880"/>
          </a:xfrm>
          <a:prstGeom prst="rect">
            <a:avLst/>
          </a:prstGeom>
          <a:solidFill>
            <a:srgbClr val="440059"/>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latin typeface="Arial" pitchFamily="34" charset="0"/>
              <a:cs typeface="Arial" pitchFamily="34" charset="0"/>
            </a:endParaRPr>
          </a:p>
        </p:txBody>
      </p:sp>
      <p:pic>
        <p:nvPicPr>
          <p:cNvPr id="5" name="Picture 4">
            <a:extLst>
              <a:ext uri="{FF2B5EF4-FFF2-40B4-BE49-F238E27FC236}">
                <a16:creationId xmlns:a16="http://schemas.microsoft.com/office/drawing/2014/main" id="{449A6AD8-A29B-71C1-0069-F2012F8B58E0}"/>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6429953"/>
            <a:ext cx="904461" cy="428046"/>
          </a:xfrm>
          <a:prstGeom prst="rect">
            <a:avLst/>
          </a:prstGeom>
        </p:spPr>
      </p:pic>
      <p:pic>
        <p:nvPicPr>
          <p:cNvPr id="7" name="Picture 6">
            <a:extLst>
              <a:ext uri="{FF2B5EF4-FFF2-40B4-BE49-F238E27FC236}">
                <a16:creationId xmlns:a16="http://schemas.microsoft.com/office/drawing/2014/main" id="{4C482760-A12C-E69C-9C36-A4312098A190}"/>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554629" y="-37523"/>
            <a:ext cx="1636889" cy="741348"/>
          </a:xfrm>
          <a:prstGeom prst="rect">
            <a:avLst/>
          </a:prstGeom>
        </p:spPr>
      </p:pic>
    </p:spTree>
    <p:extLst>
      <p:ext uri="{BB962C8B-B14F-4D97-AF65-F5344CB8AC3E}">
        <p14:creationId xmlns:p14="http://schemas.microsoft.com/office/powerpoint/2010/main" val="2112317525"/>
      </p:ext>
    </p:extLst>
  </p:cSld>
  <p:clrMap bg1="lt1" tx1="dk1" bg2="lt2" tx2="dk2" accent1="accent1" accent2="accent2" accent3="accent3" accent4="accent4" accent5="accent5" accent6="accent6" hlink="hlink" folHlink="folHlink"/>
  <p:sldLayoutIdLst>
    <p:sldLayoutId id="2147483777" r:id="rId1"/>
    <p:sldLayoutId id="2147483791" r:id="rId2"/>
    <p:sldLayoutId id="2147483781" r:id="rId3"/>
    <p:sldLayoutId id="2147483782" r:id="rId4"/>
    <p:sldLayoutId id="2147483786" r:id="rId5"/>
    <p:sldLayoutId id="2147483790" r:id="rId6"/>
  </p:sldLayoutIdLst>
  <p:hf hdr="0"/>
  <p:txStyles>
    <p:titleStyle>
      <a:lvl1pPr algn="l" defTabSz="914400" rtl="0" eaLnBrk="1" latinLnBrk="0" hangingPunct="1">
        <a:spcBef>
          <a:spcPct val="0"/>
        </a:spcBef>
        <a:buNone/>
        <a:defRPr sz="3200" b="1" kern="120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ts val="1000"/>
        </a:spcBef>
        <a:buClr>
          <a:srgbClr val="440059"/>
        </a:buClr>
        <a:buSzPct val="112000"/>
        <a:buFont typeface="Wingdings 2" pitchFamily="18" charset="2"/>
        <a:buChar char=""/>
        <a:defRPr sz="2400" b="1" kern="1200">
          <a:solidFill>
            <a:schemeClr val="tx1"/>
          </a:solidFill>
          <a:latin typeface="Arial" pitchFamily="34" charset="0"/>
          <a:ea typeface="+mn-ea"/>
          <a:cs typeface="Arial" pitchFamily="34" charset="0"/>
        </a:defRPr>
      </a:lvl1pPr>
      <a:lvl2pPr marL="684213" indent="-342900" algn="l" defTabSz="914400" rtl="0" eaLnBrk="1" latinLnBrk="0" hangingPunct="1">
        <a:spcBef>
          <a:spcPts val="600"/>
        </a:spcBef>
        <a:buClr>
          <a:srgbClr val="440059"/>
        </a:buClr>
        <a:buSzPct val="120000"/>
        <a:buFont typeface="Arial" pitchFamily="34" charset="0"/>
        <a:buChar char="–"/>
        <a:defRPr sz="2000" b="0" kern="1200">
          <a:solidFill>
            <a:schemeClr val="tx1"/>
          </a:solidFill>
          <a:latin typeface="Arial" pitchFamily="34" charset="0"/>
          <a:ea typeface="+mn-ea"/>
          <a:cs typeface="Arial" pitchFamily="34" charset="0"/>
        </a:defRPr>
      </a:lvl2pPr>
      <a:lvl3pPr marL="1030288" indent="-346075" algn="l" defTabSz="914400" rtl="0" eaLnBrk="1" latinLnBrk="0" hangingPunct="1">
        <a:spcBef>
          <a:spcPct val="20000"/>
        </a:spcBef>
        <a:buClr>
          <a:srgbClr val="440059"/>
        </a:buClr>
        <a:buSzPct val="85000"/>
        <a:buFont typeface="Wingdings" pitchFamily="2" charset="2"/>
        <a:buChar char="§"/>
        <a:defRPr sz="2000" kern="1200">
          <a:solidFill>
            <a:schemeClr val="tx1"/>
          </a:solidFill>
          <a:latin typeface="Arial" pitchFamily="34" charset="0"/>
          <a:ea typeface="+mn-ea"/>
          <a:cs typeface="Arial" pitchFamily="34" charset="0"/>
        </a:defRPr>
      </a:lvl3pPr>
      <a:lvl4pPr marL="1376363" indent="-346075" algn="l" defTabSz="914400" rtl="0" eaLnBrk="1" latinLnBrk="0" hangingPunct="1">
        <a:spcBef>
          <a:spcPct val="20000"/>
        </a:spcBef>
        <a:buClr>
          <a:srgbClr val="440059"/>
        </a:buClr>
        <a:buSzPct val="120000"/>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8.emf"/><Relationship Id="rId2" Type="http://schemas.openxmlformats.org/officeDocument/2006/relationships/video" Target="../media/media1.webm"/><Relationship Id="rId1" Type="http://schemas.microsoft.com/office/2007/relationships/media" Target="../media/media1.webm"/><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wmf"/></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em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2.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42.wmf"/></Relationships>
</file>

<file path=ppt/slides/_rels/slide35.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44.w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7.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38.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9B516C2-B0DF-B562-3E22-BDF7E8B5D5CF}"/>
              </a:ext>
            </a:extLst>
          </p:cNvPr>
          <p:cNvSpPr>
            <a:spLocks noGrp="1"/>
          </p:cNvSpPr>
          <p:nvPr>
            <p:ph type="ctrTitle"/>
          </p:nvPr>
        </p:nvSpPr>
        <p:spPr/>
        <p:txBody>
          <a:bodyPr/>
          <a:lstStyle/>
          <a:p>
            <a:r>
              <a:rPr lang="en-US" dirty="0"/>
              <a:t>Enhanced Engineering Workflows in the HPCMP CREATE</a:t>
            </a:r>
            <a:r>
              <a:rPr lang="en-US" baseline="30000" dirty="0"/>
              <a:t>TM</a:t>
            </a:r>
            <a:r>
              <a:rPr lang="en-US" dirty="0"/>
              <a:t> Ecosystem Demonstrated on the SUI Endurance UAV </a:t>
            </a:r>
          </a:p>
        </p:txBody>
      </p:sp>
      <p:sp>
        <p:nvSpPr>
          <p:cNvPr id="3" name="Subtitle 2">
            <a:extLst>
              <a:ext uri="{FF2B5EF4-FFF2-40B4-BE49-F238E27FC236}">
                <a16:creationId xmlns:a16="http://schemas.microsoft.com/office/drawing/2014/main" id="{9793E2FE-B8B3-F0D7-7F58-4EB3DF8364ED}"/>
              </a:ext>
            </a:extLst>
          </p:cNvPr>
          <p:cNvSpPr>
            <a:spLocks noGrp="1"/>
          </p:cNvSpPr>
          <p:nvPr>
            <p:ph type="subTitle" idx="1" hasCustomPrompt="1"/>
          </p:nvPr>
        </p:nvSpPr>
        <p:spPr>
          <a:prstGeom prst="rect">
            <a:avLst/>
          </a:prstGeom>
        </p:spPr>
        <p:txBody>
          <a:bodyPr wrap="square">
            <a:spAutoFit/>
          </a:bodyPr>
          <a:lstStyle>
            <a:lvl1pPr marL="0" indent="0" algn="l">
              <a:spcBef>
                <a:spcPts val="500"/>
              </a:spcBef>
              <a:buNone/>
              <a:defRPr sz="1600" b="1">
                <a:solidFill>
                  <a:schemeClr val="bg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Jennifer Abras, Vinod Lakshminarayan, </a:t>
            </a:r>
            <a:r>
              <a:rPr lang="en-US"/>
              <a:t>Eric Mestreau, </a:t>
            </a:r>
            <a:r>
              <a:rPr lang="en-US" dirty="0"/>
              <a:t>Saikat Dey, and Nathan Hariharan</a:t>
            </a:r>
          </a:p>
          <a:p>
            <a:r>
              <a:rPr lang="en-US" dirty="0"/>
              <a:t>Overset Grid Symposium, September 2026</a:t>
            </a:r>
          </a:p>
        </p:txBody>
      </p:sp>
    </p:spTree>
    <p:extLst>
      <p:ext uri="{BB962C8B-B14F-4D97-AF65-F5344CB8AC3E}">
        <p14:creationId xmlns:p14="http://schemas.microsoft.com/office/powerpoint/2010/main" val="2444008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8143BA-A0FA-A47A-892C-553F64B4F07F}"/>
              </a:ext>
            </a:extLst>
          </p:cNvPr>
          <p:cNvSpPr>
            <a:spLocks noGrp="1"/>
          </p:cNvSpPr>
          <p:nvPr>
            <p:ph type="sldNum" sz="quarter" idx="10"/>
          </p:nvPr>
        </p:nvSpPr>
        <p:spPr/>
        <p:txBody>
          <a:bodyPr/>
          <a:lstStyle/>
          <a:p>
            <a:fld id="{20E7C221-15A6-47A8-9EBA-6BEF4440D1AA}" type="slidenum">
              <a:rPr lang="en-US" smtClean="0"/>
              <a:pPr/>
              <a:t>2</a:t>
            </a:fld>
            <a:endParaRPr lang="en-US" dirty="0"/>
          </a:p>
        </p:txBody>
      </p:sp>
      <p:sp>
        <p:nvSpPr>
          <p:cNvPr id="5" name="Title 1">
            <a:extLst>
              <a:ext uri="{FF2B5EF4-FFF2-40B4-BE49-F238E27FC236}">
                <a16:creationId xmlns:a16="http://schemas.microsoft.com/office/drawing/2014/main" id="{FBC67B26-FBFF-1A65-6C93-AF5CAE50AFA9}"/>
              </a:ext>
            </a:extLst>
          </p:cNvPr>
          <p:cNvSpPr txBox="1">
            <a:spLocks/>
          </p:cNvSpPr>
          <p:nvPr/>
        </p:nvSpPr>
        <p:spPr>
          <a:xfrm>
            <a:off x="290288" y="264311"/>
            <a:ext cx="10184673" cy="584775"/>
          </a:xfrm>
          <a:prstGeom prst="rect">
            <a:avLst/>
          </a:prstGeom>
        </p:spPr>
        <p:txBody>
          <a:bodyPr/>
          <a:lstStyle>
            <a:lvl1pPr algn="l" defTabSz="914400" rtl="0" eaLnBrk="1" latinLnBrk="0" hangingPunct="1">
              <a:spcBef>
                <a:spcPct val="0"/>
              </a:spcBef>
              <a:buNone/>
              <a:defRPr sz="3200" b="1" kern="1200">
                <a:solidFill>
                  <a:schemeClr val="tx1"/>
                </a:solidFill>
                <a:latin typeface="Arial" pitchFamily="34" charset="0"/>
                <a:ea typeface="+mj-ea"/>
                <a:cs typeface="Arial" pitchFamily="34" charset="0"/>
              </a:defRPr>
            </a:lvl1pPr>
          </a:lstStyle>
          <a:p>
            <a:r>
              <a:rPr lang="en-US"/>
              <a:t>Motivation</a:t>
            </a:r>
            <a:endParaRPr lang="en-US" dirty="0"/>
          </a:p>
        </p:txBody>
      </p:sp>
      <p:sp>
        <p:nvSpPr>
          <p:cNvPr id="7" name="Rectangle 6">
            <a:extLst>
              <a:ext uri="{FF2B5EF4-FFF2-40B4-BE49-F238E27FC236}">
                <a16:creationId xmlns:a16="http://schemas.microsoft.com/office/drawing/2014/main" id="{4A65E474-734B-4A15-4698-DB9C6E6E8A10}"/>
              </a:ext>
            </a:extLst>
          </p:cNvPr>
          <p:cNvSpPr/>
          <p:nvPr/>
        </p:nvSpPr>
        <p:spPr>
          <a:xfrm>
            <a:off x="124337" y="1942837"/>
            <a:ext cx="4850983"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1BC15FD-EEB7-0DE6-F493-A273C5B188B7}"/>
              </a:ext>
            </a:extLst>
          </p:cNvPr>
          <p:cNvSpPr txBox="1"/>
          <p:nvPr/>
        </p:nvSpPr>
        <p:spPr>
          <a:xfrm>
            <a:off x="1446898" y="2050558"/>
            <a:ext cx="2205860" cy="369332"/>
          </a:xfrm>
          <a:prstGeom prst="rect">
            <a:avLst/>
          </a:prstGeom>
          <a:noFill/>
        </p:spPr>
        <p:txBody>
          <a:bodyPr wrap="none" rtlCol="0">
            <a:spAutoFit/>
          </a:bodyPr>
          <a:lstStyle/>
          <a:p>
            <a:r>
              <a:rPr lang="en-US" b="1" dirty="0"/>
              <a:t>Geometry Processing</a:t>
            </a:r>
          </a:p>
        </p:txBody>
      </p:sp>
      <p:sp>
        <p:nvSpPr>
          <p:cNvPr id="9" name="Rectangle 8">
            <a:extLst>
              <a:ext uri="{FF2B5EF4-FFF2-40B4-BE49-F238E27FC236}">
                <a16:creationId xmlns:a16="http://schemas.microsoft.com/office/drawing/2014/main" id="{DF0A5509-6F98-E2DC-B69A-96ED01594071}"/>
              </a:ext>
            </a:extLst>
          </p:cNvPr>
          <p:cNvSpPr/>
          <p:nvPr/>
        </p:nvSpPr>
        <p:spPr>
          <a:xfrm>
            <a:off x="4975320" y="1942837"/>
            <a:ext cx="3621505" cy="58477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3D7A02-D90D-949F-1F7E-ECD399A81D05}"/>
              </a:ext>
            </a:extLst>
          </p:cNvPr>
          <p:cNvSpPr/>
          <p:nvPr/>
        </p:nvSpPr>
        <p:spPr>
          <a:xfrm>
            <a:off x="8596825" y="1942837"/>
            <a:ext cx="3466838" cy="584775"/>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BD74F71-B33E-FAC3-1487-971FB8924FA4}"/>
              </a:ext>
            </a:extLst>
          </p:cNvPr>
          <p:cNvSpPr txBox="1"/>
          <p:nvPr/>
        </p:nvSpPr>
        <p:spPr>
          <a:xfrm>
            <a:off x="5926286" y="2050558"/>
            <a:ext cx="1719573" cy="369332"/>
          </a:xfrm>
          <a:prstGeom prst="rect">
            <a:avLst/>
          </a:prstGeom>
          <a:noFill/>
        </p:spPr>
        <p:txBody>
          <a:bodyPr wrap="none" rtlCol="0">
            <a:spAutoFit/>
          </a:bodyPr>
          <a:lstStyle/>
          <a:p>
            <a:r>
              <a:rPr lang="en-US" b="1" dirty="0"/>
              <a:t>Grid Generation</a:t>
            </a:r>
          </a:p>
        </p:txBody>
      </p:sp>
      <p:sp>
        <p:nvSpPr>
          <p:cNvPr id="12" name="TextBox 11">
            <a:extLst>
              <a:ext uri="{FF2B5EF4-FFF2-40B4-BE49-F238E27FC236}">
                <a16:creationId xmlns:a16="http://schemas.microsoft.com/office/drawing/2014/main" id="{ED28C08B-1D23-E5A7-FE0E-6BC12F42EB27}"/>
              </a:ext>
            </a:extLst>
          </p:cNvPr>
          <p:cNvSpPr txBox="1"/>
          <p:nvPr/>
        </p:nvSpPr>
        <p:spPr>
          <a:xfrm>
            <a:off x="9724405" y="2050558"/>
            <a:ext cx="1211678" cy="369332"/>
          </a:xfrm>
          <a:prstGeom prst="rect">
            <a:avLst/>
          </a:prstGeom>
          <a:noFill/>
        </p:spPr>
        <p:txBody>
          <a:bodyPr wrap="none" rtlCol="0">
            <a:spAutoFit/>
          </a:bodyPr>
          <a:lstStyle/>
          <a:p>
            <a:r>
              <a:rPr lang="en-US" b="1" dirty="0"/>
              <a:t>Simulation</a:t>
            </a:r>
          </a:p>
        </p:txBody>
      </p:sp>
      <p:sp>
        <p:nvSpPr>
          <p:cNvPr id="13" name="TextBox 12">
            <a:extLst>
              <a:ext uri="{FF2B5EF4-FFF2-40B4-BE49-F238E27FC236}">
                <a16:creationId xmlns:a16="http://schemas.microsoft.com/office/drawing/2014/main" id="{A0D5D8DC-1456-4DE7-154C-69B05EC43A44}"/>
              </a:ext>
            </a:extLst>
          </p:cNvPr>
          <p:cNvSpPr txBox="1"/>
          <p:nvPr/>
        </p:nvSpPr>
        <p:spPr>
          <a:xfrm>
            <a:off x="404472" y="3556136"/>
            <a:ext cx="11383056" cy="954107"/>
          </a:xfrm>
          <a:prstGeom prst="rect">
            <a:avLst/>
          </a:prstGeom>
          <a:noFill/>
        </p:spPr>
        <p:txBody>
          <a:bodyPr wrap="square" rtlCol="0">
            <a:spAutoFit/>
          </a:bodyPr>
          <a:lstStyle/>
          <a:p>
            <a:pPr algn="ctr"/>
            <a:r>
              <a:rPr lang="en-US" sz="2800" b="1" dirty="0"/>
              <a:t>Total time needed to get to the start of running simulations may span from days to weeks depending on the size and complexity of a configuration</a:t>
            </a:r>
          </a:p>
        </p:txBody>
      </p:sp>
      <p:cxnSp>
        <p:nvCxnSpPr>
          <p:cNvPr id="14" name="Straight Arrow Connector 13">
            <a:extLst>
              <a:ext uri="{FF2B5EF4-FFF2-40B4-BE49-F238E27FC236}">
                <a16:creationId xmlns:a16="http://schemas.microsoft.com/office/drawing/2014/main" id="{403A63B7-C4BE-E67E-81EE-D79E0F33635E}"/>
              </a:ext>
            </a:extLst>
          </p:cNvPr>
          <p:cNvCxnSpPr>
            <a:cxnSpLocks/>
          </p:cNvCxnSpPr>
          <p:nvPr/>
        </p:nvCxnSpPr>
        <p:spPr>
          <a:xfrm>
            <a:off x="248718" y="2709721"/>
            <a:ext cx="116945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0F066F5-B21B-3A96-EFDC-C453E68FB148}"/>
              </a:ext>
            </a:extLst>
          </p:cNvPr>
          <p:cNvSpPr txBox="1"/>
          <p:nvPr/>
        </p:nvSpPr>
        <p:spPr>
          <a:xfrm>
            <a:off x="11160171" y="2846312"/>
            <a:ext cx="657552" cy="369332"/>
          </a:xfrm>
          <a:prstGeom prst="rect">
            <a:avLst/>
          </a:prstGeom>
          <a:noFill/>
        </p:spPr>
        <p:txBody>
          <a:bodyPr wrap="none" rtlCol="0">
            <a:spAutoFit/>
          </a:bodyPr>
          <a:lstStyle/>
          <a:p>
            <a:r>
              <a:rPr lang="en-US" b="1" dirty="0"/>
              <a:t>Time</a:t>
            </a:r>
          </a:p>
        </p:txBody>
      </p:sp>
      <p:sp>
        <p:nvSpPr>
          <p:cNvPr id="16" name="TextBox 15">
            <a:extLst>
              <a:ext uri="{FF2B5EF4-FFF2-40B4-BE49-F238E27FC236}">
                <a16:creationId xmlns:a16="http://schemas.microsoft.com/office/drawing/2014/main" id="{BAE7E1EB-E98E-A94B-4E99-CA3961029B60}"/>
              </a:ext>
            </a:extLst>
          </p:cNvPr>
          <p:cNvSpPr txBox="1"/>
          <p:nvPr/>
        </p:nvSpPr>
        <p:spPr>
          <a:xfrm>
            <a:off x="404472" y="5024506"/>
            <a:ext cx="11383056" cy="954107"/>
          </a:xfrm>
          <a:prstGeom prst="rect">
            <a:avLst/>
          </a:prstGeom>
          <a:noFill/>
        </p:spPr>
        <p:txBody>
          <a:bodyPr wrap="square" rtlCol="0">
            <a:spAutoFit/>
          </a:bodyPr>
          <a:lstStyle/>
          <a:p>
            <a:pPr algn="ctr"/>
            <a:r>
              <a:rPr lang="en-US" sz="2800" b="1" dirty="0"/>
              <a:t>Adopting methods to reduce the time spent prior to simulation execution saves a significant amount of time</a:t>
            </a:r>
          </a:p>
        </p:txBody>
      </p:sp>
      <p:sp>
        <p:nvSpPr>
          <p:cNvPr id="17" name="TextBox 16">
            <a:extLst>
              <a:ext uri="{FF2B5EF4-FFF2-40B4-BE49-F238E27FC236}">
                <a16:creationId xmlns:a16="http://schemas.microsoft.com/office/drawing/2014/main" id="{2057473E-7610-EB5A-A498-952244D94EC3}"/>
              </a:ext>
            </a:extLst>
          </p:cNvPr>
          <p:cNvSpPr txBox="1"/>
          <p:nvPr/>
        </p:nvSpPr>
        <p:spPr>
          <a:xfrm>
            <a:off x="3636537" y="1151091"/>
            <a:ext cx="1448089" cy="369332"/>
          </a:xfrm>
          <a:prstGeom prst="rect">
            <a:avLst/>
          </a:prstGeom>
          <a:noFill/>
        </p:spPr>
        <p:txBody>
          <a:bodyPr wrap="none" rtlCol="0">
            <a:spAutoFit/>
          </a:bodyPr>
          <a:lstStyle/>
          <a:p>
            <a:r>
              <a:rPr lang="en-US" b="1" dirty="0"/>
              <a:t>Days - Weeks</a:t>
            </a:r>
          </a:p>
        </p:txBody>
      </p:sp>
      <p:sp>
        <p:nvSpPr>
          <p:cNvPr id="18" name="Right Brace 17">
            <a:extLst>
              <a:ext uri="{FF2B5EF4-FFF2-40B4-BE49-F238E27FC236}">
                <a16:creationId xmlns:a16="http://schemas.microsoft.com/office/drawing/2014/main" id="{8C3D9193-E588-2DB0-5E79-E5EE2F8E1A7C}"/>
              </a:ext>
            </a:extLst>
          </p:cNvPr>
          <p:cNvSpPr/>
          <p:nvPr/>
        </p:nvSpPr>
        <p:spPr>
          <a:xfrm rot="16200000">
            <a:off x="4249006" y="-2537227"/>
            <a:ext cx="223152" cy="8472488"/>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 Placeholder 6">
            <a:extLst>
              <a:ext uri="{FF2B5EF4-FFF2-40B4-BE49-F238E27FC236}">
                <a16:creationId xmlns:a16="http://schemas.microsoft.com/office/drawing/2014/main" id="{88404810-ADDD-C853-2B97-B81BB0041CB1}"/>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212432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63AC0-D0F9-2211-71FF-9F89FFDB3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DE9E79-C84E-894E-B4FC-22BE687270B7}"/>
              </a:ext>
            </a:extLst>
          </p:cNvPr>
          <p:cNvSpPr>
            <a:spLocks noGrp="1"/>
          </p:cNvSpPr>
          <p:nvPr>
            <p:ph type="title"/>
          </p:nvPr>
        </p:nvSpPr>
        <p:spPr/>
        <p:txBody>
          <a:bodyPr/>
          <a:lstStyle/>
          <a:p>
            <a:r>
              <a:rPr lang="en-US" dirty="0"/>
              <a:t>Generic Engineering Workflow</a:t>
            </a:r>
          </a:p>
        </p:txBody>
      </p:sp>
      <p:sp>
        <p:nvSpPr>
          <p:cNvPr id="4" name="Slide Number Placeholder 3">
            <a:extLst>
              <a:ext uri="{FF2B5EF4-FFF2-40B4-BE49-F238E27FC236}">
                <a16:creationId xmlns:a16="http://schemas.microsoft.com/office/drawing/2014/main" id="{90D66943-D4AB-F712-AD95-41AA6A2ACB12}"/>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3</a:t>
            </a:fld>
            <a:endParaRPr lang="en-US"/>
          </a:p>
        </p:txBody>
      </p:sp>
      <p:sp>
        <p:nvSpPr>
          <p:cNvPr id="9" name="Rectangle: Rounded Corners 8">
            <a:extLst>
              <a:ext uri="{FF2B5EF4-FFF2-40B4-BE49-F238E27FC236}">
                <a16:creationId xmlns:a16="http://schemas.microsoft.com/office/drawing/2014/main" id="{4A2B9437-26C9-3892-F235-5C8EA0999E8F}"/>
              </a:ext>
            </a:extLst>
          </p:cNvPr>
          <p:cNvSpPr/>
          <p:nvPr/>
        </p:nvSpPr>
        <p:spPr>
          <a:xfrm>
            <a:off x="1157392" y="1395312"/>
            <a:ext cx="1907204" cy="963276"/>
          </a:xfrm>
          <a:prstGeom prst="roundRect">
            <a:avLst/>
          </a:prstGeom>
          <a:no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Task Start Communication</a:t>
            </a:r>
          </a:p>
        </p:txBody>
      </p:sp>
      <p:sp>
        <p:nvSpPr>
          <p:cNvPr id="13" name="Rectangle: Rounded Corners 12">
            <a:extLst>
              <a:ext uri="{FF2B5EF4-FFF2-40B4-BE49-F238E27FC236}">
                <a16:creationId xmlns:a16="http://schemas.microsoft.com/office/drawing/2014/main" id="{B0367ACA-4F11-D809-B1D3-B35C7757B018}"/>
              </a:ext>
            </a:extLst>
          </p:cNvPr>
          <p:cNvSpPr/>
          <p:nvPr/>
        </p:nvSpPr>
        <p:spPr>
          <a:xfrm>
            <a:off x="3226343" y="1842670"/>
            <a:ext cx="1907204" cy="963276"/>
          </a:xfrm>
          <a:prstGeom prst="roundRect">
            <a:avLst/>
          </a:prstGeom>
          <a:noFill/>
          <a:ln>
            <a:solidFill>
              <a:schemeClr val="accent2">
                <a:lumMod val="40000"/>
                <a:lumOff val="6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Gather Information</a:t>
            </a:r>
          </a:p>
        </p:txBody>
      </p:sp>
      <p:sp>
        <p:nvSpPr>
          <p:cNvPr id="14" name="Rectangle: Rounded Corners 13">
            <a:extLst>
              <a:ext uri="{FF2B5EF4-FFF2-40B4-BE49-F238E27FC236}">
                <a16:creationId xmlns:a16="http://schemas.microsoft.com/office/drawing/2014/main" id="{30F74501-55B8-07DD-56A6-DA2F4AB54A85}"/>
              </a:ext>
            </a:extLst>
          </p:cNvPr>
          <p:cNvSpPr/>
          <p:nvPr/>
        </p:nvSpPr>
        <p:spPr>
          <a:xfrm>
            <a:off x="5295294" y="2324308"/>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15" name="Rectangle: Rounded Corners 14">
            <a:extLst>
              <a:ext uri="{FF2B5EF4-FFF2-40B4-BE49-F238E27FC236}">
                <a16:creationId xmlns:a16="http://schemas.microsoft.com/office/drawing/2014/main" id="{230D5A13-941E-659E-04B2-C83D356A7EFD}"/>
              </a:ext>
            </a:extLst>
          </p:cNvPr>
          <p:cNvSpPr/>
          <p:nvPr/>
        </p:nvSpPr>
        <p:spPr>
          <a:xfrm>
            <a:off x="7364245" y="2805946"/>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Generate Grids</a:t>
            </a:r>
          </a:p>
        </p:txBody>
      </p:sp>
      <p:sp>
        <p:nvSpPr>
          <p:cNvPr id="16" name="Rectangle: Rounded Corners 15">
            <a:extLst>
              <a:ext uri="{FF2B5EF4-FFF2-40B4-BE49-F238E27FC236}">
                <a16:creationId xmlns:a16="http://schemas.microsoft.com/office/drawing/2014/main" id="{F7865B75-AE91-0ABA-B1D5-6A646D4947C5}"/>
              </a:ext>
            </a:extLst>
          </p:cNvPr>
          <p:cNvSpPr/>
          <p:nvPr/>
        </p:nvSpPr>
        <p:spPr>
          <a:xfrm>
            <a:off x="7364245" y="3932398"/>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Execute Simulations</a:t>
            </a:r>
          </a:p>
        </p:txBody>
      </p:sp>
      <p:sp>
        <p:nvSpPr>
          <p:cNvPr id="17" name="Rectangle: Rounded Corners 16">
            <a:extLst>
              <a:ext uri="{FF2B5EF4-FFF2-40B4-BE49-F238E27FC236}">
                <a16:creationId xmlns:a16="http://schemas.microsoft.com/office/drawing/2014/main" id="{EE18226D-52B9-50BD-7396-51AF47D48908}"/>
              </a:ext>
            </a:extLst>
          </p:cNvPr>
          <p:cNvSpPr/>
          <p:nvPr/>
        </p:nvSpPr>
        <p:spPr>
          <a:xfrm>
            <a:off x="5295294" y="4411038"/>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Post-Process Results</a:t>
            </a:r>
          </a:p>
        </p:txBody>
      </p:sp>
      <p:sp>
        <p:nvSpPr>
          <p:cNvPr id="18" name="Rectangle: Rounded Corners 17">
            <a:extLst>
              <a:ext uri="{FF2B5EF4-FFF2-40B4-BE49-F238E27FC236}">
                <a16:creationId xmlns:a16="http://schemas.microsoft.com/office/drawing/2014/main" id="{59B923BF-C4D4-63E3-C39F-EDFB14688186}"/>
              </a:ext>
            </a:extLst>
          </p:cNvPr>
          <p:cNvSpPr/>
          <p:nvPr/>
        </p:nvSpPr>
        <p:spPr>
          <a:xfrm>
            <a:off x="3226343" y="4892676"/>
            <a:ext cx="1907204" cy="963276"/>
          </a:xfrm>
          <a:prstGeom prst="roundRect">
            <a:avLst/>
          </a:prstGeom>
          <a:noFill/>
          <a:ln>
            <a:solidFill>
              <a:schemeClr val="accent2">
                <a:lumMod val="40000"/>
                <a:lumOff val="6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Report Generation</a:t>
            </a:r>
          </a:p>
        </p:txBody>
      </p:sp>
      <p:sp>
        <p:nvSpPr>
          <p:cNvPr id="19" name="Rectangle: Rounded Corners 18">
            <a:extLst>
              <a:ext uri="{FF2B5EF4-FFF2-40B4-BE49-F238E27FC236}">
                <a16:creationId xmlns:a16="http://schemas.microsoft.com/office/drawing/2014/main" id="{7D38459E-C3E6-CAEE-B8C1-B5523A26F7FA}"/>
              </a:ext>
            </a:extLst>
          </p:cNvPr>
          <p:cNvSpPr/>
          <p:nvPr/>
        </p:nvSpPr>
        <p:spPr>
          <a:xfrm>
            <a:off x="1157392" y="5374314"/>
            <a:ext cx="1907204" cy="963276"/>
          </a:xfrm>
          <a:prstGeom prst="roundRect">
            <a:avLst/>
          </a:prstGeom>
          <a:no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Task End Communication</a:t>
            </a:r>
          </a:p>
        </p:txBody>
      </p:sp>
      <p:sp>
        <p:nvSpPr>
          <p:cNvPr id="20" name="Rectangle: Rounded Corners 19">
            <a:extLst>
              <a:ext uri="{FF2B5EF4-FFF2-40B4-BE49-F238E27FC236}">
                <a16:creationId xmlns:a16="http://schemas.microsoft.com/office/drawing/2014/main" id="{BC62F105-FD64-0873-D82B-006DBB9FAF1E}"/>
              </a:ext>
            </a:extLst>
          </p:cNvPr>
          <p:cNvSpPr/>
          <p:nvPr/>
        </p:nvSpPr>
        <p:spPr>
          <a:xfrm>
            <a:off x="9433196" y="3341818"/>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Setup Simulation Inputs</a:t>
            </a:r>
          </a:p>
        </p:txBody>
      </p:sp>
      <p:cxnSp>
        <p:nvCxnSpPr>
          <p:cNvPr id="22" name="Straight Arrow Connector 21">
            <a:extLst>
              <a:ext uri="{FF2B5EF4-FFF2-40B4-BE49-F238E27FC236}">
                <a16:creationId xmlns:a16="http://schemas.microsoft.com/office/drawing/2014/main" id="{DCCDFBEA-1E15-A4DA-C9A2-BBC6D8EF8122}"/>
              </a:ext>
            </a:extLst>
          </p:cNvPr>
          <p:cNvCxnSpPr/>
          <p:nvPr/>
        </p:nvCxnSpPr>
        <p:spPr>
          <a:xfrm>
            <a:off x="2110994" y="1072977"/>
            <a:ext cx="8366760" cy="1682496"/>
          </a:xfrm>
          <a:prstGeom prst="straightConnector1">
            <a:avLst/>
          </a:prstGeom>
          <a:ln w="952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4F90E62-C45A-004B-C613-A7A36B8215D9}"/>
              </a:ext>
            </a:extLst>
          </p:cNvPr>
          <p:cNvCxnSpPr>
            <a:cxnSpLocks/>
          </p:cNvCxnSpPr>
          <p:nvPr/>
        </p:nvCxnSpPr>
        <p:spPr>
          <a:xfrm flipH="1">
            <a:off x="2112390" y="4989154"/>
            <a:ext cx="8363967" cy="1686284"/>
          </a:xfrm>
          <a:prstGeom prst="straightConnector1">
            <a:avLst/>
          </a:prstGeom>
          <a:ln w="952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 name="Text Placeholder 6">
            <a:extLst>
              <a:ext uri="{FF2B5EF4-FFF2-40B4-BE49-F238E27FC236}">
                <a16:creationId xmlns:a16="http://schemas.microsoft.com/office/drawing/2014/main" id="{DFF5940F-8D00-6149-4E17-542F0937EA0F}"/>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850437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F000D-31DE-F7AC-9035-CDC21725A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CA653-5E9D-8A5B-79FE-A64458B628DF}"/>
              </a:ext>
            </a:extLst>
          </p:cNvPr>
          <p:cNvSpPr>
            <a:spLocks noGrp="1"/>
          </p:cNvSpPr>
          <p:nvPr>
            <p:ph type="title"/>
          </p:nvPr>
        </p:nvSpPr>
        <p:spPr/>
        <p:txBody>
          <a:bodyPr/>
          <a:lstStyle/>
          <a:p>
            <a:r>
              <a:rPr lang="en-US" dirty="0"/>
              <a:t>Toolset for the Current Investigation</a:t>
            </a:r>
          </a:p>
        </p:txBody>
      </p:sp>
      <p:sp>
        <p:nvSpPr>
          <p:cNvPr id="4" name="Slide Number Placeholder 3">
            <a:extLst>
              <a:ext uri="{FF2B5EF4-FFF2-40B4-BE49-F238E27FC236}">
                <a16:creationId xmlns:a16="http://schemas.microsoft.com/office/drawing/2014/main" id="{6215D81C-B649-1D0B-A4E2-CF44FE57638C}"/>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4</a:t>
            </a:fld>
            <a:endParaRPr lang="en-US"/>
          </a:p>
        </p:txBody>
      </p:sp>
      <p:sp>
        <p:nvSpPr>
          <p:cNvPr id="9" name="Rectangle: Rounded Corners 8">
            <a:extLst>
              <a:ext uri="{FF2B5EF4-FFF2-40B4-BE49-F238E27FC236}">
                <a16:creationId xmlns:a16="http://schemas.microsoft.com/office/drawing/2014/main" id="{EB0BE994-A4D8-FE4B-DE84-71500D29C6E4}"/>
              </a:ext>
            </a:extLst>
          </p:cNvPr>
          <p:cNvSpPr/>
          <p:nvPr/>
        </p:nvSpPr>
        <p:spPr>
          <a:xfrm>
            <a:off x="1157392" y="1395312"/>
            <a:ext cx="1907204" cy="963276"/>
          </a:xfrm>
          <a:prstGeom prst="roundRect">
            <a:avLst/>
          </a:prstGeom>
          <a:no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Task Start Communication</a:t>
            </a:r>
          </a:p>
        </p:txBody>
      </p:sp>
      <p:sp>
        <p:nvSpPr>
          <p:cNvPr id="13" name="Rectangle: Rounded Corners 12">
            <a:extLst>
              <a:ext uri="{FF2B5EF4-FFF2-40B4-BE49-F238E27FC236}">
                <a16:creationId xmlns:a16="http://schemas.microsoft.com/office/drawing/2014/main" id="{16C84F6B-1D14-CF9A-9CA2-8837926A2498}"/>
              </a:ext>
            </a:extLst>
          </p:cNvPr>
          <p:cNvSpPr/>
          <p:nvPr/>
        </p:nvSpPr>
        <p:spPr>
          <a:xfrm>
            <a:off x="3226343" y="1842670"/>
            <a:ext cx="1907204" cy="963276"/>
          </a:xfrm>
          <a:prstGeom prst="roundRect">
            <a:avLst/>
          </a:prstGeom>
          <a:noFill/>
          <a:ln>
            <a:solidFill>
              <a:schemeClr val="accent2">
                <a:lumMod val="40000"/>
                <a:lumOff val="6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Gather Information</a:t>
            </a:r>
          </a:p>
        </p:txBody>
      </p:sp>
      <p:sp>
        <p:nvSpPr>
          <p:cNvPr id="14" name="Rectangle: Rounded Corners 13">
            <a:extLst>
              <a:ext uri="{FF2B5EF4-FFF2-40B4-BE49-F238E27FC236}">
                <a16:creationId xmlns:a16="http://schemas.microsoft.com/office/drawing/2014/main" id="{76B5E869-DB0E-CF54-081A-17850ACDB4D0}"/>
              </a:ext>
            </a:extLst>
          </p:cNvPr>
          <p:cNvSpPr/>
          <p:nvPr/>
        </p:nvSpPr>
        <p:spPr>
          <a:xfrm>
            <a:off x="5295294" y="2324308"/>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15" name="Rectangle: Rounded Corners 14">
            <a:extLst>
              <a:ext uri="{FF2B5EF4-FFF2-40B4-BE49-F238E27FC236}">
                <a16:creationId xmlns:a16="http://schemas.microsoft.com/office/drawing/2014/main" id="{C390D2F4-DFD0-3496-55B2-2379428A6BAF}"/>
              </a:ext>
            </a:extLst>
          </p:cNvPr>
          <p:cNvSpPr/>
          <p:nvPr/>
        </p:nvSpPr>
        <p:spPr>
          <a:xfrm>
            <a:off x="7364245" y="2805946"/>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16" name="Rectangle: Rounded Corners 15">
            <a:extLst>
              <a:ext uri="{FF2B5EF4-FFF2-40B4-BE49-F238E27FC236}">
                <a16:creationId xmlns:a16="http://schemas.microsoft.com/office/drawing/2014/main" id="{01F6A991-1C81-7119-C5D5-89674BF8941D}"/>
              </a:ext>
            </a:extLst>
          </p:cNvPr>
          <p:cNvSpPr/>
          <p:nvPr/>
        </p:nvSpPr>
        <p:spPr>
          <a:xfrm>
            <a:off x="7364245" y="3932398"/>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sp>
        <p:nvSpPr>
          <p:cNvPr id="17" name="Rectangle: Rounded Corners 16">
            <a:extLst>
              <a:ext uri="{FF2B5EF4-FFF2-40B4-BE49-F238E27FC236}">
                <a16:creationId xmlns:a16="http://schemas.microsoft.com/office/drawing/2014/main" id="{2CB8FF1D-A1A4-7A3B-C9B8-3C439D661542}"/>
              </a:ext>
            </a:extLst>
          </p:cNvPr>
          <p:cNvSpPr/>
          <p:nvPr/>
        </p:nvSpPr>
        <p:spPr>
          <a:xfrm>
            <a:off x="5295294" y="4411038"/>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Post-Process Results</a:t>
            </a:r>
          </a:p>
        </p:txBody>
      </p:sp>
      <p:sp>
        <p:nvSpPr>
          <p:cNvPr id="18" name="Rectangle: Rounded Corners 17">
            <a:extLst>
              <a:ext uri="{FF2B5EF4-FFF2-40B4-BE49-F238E27FC236}">
                <a16:creationId xmlns:a16="http://schemas.microsoft.com/office/drawing/2014/main" id="{BB071184-9349-882C-F90E-0EFB1B323B8A}"/>
              </a:ext>
            </a:extLst>
          </p:cNvPr>
          <p:cNvSpPr/>
          <p:nvPr/>
        </p:nvSpPr>
        <p:spPr>
          <a:xfrm>
            <a:off x="3226343" y="4892676"/>
            <a:ext cx="1907204" cy="963276"/>
          </a:xfrm>
          <a:prstGeom prst="roundRect">
            <a:avLst/>
          </a:prstGeom>
          <a:noFill/>
          <a:ln>
            <a:solidFill>
              <a:schemeClr val="accent2">
                <a:lumMod val="40000"/>
                <a:lumOff val="6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Report Generation</a:t>
            </a:r>
          </a:p>
        </p:txBody>
      </p:sp>
      <p:sp>
        <p:nvSpPr>
          <p:cNvPr id="19" name="Rectangle: Rounded Corners 18">
            <a:extLst>
              <a:ext uri="{FF2B5EF4-FFF2-40B4-BE49-F238E27FC236}">
                <a16:creationId xmlns:a16="http://schemas.microsoft.com/office/drawing/2014/main" id="{D49D03AD-43D3-CC80-840B-81875DE0BC88}"/>
              </a:ext>
            </a:extLst>
          </p:cNvPr>
          <p:cNvSpPr/>
          <p:nvPr/>
        </p:nvSpPr>
        <p:spPr>
          <a:xfrm>
            <a:off x="1157392" y="5374314"/>
            <a:ext cx="1907204" cy="963276"/>
          </a:xfrm>
          <a:prstGeom prst="roundRect">
            <a:avLst/>
          </a:prstGeom>
          <a:no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Task End Communication</a:t>
            </a:r>
          </a:p>
        </p:txBody>
      </p:sp>
      <p:sp>
        <p:nvSpPr>
          <p:cNvPr id="20" name="Rectangle: Rounded Corners 19">
            <a:extLst>
              <a:ext uri="{FF2B5EF4-FFF2-40B4-BE49-F238E27FC236}">
                <a16:creationId xmlns:a16="http://schemas.microsoft.com/office/drawing/2014/main" id="{6C1F1CC4-9DDC-897A-8128-DCBFC9C86402}"/>
              </a:ext>
            </a:extLst>
          </p:cNvPr>
          <p:cNvSpPr/>
          <p:nvPr/>
        </p:nvSpPr>
        <p:spPr>
          <a:xfrm>
            <a:off x="9433196" y="3341818"/>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HIGen</a:t>
            </a:r>
            <a:r>
              <a:rPr lang="en-US" b="1" dirty="0">
                <a:solidFill>
                  <a:schemeClr val="tx1"/>
                </a:solidFill>
              </a:rPr>
              <a:t> GUI</a:t>
            </a:r>
          </a:p>
        </p:txBody>
      </p:sp>
      <p:cxnSp>
        <p:nvCxnSpPr>
          <p:cNvPr id="22" name="Straight Arrow Connector 21">
            <a:extLst>
              <a:ext uri="{FF2B5EF4-FFF2-40B4-BE49-F238E27FC236}">
                <a16:creationId xmlns:a16="http://schemas.microsoft.com/office/drawing/2014/main" id="{5A0A8CF7-3A19-FE1C-062A-D86F04C3A1E6}"/>
              </a:ext>
            </a:extLst>
          </p:cNvPr>
          <p:cNvCxnSpPr/>
          <p:nvPr/>
        </p:nvCxnSpPr>
        <p:spPr>
          <a:xfrm>
            <a:off x="2110994" y="1072977"/>
            <a:ext cx="8366760" cy="1682496"/>
          </a:xfrm>
          <a:prstGeom prst="straightConnector1">
            <a:avLst/>
          </a:prstGeom>
          <a:ln w="952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E236AF9-F965-FC0A-6416-E13361096F38}"/>
              </a:ext>
            </a:extLst>
          </p:cNvPr>
          <p:cNvCxnSpPr>
            <a:cxnSpLocks/>
          </p:cNvCxnSpPr>
          <p:nvPr/>
        </p:nvCxnSpPr>
        <p:spPr>
          <a:xfrm flipH="1">
            <a:off x="2112390" y="4989154"/>
            <a:ext cx="8363967" cy="1686284"/>
          </a:xfrm>
          <a:prstGeom prst="straightConnector1">
            <a:avLst/>
          </a:prstGeom>
          <a:ln w="952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 name="Text Placeholder 6">
            <a:extLst>
              <a:ext uri="{FF2B5EF4-FFF2-40B4-BE49-F238E27FC236}">
                <a16:creationId xmlns:a16="http://schemas.microsoft.com/office/drawing/2014/main" id="{6F0DEC82-D9D3-DA26-077A-D50913A49598}"/>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2522752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7A3CC-71E9-6E5E-AAC8-D5DD1EC982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8F775-F144-F0E1-066D-022B502F11FB}"/>
              </a:ext>
            </a:extLst>
          </p:cNvPr>
          <p:cNvSpPr>
            <a:spLocks noGrp="1"/>
          </p:cNvSpPr>
          <p:nvPr>
            <p:ph type="title"/>
          </p:nvPr>
        </p:nvSpPr>
        <p:spPr/>
        <p:txBody>
          <a:bodyPr/>
          <a:lstStyle/>
          <a:p>
            <a:r>
              <a:rPr lang="en-US" dirty="0"/>
              <a:t>Toolset for the Current Investigation</a:t>
            </a:r>
          </a:p>
        </p:txBody>
      </p:sp>
      <p:sp>
        <p:nvSpPr>
          <p:cNvPr id="4" name="Slide Number Placeholder 3">
            <a:extLst>
              <a:ext uri="{FF2B5EF4-FFF2-40B4-BE49-F238E27FC236}">
                <a16:creationId xmlns:a16="http://schemas.microsoft.com/office/drawing/2014/main" id="{C9ABCBE3-C079-537C-A7D7-BF3F402F38DE}"/>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5</a:t>
            </a:fld>
            <a:endParaRPr lang="en-US"/>
          </a:p>
        </p:txBody>
      </p:sp>
      <p:sp>
        <p:nvSpPr>
          <p:cNvPr id="9" name="Rectangle: Rounded Corners 8">
            <a:extLst>
              <a:ext uri="{FF2B5EF4-FFF2-40B4-BE49-F238E27FC236}">
                <a16:creationId xmlns:a16="http://schemas.microsoft.com/office/drawing/2014/main" id="{90E3D5C0-C497-24D1-6A89-C9E68A374880}"/>
              </a:ext>
            </a:extLst>
          </p:cNvPr>
          <p:cNvSpPr/>
          <p:nvPr/>
        </p:nvSpPr>
        <p:spPr>
          <a:xfrm>
            <a:off x="1157392" y="1395312"/>
            <a:ext cx="1907204" cy="963276"/>
          </a:xfrm>
          <a:prstGeom prst="roundRect">
            <a:avLst/>
          </a:prstGeom>
          <a:no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Task Start Communication</a:t>
            </a:r>
          </a:p>
        </p:txBody>
      </p:sp>
      <p:sp>
        <p:nvSpPr>
          <p:cNvPr id="13" name="Rectangle: Rounded Corners 12">
            <a:extLst>
              <a:ext uri="{FF2B5EF4-FFF2-40B4-BE49-F238E27FC236}">
                <a16:creationId xmlns:a16="http://schemas.microsoft.com/office/drawing/2014/main" id="{ED0AB136-00E4-B799-9E9D-3FCC7DF107A2}"/>
              </a:ext>
            </a:extLst>
          </p:cNvPr>
          <p:cNvSpPr/>
          <p:nvPr/>
        </p:nvSpPr>
        <p:spPr>
          <a:xfrm>
            <a:off x="3226343" y="1842670"/>
            <a:ext cx="1907204" cy="963276"/>
          </a:xfrm>
          <a:prstGeom prst="roundRect">
            <a:avLst/>
          </a:prstGeom>
          <a:noFill/>
          <a:ln>
            <a:solidFill>
              <a:schemeClr val="accent2">
                <a:lumMod val="40000"/>
                <a:lumOff val="6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Gather Information</a:t>
            </a:r>
          </a:p>
        </p:txBody>
      </p:sp>
      <p:sp>
        <p:nvSpPr>
          <p:cNvPr id="14" name="Rectangle: Rounded Corners 13">
            <a:extLst>
              <a:ext uri="{FF2B5EF4-FFF2-40B4-BE49-F238E27FC236}">
                <a16:creationId xmlns:a16="http://schemas.microsoft.com/office/drawing/2014/main" id="{C41F3F55-5987-D9FE-08DA-4DAB78F4EF32}"/>
              </a:ext>
            </a:extLst>
          </p:cNvPr>
          <p:cNvSpPr/>
          <p:nvPr/>
        </p:nvSpPr>
        <p:spPr>
          <a:xfrm>
            <a:off x="5295294" y="2324308"/>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15" name="Rectangle: Rounded Corners 14">
            <a:extLst>
              <a:ext uri="{FF2B5EF4-FFF2-40B4-BE49-F238E27FC236}">
                <a16:creationId xmlns:a16="http://schemas.microsoft.com/office/drawing/2014/main" id="{F906CF48-2FF7-DACA-7061-1B5AE7A731D9}"/>
              </a:ext>
            </a:extLst>
          </p:cNvPr>
          <p:cNvSpPr/>
          <p:nvPr/>
        </p:nvSpPr>
        <p:spPr>
          <a:xfrm>
            <a:off x="7364245" y="2805946"/>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16" name="Rectangle: Rounded Corners 15">
            <a:extLst>
              <a:ext uri="{FF2B5EF4-FFF2-40B4-BE49-F238E27FC236}">
                <a16:creationId xmlns:a16="http://schemas.microsoft.com/office/drawing/2014/main" id="{0A3AF4E9-8F80-5A68-5FDA-549ABEB9002A}"/>
              </a:ext>
            </a:extLst>
          </p:cNvPr>
          <p:cNvSpPr/>
          <p:nvPr/>
        </p:nvSpPr>
        <p:spPr>
          <a:xfrm>
            <a:off x="7364245" y="3932398"/>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sp>
        <p:nvSpPr>
          <p:cNvPr id="17" name="Rectangle: Rounded Corners 16">
            <a:extLst>
              <a:ext uri="{FF2B5EF4-FFF2-40B4-BE49-F238E27FC236}">
                <a16:creationId xmlns:a16="http://schemas.microsoft.com/office/drawing/2014/main" id="{C7967784-D38F-B3D5-688F-A82548483ABC}"/>
              </a:ext>
            </a:extLst>
          </p:cNvPr>
          <p:cNvSpPr/>
          <p:nvPr/>
        </p:nvSpPr>
        <p:spPr>
          <a:xfrm>
            <a:off x="5295294" y="4411038"/>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Post-Process Results</a:t>
            </a:r>
          </a:p>
        </p:txBody>
      </p:sp>
      <p:sp>
        <p:nvSpPr>
          <p:cNvPr id="18" name="Rectangle: Rounded Corners 17">
            <a:extLst>
              <a:ext uri="{FF2B5EF4-FFF2-40B4-BE49-F238E27FC236}">
                <a16:creationId xmlns:a16="http://schemas.microsoft.com/office/drawing/2014/main" id="{183C0FEB-AB51-61D5-85F3-F08E2AFD392E}"/>
              </a:ext>
            </a:extLst>
          </p:cNvPr>
          <p:cNvSpPr/>
          <p:nvPr/>
        </p:nvSpPr>
        <p:spPr>
          <a:xfrm>
            <a:off x="3226343" y="4892676"/>
            <a:ext cx="1907204" cy="963276"/>
          </a:xfrm>
          <a:prstGeom prst="roundRect">
            <a:avLst/>
          </a:prstGeom>
          <a:noFill/>
          <a:ln>
            <a:solidFill>
              <a:schemeClr val="accent2">
                <a:lumMod val="40000"/>
                <a:lumOff val="6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Report Generation</a:t>
            </a:r>
          </a:p>
        </p:txBody>
      </p:sp>
      <p:sp>
        <p:nvSpPr>
          <p:cNvPr id="19" name="Rectangle: Rounded Corners 18">
            <a:extLst>
              <a:ext uri="{FF2B5EF4-FFF2-40B4-BE49-F238E27FC236}">
                <a16:creationId xmlns:a16="http://schemas.microsoft.com/office/drawing/2014/main" id="{9AC5D8EA-99DE-8917-23B5-F2F038AEDE3C}"/>
              </a:ext>
            </a:extLst>
          </p:cNvPr>
          <p:cNvSpPr/>
          <p:nvPr/>
        </p:nvSpPr>
        <p:spPr>
          <a:xfrm>
            <a:off x="1157392" y="5374314"/>
            <a:ext cx="1907204" cy="963276"/>
          </a:xfrm>
          <a:prstGeom prst="roundRect">
            <a:avLst/>
          </a:prstGeom>
          <a:no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Task End Communication</a:t>
            </a:r>
          </a:p>
        </p:txBody>
      </p:sp>
      <p:sp>
        <p:nvSpPr>
          <p:cNvPr id="20" name="Rectangle: Rounded Corners 19">
            <a:extLst>
              <a:ext uri="{FF2B5EF4-FFF2-40B4-BE49-F238E27FC236}">
                <a16:creationId xmlns:a16="http://schemas.microsoft.com/office/drawing/2014/main" id="{B7F461B0-5283-508E-C440-F21BF36DE7E6}"/>
              </a:ext>
            </a:extLst>
          </p:cNvPr>
          <p:cNvSpPr/>
          <p:nvPr/>
        </p:nvSpPr>
        <p:spPr>
          <a:xfrm>
            <a:off x="9433196" y="3341818"/>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HIGen</a:t>
            </a:r>
            <a:r>
              <a:rPr lang="en-US" b="1" dirty="0">
                <a:solidFill>
                  <a:schemeClr val="tx1"/>
                </a:solidFill>
              </a:rPr>
              <a:t> GUI</a:t>
            </a:r>
          </a:p>
        </p:txBody>
      </p:sp>
      <p:cxnSp>
        <p:nvCxnSpPr>
          <p:cNvPr id="22" name="Straight Arrow Connector 21">
            <a:extLst>
              <a:ext uri="{FF2B5EF4-FFF2-40B4-BE49-F238E27FC236}">
                <a16:creationId xmlns:a16="http://schemas.microsoft.com/office/drawing/2014/main" id="{1F07A25C-282A-570C-AD14-E5E5B3CC54EF}"/>
              </a:ext>
            </a:extLst>
          </p:cNvPr>
          <p:cNvCxnSpPr/>
          <p:nvPr/>
        </p:nvCxnSpPr>
        <p:spPr>
          <a:xfrm>
            <a:off x="2110994" y="1072977"/>
            <a:ext cx="8366760" cy="1682496"/>
          </a:xfrm>
          <a:prstGeom prst="straightConnector1">
            <a:avLst/>
          </a:prstGeom>
          <a:ln w="952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20CF43E-C1F3-8EF0-0DE5-9F7803B546EF}"/>
              </a:ext>
            </a:extLst>
          </p:cNvPr>
          <p:cNvCxnSpPr>
            <a:cxnSpLocks/>
          </p:cNvCxnSpPr>
          <p:nvPr/>
        </p:nvCxnSpPr>
        <p:spPr>
          <a:xfrm flipH="1">
            <a:off x="2112390" y="4989154"/>
            <a:ext cx="8363967" cy="1686284"/>
          </a:xfrm>
          <a:prstGeom prst="straightConnector1">
            <a:avLst/>
          </a:prstGeom>
          <a:ln w="952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557532D6-9716-20AA-40D6-96336EBA568B}"/>
              </a:ext>
            </a:extLst>
          </p:cNvPr>
          <p:cNvCxnSpPr/>
          <p:nvPr/>
        </p:nvCxnSpPr>
        <p:spPr>
          <a:xfrm>
            <a:off x="8344219" y="3529749"/>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2096049-4110-9B6C-36A5-9850F392A011}"/>
              </a:ext>
            </a:extLst>
          </p:cNvPr>
          <p:cNvCxnSpPr>
            <a:cxnSpLocks/>
          </p:cNvCxnSpPr>
          <p:nvPr/>
        </p:nvCxnSpPr>
        <p:spPr>
          <a:xfrm>
            <a:off x="6937028" y="2907638"/>
            <a:ext cx="692688" cy="379946"/>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 Placeholder 6">
            <a:extLst>
              <a:ext uri="{FF2B5EF4-FFF2-40B4-BE49-F238E27FC236}">
                <a16:creationId xmlns:a16="http://schemas.microsoft.com/office/drawing/2014/main" id="{748B7F5E-9E09-B0F0-A94A-54824D29A7A5}"/>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3213430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6C3D4-8949-B82B-0EF1-F90E031D8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C7CE85-6C9F-CE6B-DCDA-3E53486A9B0C}"/>
              </a:ext>
            </a:extLst>
          </p:cNvPr>
          <p:cNvSpPr>
            <a:spLocks noGrp="1"/>
          </p:cNvSpPr>
          <p:nvPr>
            <p:ph type="title"/>
          </p:nvPr>
        </p:nvSpPr>
        <p:spPr/>
        <p:txBody>
          <a:bodyPr/>
          <a:lstStyle/>
          <a:p>
            <a:r>
              <a:rPr lang="en-US" dirty="0"/>
              <a:t>Specific Features Demonstrated</a:t>
            </a:r>
          </a:p>
        </p:txBody>
      </p:sp>
      <p:sp>
        <p:nvSpPr>
          <p:cNvPr id="4" name="Slide Number Placeholder 3">
            <a:extLst>
              <a:ext uri="{FF2B5EF4-FFF2-40B4-BE49-F238E27FC236}">
                <a16:creationId xmlns:a16="http://schemas.microsoft.com/office/drawing/2014/main" id="{CCB991DC-72B1-A68A-B043-14EC3D40FE9C}"/>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6</a:t>
            </a:fld>
            <a:endParaRPr lang="en-US"/>
          </a:p>
        </p:txBody>
      </p:sp>
      <p:sp>
        <p:nvSpPr>
          <p:cNvPr id="14" name="Rectangle: Rounded Corners 13">
            <a:extLst>
              <a:ext uri="{FF2B5EF4-FFF2-40B4-BE49-F238E27FC236}">
                <a16:creationId xmlns:a16="http://schemas.microsoft.com/office/drawing/2014/main" id="{47A55649-369C-C955-3D92-911BC7F13483}"/>
              </a:ext>
            </a:extLst>
          </p:cNvPr>
          <p:cNvSpPr/>
          <p:nvPr/>
        </p:nvSpPr>
        <p:spPr>
          <a:xfrm>
            <a:off x="5295294" y="2324308"/>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15" name="Rectangle: Rounded Corners 14">
            <a:extLst>
              <a:ext uri="{FF2B5EF4-FFF2-40B4-BE49-F238E27FC236}">
                <a16:creationId xmlns:a16="http://schemas.microsoft.com/office/drawing/2014/main" id="{D376942E-0D4A-B995-E392-8EFCACCA616A}"/>
              </a:ext>
            </a:extLst>
          </p:cNvPr>
          <p:cNvSpPr/>
          <p:nvPr/>
        </p:nvSpPr>
        <p:spPr>
          <a:xfrm>
            <a:off x="7364245" y="2805946"/>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16" name="Rectangle: Rounded Corners 15">
            <a:extLst>
              <a:ext uri="{FF2B5EF4-FFF2-40B4-BE49-F238E27FC236}">
                <a16:creationId xmlns:a16="http://schemas.microsoft.com/office/drawing/2014/main" id="{391EB454-9EB9-FB11-0B0D-3955C4529415}"/>
              </a:ext>
            </a:extLst>
          </p:cNvPr>
          <p:cNvSpPr/>
          <p:nvPr/>
        </p:nvSpPr>
        <p:spPr>
          <a:xfrm>
            <a:off x="7364245" y="3932398"/>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cxnSp>
        <p:nvCxnSpPr>
          <p:cNvPr id="5" name="Straight Arrow Connector 4">
            <a:extLst>
              <a:ext uri="{FF2B5EF4-FFF2-40B4-BE49-F238E27FC236}">
                <a16:creationId xmlns:a16="http://schemas.microsoft.com/office/drawing/2014/main" id="{B659D8A1-C2A6-4349-66B6-56246AC002A1}"/>
              </a:ext>
            </a:extLst>
          </p:cNvPr>
          <p:cNvCxnSpPr/>
          <p:nvPr/>
        </p:nvCxnSpPr>
        <p:spPr>
          <a:xfrm>
            <a:off x="8344219" y="3529749"/>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2873C800-8FA4-AAFE-D5D1-1069AD9DBE5B}"/>
              </a:ext>
            </a:extLst>
          </p:cNvPr>
          <p:cNvCxnSpPr>
            <a:cxnSpLocks/>
          </p:cNvCxnSpPr>
          <p:nvPr/>
        </p:nvCxnSpPr>
        <p:spPr>
          <a:xfrm>
            <a:off x="6937028" y="2907638"/>
            <a:ext cx="692688" cy="379946"/>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67051D0F-C7B9-D281-911C-C6D679F4FB9A}"/>
              </a:ext>
            </a:extLst>
          </p:cNvPr>
          <p:cNvSpPr/>
          <p:nvPr/>
        </p:nvSpPr>
        <p:spPr>
          <a:xfrm>
            <a:off x="6995887" y="1447662"/>
            <a:ext cx="2696663" cy="963276"/>
          </a:xfrm>
          <a:prstGeom prst="roundRect">
            <a:avLst/>
          </a:prstGeom>
          <a:no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Shrink-Wrapping</a:t>
            </a:r>
          </a:p>
        </p:txBody>
      </p:sp>
      <p:sp>
        <p:nvSpPr>
          <p:cNvPr id="7" name="Rectangle: Rounded Corners 6">
            <a:extLst>
              <a:ext uri="{FF2B5EF4-FFF2-40B4-BE49-F238E27FC236}">
                <a16:creationId xmlns:a16="http://schemas.microsoft.com/office/drawing/2014/main" id="{A1FCDE0B-8D97-5937-44FF-9AC41813FEFD}"/>
              </a:ext>
            </a:extLst>
          </p:cNvPr>
          <p:cNvSpPr/>
          <p:nvPr/>
        </p:nvSpPr>
        <p:spPr>
          <a:xfrm>
            <a:off x="9195129" y="3369172"/>
            <a:ext cx="2696663" cy="963276"/>
          </a:xfrm>
          <a:prstGeom prst="roundRect">
            <a:avLst/>
          </a:prstGeom>
          <a:no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Auto-Meshing</a:t>
            </a:r>
          </a:p>
        </p:txBody>
      </p:sp>
      <p:sp>
        <p:nvSpPr>
          <p:cNvPr id="8" name="Rectangle: Rounded Corners 7">
            <a:extLst>
              <a:ext uri="{FF2B5EF4-FFF2-40B4-BE49-F238E27FC236}">
                <a16:creationId xmlns:a16="http://schemas.microsoft.com/office/drawing/2014/main" id="{66FB49F5-1F12-C28E-A787-642B02C16D62}"/>
              </a:ext>
            </a:extLst>
          </p:cNvPr>
          <p:cNvSpPr/>
          <p:nvPr/>
        </p:nvSpPr>
        <p:spPr>
          <a:xfrm>
            <a:off x="6995887" y="5140075"/>
            <a:ext cx="2696663" cy="963276"/>
          </a:xfrm>
          <a:prstGeom prst="roundRect">
            <a:avLst/>
          </a:prstGeom>
          <a:no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GPU Execution</a:t>
            </a:r>
          </a:p>
        </p:txBody>
      </p:sp>
      <p:sp>
        <p:nvSpPr>
          <p:cNvPr id="17" name="Text Placeholder 6">
            <a:extLst>
              <a:ext uri="{FF2B5EF4-FFF2-40B4-BE49-F238E27FC236}">
                <a16:creationId xmlns:a16="http://schemas.microsoft.com/office/drawing/2014/main" id="{8C942E8C-C30D-9140-3798-1D67D6A0F5EC}"/>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2325059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83A98-84BA-BED1-B587-22480C50DC12}"/>
              </a:ext>
            </a:extLst>
          </p:cNvPr>
          <p:cNvSpPr>
            <a:spLocks noGrp="1"/>
          </p:cNvSpPr>
          <p:nvPr>
            <p:ph type="title"/>
          </p:nvPr>
        </p:nvSpPr>
        <p:spPr/>
        <p:txBody>
          <a:bodyPr/>
          <a:lstStyle/>
          <a:p>
            <a:r>
              <a:rPr lang="en-US" dirty="0"/>
              <a:t>SUI Endurance Quadcopter</a:t>
            </a:r>
          </a:p>
        </p:txBody>
      </p:sp>
      <p:sp>
        <p:nvSpPr>
          <p:cNvPr id="4" name="Slide Number Placeholder 3">
            <a:extLst>
              <a:ext uri="{FF2B5EF4-FFF2-40B4-BE49-F238E27FC236}">
                <a16:creationId xmlns:a16="http://schemas.microsoft.com/office/drawing/2014/main" id="{DA4440C1-C4FF-9963-068C-7B1BAC5BE63E}"/>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7</a:t>
            </a:fld>
            <a:endParaRPr lang="en-US"/>
          </a:p>
        </p:txBody>
      </p:sp>
      <p:pic>
        <p:nvPicPr>
          <p:cNvPr id="6" name="Picture 5">
            <a:extLst>
              <a:ext uri="{FF2B5EF4-FFF2-40B4-BE49-F238E27FC236}">
                <a16:creationId xmlns:a16="http://schemas.microsoft.com/office/drawing/2014/main" id="{75676B70-CD8E-E138-A774-65788FD36F39}"/>
              </a:ext>
            </a:extLst>
          </p:cNvPr>
          <p:cNvPicPr>
            <a:picLocks noChangeAspect="1"/>
          </p:cNvPicPr>
          <p:nvPr/>
        </p:nvPicPr>
        <p:blipFill rotWithShape="1">
          <a:blip r:embed="rId5">
            <a:extLst>
              <a:ext uri="{28A0092B-C50C-407E-A947-70E740481C1C}">
                <a14:useLocalDpi xmlns:a14="http://schemas.microsoft.com/office/drawing/2010/main" val="0"/>
              </a:ext>
            </a:extLst>
          </a:blip>
          <a:srcRect l="13418" t="8968" r="12047"/>
          <a:stretch>
            <a:fillRect/>
          </a:stretch>
        </p:blipFill>
        <p:spPr bwMode="auto">
          <a:xfrm>
            <a:off x="8208399" y="3790741"/>
            <a:ext cx="3555682" cy="2903421"/>
          </a:xfrm>
          <a:prstGeom prst="rect">
            <a:avLst/>
          </a:prstGeom>
          <a:noFill/>
          <a:ln>
            <a:noFill/>
          </a:ln>
          <a:extLst>
            <a:ext uri="{53640926-AAD7-44D8-BBD7-CCE9431645EC}">
              <a14:shadowObscured xmlns:a14="http://schemas.microsoft.com/office/drawing/2010/main"/>
            </a:ext>
          </a:extLst>
        </p:spPr>
      </p:pic>
      <p:sp>
        <p:nvSpPr>
          <p:cNvPr id="7" name="Rectangle: Rounded Corners 6">
            <a:extLst>
              <a:ext uri="{FF2B5EF4-FFF2-40B4-BE49-F238E27FC236}">
                <a16:creationId xmlns:a16="http://schemas.microsoft.com/office/drawing/2014/main" id="{F547D3CE-A49D-F340-C946-8AB5265EE4B7}"/>
              </a:ext>
            </a:extLst>
          </p:cNvPr>
          <p:cNvSpPr/>
          <p:nvPr/>
        </p:nvSpPr>
        <p:spPr>
          <a:xfrm>
            <a:off x="480155" y="1446577"/>
            <a:ext cx="6014983" cy="2184676"/>
          </a:xfrm>
          <a:prstGeom prst="roundRect">
            <a:avLst/>
          </a:prstGeom>
          <a:no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“Wind Tunnel and Hover Performance Test Results for </a:t>
            </a:r>
            <a:r>
              <a:rPr lang="en-US" sz="2400" b="1" dirty="0" err="1">
                <a:solidFill>
                  <a:schemeClr val="tx1"/>
                </a:solidFill>
              </a:rPr>
              <a:t>Multicopter</a:t>
            </a:r>
            <a:r>
              <a:rPr lang="en-US" sz="2400" b="1" dirty="0">
                <a:solidFill>
                  <a:schemeClr val="tx1"/>
                </a:solidFill>
              </a:rPr>
              <a:t> UAS Vehicles”</a:t>
            </a:r>
          </a:p>
          <a:p>
            <a:pPr algn="ctr"/>
            <a:r>
              <a:rPr lang="en-US" sz="2400" b="1" dirty="0">
                <a:solidFill>
                  <a:schemeClr val="tx1"/>
                </a:solidFill>
              </a:rPr>
              <a:t>NASA-TM-2018-219758</a:t>
            </a:r>
          </a:p>
          <a:p>
            <a:pPr algn="ctr"/>
            <a:endParaRPr lang="en-US" sz="2400" b="1" dirty="0">
              <a:solidFill>
                <a:schemeClr val="tx1"/>
              </a:solidFill>
            </a:endParaRPr>
          </a:p>
          <a:p>
            <a:pPr algn="ctr"/>
            <a:r>
              <a:rPr lang="en-US" sz="2400" b="1" dirty="0">
                <a:solidFill>
                  <a:schemeClr val="tx1"/>
                </a:solidFill>
              </a:rPr>
              <a:t>U.S. Army 7- by 10-ft Wind Tunnel at NASA Ames Research Center</a:t>
            </a:r>
          </a:p>
        </p:txBody>
      </p:sp>
      <p:pic>
        <p:nvPicPr>
          <p:cNvPr id="10" name="uav">
            <a:hlinkClick r:id="" action="ppaction://media"/>
            <a:extLst>
              <a:ext uri="{FF2B5EF4-FFF2-40B4-BE49-F238E27FC236}">
                <a16:creationId xmlns:a16="http://schemas.microsoft.com/office/drawing/2014/main" id="{4D85BFDE-F8A2-F759-9496-676CC8BF06B5}"/>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l="4622" t="10219" r="2184" b="17543"/>
          <a:stretch>
            <a:fillRect/>
          </a:stretch>
        </p:blipFill>
        <p:spPr>
          <a:xfrm>
            <a:off x="6685005" y="758023"/>
            <a:ext cx="5216707" cy="3032718"/>
          </a:xfrm>
          <a:prstGeom prst="rect">
            <a:avLst/>
          </a:prstGeom>
        </p:spPr>
      </p:pic>
      <p:pic>
        <p:nvPicPr>
          <p:cNvPr id="8" name="Picture 7">
            <a:extLst>
              <a:ext uri="{FF2B5EF4-FFF2-40B4-BE49-F238E27FC236}">
                <a16:creationId xmlns:a16="http://schemas.microsoft.com/office/drawing/2014/main" id="{863479C6-2C12-3EC0-7C09-2933F33C318B}"/>
              </a:ext>
            </a:extLst>
          </p:cNvPr>
          <p:cNvPicPr>
            <a:picLocks noChangeAspect="1"/>
          </p:cNvPicPr>
          <p:nvPr/>
        </p:nvPicPr>
        <p:blipFill>
          <a:blip r:embed="rId7"/>
          <a:srcRect l="9897" r="10135"/>
          <a:stretch>
            <a:fillRect/>
          </a:stretch>
        </p:blipFill>
        <p:spPr>
          <a:xfrm>
            <a:off x="140776" y="4547720"/>
            <a:ext cx="7970490" cy="1647626"/>
          </a:xfrm>
          <a:prstGeom prst="rect">
            <a:avLst/>
          </a:prstGeom>
        </p:spPr>
      </p:pic>
      <p:sp>
        <p:nvSpPr>
          <p:cNvPr id="13" name="Text Placeholder 6">
            <a:extLst>
              <a:ext uri="{FF2B5EF4-FFF2-40B4-BE49-F238E27FC236}">
                <a16:creationId xmlns:a16="http://schemas.microsoft.com/office/drawing/2014/main" id="{D7943C75-FB0B-2016-44C1-8B1EA2E05A6A}"/>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1948898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833"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0"/>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0"/>
                                        </p:tgtEl>
                                      </p:cBhvr>
                                    </p:cmd>
                                  </p:childTnLst>
                                </p:cTn>
                              </p:par>
                            </p:childTnLst>
                          </p:cTn>
                        </p:par>
                      </p:childTnLst>
                    </p:cTn>
                  </p:par>
                </p:childTnLst>
              </p:cTn>
              <p:nextCondLst>
                <p:cond evt="onClick" delay="0">
                  <p:tgtEl>
                    <p:spTgt spid="10"/>
                  </p:tgtEl>
                </p:cond>
              </p:nextCondLst>
            </p:seq>
            <p:video>
              <p:cMediaNode vol="80000">
                <p:cTn id="12" repeatCount="indefinite" fill="hold" display="0">
                  <p:stCondLst>
                    <p:cond delay="indefinite"/>
                  </p:stCondLst>
                </p:cTn>
                <p:tgtEl>
                  <p:spTgt spid="10"/>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4935E-E44E-FDED-F873-CE1522F8123C}"/>
            </a:ext>
          </a:extLst>
        </p:cNvPr>
        <p:cNvGrpSpPr/>
        <p:nvPr/>
      </p:nvGrpSpPr>
      <p:grpSpPr>
        <a:xfrm>
          <a:off x="0" y="0"/>
          <a:ext cx="0" cy="0"/>
          <a:chOff x="0" y="0"/>
          <a:chExt cx="0" cy="0"/>
        </a:xfrm>
      </p:grpSpPr>
      <p:pic>
        <p:nvPicPr>
          <p:cNvPr id="16" name="Picture 15" descr="A screenshot of a video game&#10;&#10;AI-generated content may be incorrect.">
            <a:extLst>
              <a:ext uri="{FF2B5EF4-FFF2-40B4-BE49-F238E27FC236}">
                <a16:creationId xmlns:a16="http://schemas.microsoft.com/office/drawing/2014/main" id="{160415F2-F957-597E-9ADF-6E39EAE7628B}"/>
              </a:ext>
            </a:extLst>
          </p:cNvPr>
          <p:cNvPicPr>
            <a:picLocks noChangeAspect="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a:xfrm>
            <a:off x="2162201" y="5516012"/>
            <a:ext cx="2076215" cy="1262812"/>
          </a:xfrm>
          <a:prstGeom prst="rect">
            <a:avLst/>
          </a:prstGeom>
          <a:ln>
            <a:solidFill>
              <a:schemeClr val="tx1"/>
            </a:solidFill>
          </a:ln>
        </p:spPr>
      </p:pic>
      <p:pic>
        <p:nvPicPr>
          <p:cNvPr id="18" name="Picture 17" descr="Schematic&#10;&#10;AI-generated content may be incorrect.">
            <a:extLst>
              <a:ext uri="{FF2B5EF4-FFF2-40B4-BE49-F238E27FC236}">
                <a16:creationId xmlns:a16="http://schemas.microsoft.com/office/drawing/2014/main" id="{A2EDBA7F-14CB-2C8F-DE9B-B7A9C2A30BC8}"/>
              </a:ext>
            </a:extLst>
          </p:cNvPr>
          <p:cNvPicPr>
            <a:picLocks noChangeAspect="1"/>
          </p:cNvPicPr>
          <p:nvPr/>
        </p:nvPicPr>
        <p:blipFill>
          <a:blip r:embed="rId4"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78829" y="5516012"/>
            <a:ext cx="2076215" cy="1262812"/>
          </a:xfrm>
          <a:prstGeom prst="rect">
            <a:avLst/>
          </a:prstGeom>
          <a:ln>
            <a:solidFill>
              <a:schemeClr val="tx1"/>
            </a:solidFill>
          </a:ln>
        </p:spPr>
      </p:pic>
      <p:pic>
        <p:nvPicPr>
          <p:cNvPr id="20" name="Picture 19" descr="A close-up of a circuit board&#10;&#10;AI-generated content may be incorrect.">
            <a:extLst>
              <a:ext uri="{FF2B5EF4-FFF2-40B4-BE49-F238E27FC236}">
                <a16:creationId xmlns:a16="http://schemas.microsoft.com/office/drawing/2014/main" id="{D8994F1F-DBA9-7D10-2689-560D9BCFE280}"/>
              </a:ext>
            </a:extLst>
          </p:cNvPr>
          <p:cNvPicPr>
            <a:picLocks noChangeAspect="1"/>
          </p:cNvPicPr>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4245573" y="5516012"/>
            <a:ext cx="2083371" cy="1262812"/>
          </a:xfrm>
          <a:prstGeom prst="rect">
            <a:avLst/>
          </a:prstGeom>
          <a:ln>
            <a:solidFill>
              <a:schemeClr val="tx1"/>
            </a:solidFill>
          </a:ln>
        </p:spPr>
      </p:pic>
      <p:sp>
        <p:nvSpPr>
          <p:cNvPr id="2" name="Title 1">
            <a:extLst>
              <a:ext uri="{FF2B5EF4-FFF2-40B4-BE49-F238E27FC236}">
                <a16:creationId xmlns:a16="http://schemas.microsoft.com/office/drawing/2014/main" id="{252385A3-91DE-AEB4-D897-A069C931566B}"/>
              </a:ext>
            </a:extLst>
          </p:cNvPr>
          <p:cNvSpPr>
            <a:spLocks noGrp="1"/>
          </p:cNvSpPr>
          <p:nvPr>
            <p:ph type="title"/>
          </p:nvPr>
        </p:nvSpPr>
        <p:spPr/>
        <p:txBody>
          <a:bodyPr/>
          <a:lstStyle/>
          <a:p>
            <a:r>
              <a:rPr lang="en-US" dirty="0"/>
              <a:t>Methodology: Raw CAD</a:t>
            </a:r>
          </a:p>
        </p:txBody>
      </p:sp>
      <p:sp>
        <p:nvSpPr>
          <p:cNvPr id="4" name="Slide Number Placeholder 3">
            <a:extLst>
              <a:ext uri="{FF2B5EF4-FFF2-40B4-BE49-F238E27FC236}">
                <a16:creationId xmlns:a16="http://schemas.microsoft.com/office/drawing/2014/main" id="{1A742018-0C65-38C9-CCB8-4761E1819741}"/>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8</a:t>
            </a:fld>
            <a:endParaRPr lang="en-US"/>
          </a:p>
        </p:txBody>
      </p:sp>
      <p:sp>
        <p:nvSpPr>
          <p:cNvPr id="5" name="Rectangle: Rounded Corners 4">
            <a:extLst>
              <a:ext uri="{FF2B5EF4-FFF2-40B4-BE49-F238E27FC236}">
                <a16:creationId xmlns:a16="http://schemas.microsoft.com/office/drawing/2014/main" id="{60B49719-45AC-60CB-306B-DE56A04BF10A}"/>
              </a:ext>
            </a:extLst>
          </p:cNvPr>
          <p:cNvSpPr/>
          <p:nvPr/>
        </p:nvSpPr>
        <p:spPr>
          <a:xfrm>
            <a:off x="10118621" y="1959215"/>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6" name="Rectangle: Rounded Corners 5">
            <a:extLst>
              <a:ext uri="{FF2B5EF4-FFF2-40B4-BE49-F238E27FC236}">
                <a16:creationId xmlns:a16="http://schemas.microsoft.com/office/drawing/2014/main" id="{62604EC5-991B-EC09-8F0A-17B59CE8AA3D}"/>
              </a:ext>
            </a:extLst>
          </p:cNvPr>
          <p:cNvSpPr/>
          <p:nvPr/>
        </p:nvSpPr>
        <p:spPr>
          <a:xfrm>
            <a:off x="10119803" y="3090152"/>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7" name="Rectangle: Rounded Corners 6">
            <a:extLst>
              <a:ext uri="{FF2B5EF4-FFF2-40B4-BE49-F238E27FC236}">
                <a16:creationId xmlns:a16="http://schemas.microsoft.com/office/drawing/2014/main" id="{6FBEAAC4-D6AB-FE73-6382-F5734CF25297}"/>
              </a:ext>
            </a:extLst>
          </p:cNvPr>
          <p:cNvSpPr/>
          <p:nvPr/>
        </p:nvSpPr>
        <p:spPr>
          <a:xfrm>
            <a:off x="10119803" y="4216604"/>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cxnSp>
        <p:nvCxnSpPr>
          <p:cNvPr id="8" name="Straight Arrow Connector 7">
            <a:extLst>
              <a:ext uri="{FF2B5EF4-FFF2-40B4-BE49-F238E27FC236}">
                <a16:creationId xmlns:a16="http://schemas.microsoft.com/office/drawing/2014/main" id="{4DAD4800-F44A-F08C-2EAD-E8DED700FB1E}"/>
              </a:ext>
            </a:extLst>
          </p:cNvPr>
          <p:cNvCxnSpPr/>
          <p:nvPr/>
        </p:nvCxnSpPr>
        <p:spPr>
          <a:xfrm>
            <a:off x="11099777" y="3813955"/>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982E97D-E0E2-B227-43AC-B6312833AC00}"/>
              </a:ext>
            </a:extLst>
          </p:cNvPr>
          <p:cNvCxnSpPr/>
          <p:nvPr/>
        </p:nvCxnSpPr>
        <p:spPr>
          <a:xfrm>
            <a:off x="11091539" y="2668896"/>
            <a:ext cx="0" cy="630195"/>
          </a:xfrm>
          <a:prstGeom prst="straightConnector1">
            <a:avLst/>
          </a:prstGeom>
          <a:ln w="444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511CBE3-FBE8-25FB-77CC-E71FA2AD1A61}"/>
              </a:ext>
            </a:extLst>
          </p:cNvPr>
          <p:cNvSpPr txBox="1"/>
          <p:nvPr/>
        </p:nvSpPr>
        <p:spPr>
          <a:xfrm>
            <a:off x="917126" y="4216604"/>
            <a:ext cx="1937285" cy="923330"/>
          </a:xfrm>
          <a:prstGeom prst="rect">
            <a:avLst/>
          </a:prstGeom>
          <a:noFill/>
        </p:spPr>
        <p:txBody>
          <a:bodyPr wrap="square">
            <a:spAutoFit/>
          </a:bodyPr>
          <a:lstStyle/>
          <a:p>
            <a:r>
              <a:rPr lang="en-US" b="1" dirty="0"/>
              <a:t>87,734 Faces</a:t>
            </a:r>
          </a:p>
          <a:p>
            <a:r>
              <a:rPr lang="en-US" b="1" dirty="0"/>
              <a:t>229,827 Edges</a:t>
            </a:r>
          </a:p>
          <a:p>
            <a:r>
              <a:rPr lang="en-US" b="1" dirty="0"/>
              <a:t>143,621 Vertices</a:t>
            </a:r>
          </a:p>
        </p:txBody>
      </p:sp>
      <p:pic>
        <p:nvPicPr>
          <p:cNvPr id="9" name="Picture 8">
            <a:extLst>
              <a:ext uri="{FF2B5EF4-FFF2-40B4-BE49-F238E27FC236}">
                <a16:creationId xmlns:a16="http://schemas.microsoft.com/office/drawing/2014/main" id="{ACA23B89-8EF8-1DD5-F525-89CAD80AC296}"/>
              </a:ext>
            </a:extLst>
          </p:cNvPr>
          <p:cNvPicPr>
            <a:picLocks noChangeAspect="1"/>
          </p:cNvPicPr>
          <p:nvPr/>
        </p:nvPicPr>
        <p:blipFill>
          <a:blip r:embed="rId6" cstate="print">
            <a:clrChange>
              <a:clrFrom>
                <a:srgbClr val="000000"/>
              </a:clrFrom>
              <a:clrTo>
                <a:srgbClr val="000000">
                  <a:alpha val="0"/>
                </a:srgbClr>
              </a:clrTo>
            </a:clrChange>
            <a:extLst>
              <a:ext uri="{28A0092B-C50C-407E-A947-70E740481C1C}">
                <a14:useLocalDpi xmlns:a14="http://schemas.microsoft.com/office/drawing/2010/main" val="0"/>
              </a:ext>
            </a:extLst>
          </a:blip>
          <a:srcRect l="17249"/>
          <a:stretch>
            <a:fillRect/>
          </a:stretch>
        </p:blipFill>
        <p:spPr>
          <a:xfrm>
            <a:off x="680358" y="918138"/>
            <a:ext cx="8740078" cy="4761905"/>
          </a:xfrm>
          <a:prstGeom prst="rect">
            <a:avLst/>
          </a:prstGeom>
        </p:spPr>
      </p:pic>
      <p:sp>
        <p:nvSpPr>
          <p:cNvPr id="15" name="Text Placeholder 6">
            <a:extLst>
              <a:ext uri="{FF2B5EF4-FFF2-40B4-BE49-F238E27FC236}">
                <a16:creationId xmlns:a16="http://schemas.microsoft.com/office/drawing/2014/main" id="{458AB868-1552-8B23-1F20-9B0F01C9BBDB}"/>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213410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66238-7D07-383C-271D-CA0BBFBD4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073A72-8CA2-4FA8-21D7-653EC25AD0DC}"/>
              </a:ext>
            </a:extLst>
          </p:cNvPr>
          <p:cNvSpPr>
            <a:spLocks noGrp="1"/>
          </p:cNvSpPr>
          <p:nvPr>
            <p:ph type="title"/>
          </p:nvPr>
        </p:nvSpPr>
        <p:spPr/>
        <p:txBody>
          <a:bodyPr/>
          <a:lstStyle/>
          <a:p>
            <a:r>
              <a:rPr lang="en-US" dirty="0"/>
              <a:t>Capstone Methodology: Shrink-Wrapping</a:t>
            </a:r>
          </a:p>
        </p:txBody>
      </p:sp>
      <p:sp>
        <p:nvSpPr>
          <p:cNvPr id="4" name="Slide Number Placeholder 3">
            <a:extLst>
              <a:ext uri="{FF2B5EF4-FFF2-40B4-BE49-F238E27FC236}">
                <a16:creationId xmlns:a16="http://schemas.microsoft.com/office/drawing/2014/main" id="{9A21D29B-D515-BE24-39B2-CEEBDFE285BF}"/>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9</a:t>
            </a:fld>
            <a:endParaRPr lang="en-US"/>
          </a:p>
        </p:txBody>
      </p:sp>
      <p:sp>
        <p:nvSpPr>
          <p:cNvPr id="5" name="Rectangle: Rounded Corners 4">
            <a:extLst>
              <a:ext uri="{FF2B5EF4-FFF2-40B4-BE49-F238E27FC236}">
                <a16:creationId xmlns:a16="http://schemas.microsoft.com/office/drawing/2014/main" id="{98A543A2-2377-9DC3-99D1-44B3E1F9D679}"/>
              </a:ext>
            </a:extLst>
          </p:cNvPr>
          <p:cNvSpPr/>
          <p:nvPr/>
        </p:nvSpPr>
        <p:spPr>
          <a:xfrm>
            <a:off x="10118621" y="1959215"/>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6" name="Rectangle: Rounded Corners 5">
            <a:extLst>
              <a:ext uri="{FF2B5EF4-FFF2-40B4-BE49-F238E27FC236}">
                <a16:creationId xmlns:a16="http://schemas.microsoft.com/office/drawing/2014/main" id="{648C8F06-958F-4A13-E284-0475C899FEFD}"/>
              </a:ext>
            </a:extLst>
          </p:cNvPr>
          <p:cNvSpPr/>
          <p:nvPr/>
        </p:nvSpPr>
        <p:spPr>
          <a:xfrm>
            <a:off x="10119803" y="3090152"/>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7" name="Rectangle: Rounded Corners 6">
            <a:extLst>
              <a:ext uri="{FF2B5EF4-FFF2-40B4-BE49-F238E27FC236}">
                <a16:creationId xmlns:a16="http://schemas.microsoft.com/office/drawing/2014/main" id="{EE25464F-558C-6948-2F21-C3F01DF0F167}"/>
              </a:ext>
            </a:extLst>
          </p:cNvPr>
          <p:cNvSpPr/>
          <p:nvPr/>
        </p:nvSpPr>
        <p:spPr>
          <a:xfrm>
            <a:off x="10119803" y="4216604"/>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cxnSp>
        <p:nvCxnSpPr>
          <p:cNvPr id="8" name="Straight Arrow Connector 7">
            <a:extLst>
              <a:ext uri="{FF2B5EF4-FFF2-40B4-BE49-F238E27FC236}">
                <a16:creationId xmlns:a16="http://schemas.microsoft.com/office/drawing/2014/main" id="{795AAF19-6668-FC00-8040-DF5420CF442E}"/>
              </a:ext>
            </a:extLst>
          </p:cNvPr>
          <p:cNvCxnSpPr/>
          <p:nvPr/>
        </p:nvCxnSpPr>
        <p:spPr>
          <a:xfrm>
            <a:off x="11099777" y="3813955"/>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229FF11-941F-5A54-4B36-826B12FD0644}"/>
              </a:ext>
            </a:extLst>
          </p:cNvPr>
          <p:cNvCxnSpPr/>
          <p:nvPr/>
        </p:nvCxnSpPr>
        <p:spPr>
          <a:xfrm>
            <a:off x="11091539" y="2668896"/>
            <a:ext cx="0" cy="630195"/>
          </a:xfrm>
          <a:prstGeom prst="straightConnector1">
            <a:avLst/>
          </a:prstGeom>
          <a:ln w="444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5083C09A-C553-D503-55F7-C8ED59D449F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255294" y="2043113"/>
            <a:ext cx="5495925" cy="2771775"/>
          </a:xfrm>
          <a:prstGeom prst="rect">
            <a:avLst/>
          </a:prstGeom>
        </p:spPr>
      </p:pic>
      <p:sp>
        <p:nvSpPr>
          <p:cNvPr id="9" name="Oval 8">
            <a:extLst>
              <a:ext uri="{FF2B5EF4-FFF2-40B4-BE49-F238E27FC236}">
                <a16:creationId xmlns:a16="http://schemas.microsoft.com/office/drawing/2014/main" id="{1CB88B45-B998-FE41-7C35-8874379B0351}"/>
              </a:ext>
            </a:extLst>
          </p:cNvPr>
          <p:cNvSpPr/>
          <p:nvPr/>
        </p:nvSpPr>
        <p:spPr>
          <a:xfrm>
            <a:off x="1467011" y="1169581"/>
            <a:ext cx="7031791" cy="4327452"/>
          </a:xfrm>
          <a:prstGeom prst="ellipse">
            <a:avLst/>
          </a:prstGeom>
          <a:no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A53D990F-D2CB-4B72-2D01-E13001EDAC6F}"/>
              </a:ext>
            </a:extLst>
          </p:cNvPr>
          <p:cNvCxnSpPr>
            <a:cxnSpLocks/>
          </p:cNvCxnSpPr>
          <p:nvPr/>
        </p:nvCxnSpPr>
        <p:spPr>
          <a:xfrm flipH="1">
            <a:off x="6507125" y="1562879"/>
            <a:ext cx="520995" cy="5015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F35D37F-B6F7-0882-B3FB-99A7E539EDD5}"/>
              </a:ext>
            </a:extLst>
          </p:cNvPr>
          <p:cNvCxnSpPr>
            <a:cxnSpLocks/>
          </p:cNvCxnSpPr>
          <p:nvPr/>
        </p:nvCxnSpPr>
        <p:spPr>
          <a:xfrm flipV="1">
            <a:off x="2987749" y="4621444"/>
            <a:ext cx="475472" cy="4789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D8FF310-83D1-D9E2-DA6C-7882E7DC02E7}"/>
              </a:ext>
            </a:extLst>
          </p:cNvPr>
          <p:cNvCxnSpPr>
            <a:cxnSpLocks/>
          </p:cNvCxnSpPr>
          <p:nvPr/>
        </p:nvCxnSpPr>
        <p:spPr>
          <a:xfrm flipH="1" flipV="1">
            <a:off x="6791572" y="4484568"/>
            <a:ext cx="475472" cy="4789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49BBF0D-8421-0F7D-6796-860B03F2AEFF}"/>
              </a:ext>
            </a:extLst>
          </p:cNvPr>
          <p:cNvCxnSpPr>
            <a:cxnSpLocks/>
          </p:cNvCxnSpPr>
          <p:nvPr/>
        </p:nvCxnSpPr>
        <p:spPr>
          <a:xfrm>
            <a:off x="2730135" y="1663714"/>
            <a:ext cx="475472" cy="4789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BB8D38D-464C-099B-E1DC-075CEB8D0153}"/>
              </a:ext>
            </a:extLst>
          </p:cNvPr>
          <p:cNvCxnSpPr>
            <a:cxnSpLocks/>
            <a:stCxn id="9" idx="0"/>
          </p:cNvCxnSpPr>
          <p:nvPr/>
        </p:nvCxnSpPr>
        <p:spPr>
          <a:xfrm>
            <a:off x="4982907" y="1169581"/>
            <a:ext cx="2076" cy="5069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29E167C-617C-E443-B110-87C7E015456C}"/>
              </a:ext>
            </a:extLst>
          </p:cNvPr>
          <p:cNvCxnSpPr>
            <a:cxnSpLocks/>
            <a:stCxn id="9" idx="4"/>
          </p:cNvCxnSpPr>
          <p:nvPr/>
        </p:nvCxnSpPr>
        <p:spPr>
          <a:xfrm flipV="1">
            <a:off x="4982907" y="4965405"/>
            <a:ext cx="0" cy="53162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1CF91DA-550B-A6B8-A074-0182A2652543}"/>
              </a:ext>
            </a:extLst>
          </p:cNvPr>
          <p:cNvCxnSpPr>
            <a:cxnSpLocks/>
          </p:cNvCxnSpPr>
          <p:nvPr/>
        </p:nvCxnSpPr>
        <p:spPr>
          <a:xfrm flipH="1">
            <a:off x="7803858" y="3429000"/>
            <a:ext cx="69494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774C8B1-99BC-B8AF-0EF9-1AA7FD582F74}"/>
              </a:ext>
            </a:extLst>
          </p:cNvPr>
          <p:cNvCxnSpPr>
            <a:cxnSpLocks/>
          </p:cNvCxnSpPr>
          <p:nvPr/>
        </p:nvCxnSpPr>
        <p:spPr>
          <a:xfrm flipV="1">
            <a:off x="1476799" y="3425877"/>
            <a:ext cx="694944" cy="3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299AFA8-33D2-D9C0-5CE3-3573A7EC2053}"/>
              </a:ext>
            </a:extLst>
          </p:cNvPr>
          <p:cNvSpPr txBox="1"/>
          <p:nvPr/>
        </p:nvSpPr>
        <p:spPr>
          <a:xfrm>
            <a:off x="725423" y="5762692"/>
            <a:ext cx="8555666" cy="830997"/>
          </a:xfrm>
          <a:prstGeom prst="rect">
            <a:avLst/>
          </a:prstGeom>
          <a:solidFill>
            <a:schemeClr val="bg1"/>
          </a:solidFill>
          <a:ln w="25400">
            <a:solidFill>
              <a:schemeClr val="tx1"/>
            </a:solidFill>
          </a:ln>
        </p:spPr>
        <p:txBody>
          <a:bodyPr wrap="square" rtlCol="0">
            <a:spAutoFit/>
          </a:bodyPr>
          <a:lstStyle/>
          <a:p>
            <a:pPr algn="ctr"/>
            <a:r>
              <a:rPr lang="en-US" sz="2400" b="1" dirty="0"/>
              <a:t>Saves time because geometry does not need to be simplified or made watertight to generate a usable mesh</a:t>
            </a:r>
          </a:p>
        </p:txBody>
      </p:sp>
      <p:sp>
        <p:nvSpPr>
          <p:cNvPr id="24" name="Text Placeholder 6">
            <a:extLst>
              <a:ext uri="{FF2B5EF4-FFF2-40B4-BE49-F238E27FC236}">
                <a16:creationId xmlns:a16="http://schemas.microsoft.com/office/drawing/2014/main" id="{5F21D8E8-D506-5986-0518-E7414E4BC1D2}"/>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2487053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B1D2A-F674-B92C-69FB-0F14D247E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B8B64-A2AB-DDDA-FF49-1EC070645A97}"/>
              </a:ext>
            </a:extLst>
          </p:cNvPr>
          <p:cNvSpPr>
            <a:spLocks noGrp="1"/>
          </p:cNvSpPr>
          <p:nvPr>
            <p:ph type="title"/>
          </p:nvPr>
        </p:nvSpPr>
        <p:spPr/>
        <p:txBody>
          <a:bodyPr/>
          <a:lstStyle/>
          <a:p>
            <a:r>
              <a:rPr lang="en-US" dirty="0"/>
              <a:t>Methodology: Traditional Path, CAD Simplification</a:t>
            </a:r>
          </a:p>
        </p:txBody>
      </p:sp>
      <p:sp>
        <p:nvSpPr>
          <p:cNvPr id="4" name="Slide Number Placeholder 3">
            <a:extLst>
              <a:ext uri="{FF2B5EF4-FFF2-40B4-BE49-F238E27FC236}">
                <a16:creationId xmlns:a16="http://schemas.microsoft.com/office/drawing/2014/main" id="{949B39EE-755E-B558-3FC1-2D87934E0101}"/>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10</a:t>
            </a:fld>
            <a:endParaRPr lang="en-US"/>
          </a:p>
        </p:txBody>
      </p:sp>
      <p:sp>
        <p:nvSpPr>
          <p:cNvPr id="5" name="Rectangle: Rounded Corners 4">
            <a:extLst>
              <a:ext uri="{FF2B5EF4-FFF2-40B4-BE49-F238E27FC236}">
                <a16:creationId xmlns:a16="http://schemas.microsoft.com/office/drawing/2014/main" id="{016099EB-4EE3-6A9D-C94A-AF3EC86D2A66}"/>
              </a:ext>
            </a:extLst>
          </p:cNvPr>
          <p:cNvSpPr/>
          <p:nvPr/>
        </p:nvSpPr>
        <p:spPr>
          <a:xfrm>
            <a:off x="10118621" y="1959215"/>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6" name="Rectangle: Rounded Corners 5">
            <a:extLst>
              <a:ext uri="{FF2B5EF4-FFF2-40B4-BE49-F238E27FC236}">
                <a16:creationId xmlns:a16="http://schemas.microsoft.com/office/drawing/2014/main" id="{31F0428C-54DE-93DD-4D00-9DB94E1A7D96}"/>
              </a:ext>
            </a:extLst>
          </p:cNvPr>
          <p:cNvSpPr/>
          <p:nvPr/>
        </p:nvSpPr>
        <p:spPr>
          <a:xfrm>
            <a:off x="10119803" y="3090152"/>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7" name="Rectangle: Rounded Corners 6">
            <a:extLst>
              <a:ext uri="{FF2B5EF4-FFF2-40B4-BE49-F238E27FC236}">
                <a16:creationId xmlns:a16="http://schemas.microsoft.com/office/drawing/2014/main" id="{012185C3-7525-6E6C-69DA-39A686FD90F8}"/>
              </a:ext>
            </a:extLst>
          </p:cNvPr>
          <p:cNvSpPr/>
          <p:nvPr/>
        </p:nvSpPr>
        <p:spPr>
          <a:xfrm>
            <a:off x="10119803" y="4216604"/>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cxnSp>
        <p:nvCxnSpPr>
          <p:cNvPr id="8" name="Straight Arrow Connector 7">
            <a:extLst>
              <a:ext uri="{FF2B5EF4-FFF2-40B4-BE49-F238E27FC236}">
                <a16:creationId xmlns:a16="http://schemas.microsoft.com/office/drawing/2014/main" id="{A3E62D28-D857-CE67-FC17-4AB4CDD93EE5}"/>
              </a:ext>
            </a:extLst>
          </p:cNvPr>
          <p:cNvCxnSpPr/>
          <p:nvPr/>
        </p:nvCxnSpPr>
        <p:spPr>
          <a:xfrm>
            <a:off x="11099777" y="3813955"/>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AE103A7-2DDB-F3F5-06B7-9DAB089C0F8C}"/>
              </a:ext>
            </a:extLst>
          </p:cNvPr>
          <p:cNvCxnSpPr/>
          <p:nvPr/>
        </p:nvCxnSpPr>
        <p:spPr>
          <a:xfrm>
            <a:off x="11091539" y="2668896"/>
            <a:ext cx="0" cy="630195"/>
          </a:xfrm>
          <a:prstGeom prst="straightConnector1">
            <a:avLst/>
          </a:prstGeom>
          <a:ln w="444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9" name="Picture 8" descr="A picture containing text, envelope&#10;&#10;AI-generated content may be incorrect.">
            <a:extLst>
              <a:ext uri="{FF2B5EF4-FFF2-40B4-BE49-F238E27FC236}">
                <a16:creationId xmlns:a16="http://schemas.microsoft.com/office/drawing/2014/main" id="{1E23EBAC-7DB0-D9B2-B02B-A20F797C6AD4}"/>
              </a:ext>
            </a:extLst>
          </p:cNvPr>
          <p:cNvPicPr>
            <a:picLocks noChangeAspect="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a:xfrm>
            <a:off x="74142" y="5521986"/>
            <a:ext cx="2066713" cy="1261872"/>
          </a:xfrm>
          <a:prstGeom prst="rect">
            <a:avLst/>
          </a:prstGeom>
          <a:ln>
            <a:solidFill>
              <a:schemeClr val="tx1"/>
            </a:solidFill>
          </a:ln>
        </p:spPr>
      </p:pic>
      <p:pic>
        <p:nvPicPr>
          <p:cNvPr id="11" name="Picture 10" descr="A close-up of a ferris wheel&#10;&#10;AI-generated content may be incorrect.">
            <a:extLst>
              <a:ext uri="{FF2B5EF4-FFF2-40B4-BE49-F238E27FC236}">
                <a16:creationId xmlns:a16="http://schemas.microsoft.com/office/drawing/2014/main" id="{E0E2D480-3649-CCE6-0D1F-555041297718}"/>
              </a:ext>
            </a:extLst>
          </p:cNvPr>
          <p:cNvPicPr>
            <a:picLocks noChangeAspect="1"/>
          </p:cNvPicPr>
          <p:nvPr/>
        </p:nvPicPr>
        <p:blipFill>
          <a:blip r:embed="rId4"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a:xfrm>
            <a:off x="4207569" y="5521986"/>
            <a:ext cx="2066713" cy="1261872"/>
          </a:xfrm>
          <a:prstGeom prst="rect">
            <a:avLst/>
          </a:prstGeom>
          <a:ln>
            <a:solidFill>
              <a:schemeClr val="tx1"/>
            </a:solidFill>
          </a:ln>
        </p:spPr>
      </p:pic>
      <p:pic>
        <p:nvPicPr>
          <p:cNvPr id="12" name="Picture 11" descr="A picture containing icon&#10;&#10;AI-generated content may be incorrect.">
            <a:extLst>
              <a:ext uri="{FF2B5EF4-FFF2-40B4-BE49-F238E27FC236}">
                <a16:creationId xmlns:a16="http://schemas.microsoft.com/office/drawing/2014/main" id="{67379D3B-4AF9-DC71-3AF6-0F6C9F6EE137}"/>
              </a:ext>
            </a:extLst>
          </p:cNvPr>
          <p:cNvPicPr>
            <a:picLocks noChangeAspect="1"/>
          </p:cNvPicPr>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a:xfrm>
            <a:off x="2140855" y="5521986"/>
            <a:ext cx="2066714" cy="1261872"/>
          </a:xfrm>
          <a:prstGeom prst="rect">
            <a:avLst/>
          </a:prstGeom>
          <a:ln>
            <a:solidFill>
              <a:schemeClr val="tx1"/>
            </a:solidFill>
          </a:ln>
        </p:spPr>
      </p:pic>
      <p:sp>
        <p:nvSpPr>
          <p:cNvPr id="15" name="TextBox 14">
            <a:extLst>
              <a:ext uri="{FF2B5EF4-FFF2-40B4-BE49-F238E27FC236}">
                <a16:creationId xmlns:a16="http://schemas.microsoft.com/office/drawing/2014/main" id="{930BA2DB-65FF-B3E0-C566-21DC8AA3847B}"/>
              </a:ext>
            </a:extLst>
          </p:cNvPr>
          <p:cNvSpPr txBox="1"/>
          <p:nvPr/>
        </p:nvSpPr>
        <p:spPr>
          <a:xfrm>
            <a:off x="1278185" y="4256550"/>
            <a:ext cx="1725340" cy="923330"/>
          </a:xfrm>
          <a:prstGeom prst="rect">
            <a:avLst/>
          </a:prstGeom>
          <a:noFill/>
        </p:spPr>
        <p:txBody>
          <a:bodyPr wrap="square">
            <a:spAutoFit/>
          </a:bodyPr>
          <a:lstStyle/>
          <a:p>
            <a:r>
              <a:rPr lang="en-US" b="1" dirty="0"/>
              <a:t>1804 Faces</a:t>
            </a:r>
            <a:br>
              <a:rPr lang="en-US" b="1" dirty="0"/>
            </a:br>
            <a:r>
              <a:rPr lang="en-US" b="1" dirty="0"/>
              <a:t>4303 Edges</a:t>
            </a:r>
          </a:p>
          <a:p>
            <a:r>
              <a:rPr lang="en-US" b="1" dirty="0"/>
              <a:t>2499 Vertices</a:t>
            </a:r>
          </a:p>
        </p:txBody>
      </p:sp>
      <p:pic>
        <p:nvPicPr>
          <p:cNvPr id="16" name="Picture 15">
            <a:extLst>
              <a:ext uri="{FF2B5EF4-FFF2-40B4-BE49-F238E27FC236}">
                <a16:creationId xmlns:a16="http://schemas.microsoft.com/office/drawing/2014/main" id="{9CB8AD4F-481D-60A2-E08D-2E51F54E713F}"/>
              </a:ext>
            </a:extLst>
          </p:cNvPr>
          <p:cNvPicPr>
            <a:picLocks noChangeAspect="1"/>
          </p:cNvPicPr>
          <p:nvPr/>
        </p:nvPicPr>
        <p:blipFill>
          <a:blip r:embed="rId6" cstate="print">
            <a:clrChange>
              <a:clrFrom>
                <a:srgbClr val="000000"/>
              </a:clrFrom>
              <a:clrTo>
                <a:srgbClr val="000000">
                  <a:alpha val="0"/>
                </a:srgbClr>
              </a:clrTo>
            </a:clrChange>
            <a:extLst>
              <a:ext uri="{28A0092B-C50C-407E-A947-70E740481C1C}">
                <a14:useLocalDpi xmlns:a14="http://schemas.microsoft.com/office/drawing/2010/main" val="0"/>
              </a:ext>
            </a:extLst>
          </a:blip>
          <a:srcRect l="18155"/>
          <a:stretch>
            <a:fillRect/>
          </a:stretch>
        </p:blipFill>
        <p:spPr>
          <a:xfrm rot="21440408">
            <a:off x="917126" y="987190"/>
            <a:ext cx="8644385" cy="4761905"/>
          </a:xfrm>
          <a:prstGeom prst="rect">
            <a:avLst/>
          </a:prstGeom>
        </p:spPr>
      </p:pic>
      <p:sp>
        <p:nvSpPr>
          <p:cNvPr id="19" name="Text Placeholder 6">
            <a:extLst>
              <a:ext uri="{FF2B5EF4-FFF2-40B4-BE49-F238E27FC236}">
                <a16:creationId xmlns:a16="http://schemas.microsoft.com/office/drawing/2014/main" id="{50437BB8-65CA-0776-E3C5-5C1D557631E6}"/>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3994399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545F0-70F5-9E9E-900A-D3B55A1FE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FF9D5E-A094-C819-4C01-46D350DA1ED4}"/>
              </a:ext>
            </a:extLst>
          </p:cNvPr>
          <p:cNvSpPr>
            <a:spLocks noGrp="1"/>
          </p:cNvSpPr>
          <p:nvPr>
            <p:ph type="title"/>
          </p:nvPr>
        </p:nvSpPr>
        <p:spPr/>
        <p:txBody>
          <a:bodyPr/>
          <a:lstStyle/>
          <a:p>
            <a:r>
              <a:rPr lang="en-US" dirty="0"/>
              <a:t>Methodology: Trade-off</a:t>
            </a:r>
          </a:p>
        </p:txBody>
      </p:sp>
      <p:sp>
        <p:nvSpPr>
          <p:cNvPr id="4" name="Slide Number Placeholder 3">
            <a:extLst>
              <a:ext uri="{FF2B5EF4-FFF2-40B4-BE49-F238E27FC236}">
                <a16:creationId xmlns:a16="http://schemas.microsoft.com/office/drawing/2014/main" id="{A5AFAD21-1902-503E-77BB-DDB98770531B}"/>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11</a:t>
            </a:fld>
            <a:endParaRPr lang="en-US"/>
          </a:p>
        </p:txBody>
      </p:sp>
      <p:sp>
        <p:nvSpPr>
          <p:cNvPr id="5" name="Rectangle: Rounded Corners 4">
            <a:extLst>
              <a:ext uri="{FF2B5EF4-FFF2-40B4-BE49-F238E27FC236}">
                <a16:creationId xmlns:a16="http://schemas.microsoft.com/office/drawing/2014/main" id="{0AD963CA-4480-61CE-45C2-8134F6645CFB}"/>
              </a:ext>
            </a:extLst>
          </p:cNvPr>
          <p:cNvSpPr/>
          <p:nvPr/>
        </p:nvSpPr>
        <p:spPr>
          <a:xfrm>
            <a:off x="10118621" y="1959215"/>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6" name="Rectangle: Rounded Corners 5">
            <a:extLst>
              <a:ext uri="{FF2B5EF4-FFF2-40B4-BE49-F238E27FC236}">
                <a16:creationId xmlns:a16="http://schemas.microsoft.com/office/drawing/2014/main" id="{2AA19941-51EC-5860-A95E-F86C418B8FCD}"/>
              </a:ext>
            </a:extLst>
          </p:cNvPr>
          <p:cNvSpPr/>
          <p:nvPr/>
        </p:nvSpPr>
        <p:spPr>
          <a:xfrm>
            <a:off x="10119803" y="3090152"/>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7" name="Rectangle: Rounded Corners 6">
            <a:extLst>
              <a:ext uri="{FF2B5EF4-FFF2-40B4-BE49-F238E27FC236}">
                <a16:creationId xmlns:a16="http://schemas.microsoft.com/office/drawing/2014/main" id="{01C5BBC8-3B4D-34C3-AB93-4A997A3E3B54}"/>
              </a:ext>
            </a:extLst>
          </p:cNvPr>
          <p:cNvSpPr/>
          <p:nvPr/>
        </p:nvSpPr>
        <p:spPr>
          <a:xfrm>
            <a:off x="10119803" y="4216604"/>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cxnSp>
        <p:nvCxnSpPr>
          <p:cNvPr id="8" name="Straight Arrow Connector 7">
            <a:extLst>
              <a:ext uri="{FF2B5EF4-FFF2-40B4-BE49-F238E27FC236}">
                <a16:creationId xmlns:a16="http://schemas.microsoft.com/office/drawing/2014/main" id="{DDDFA11B-D5A1-56F6-42AA-028BADA18B97}"/>
              </a:ext>
            </a:extLst>
          </p:cNvPr>
          <p:cNvCxnSpPr/>
          <p:nvPr/>
        </p:nvCxnSpPr>
        <p:spPr>
          <a:xfrm>
            <a:off x="11099777" y="3813955"/>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3C850E6-1878-220F-97D0-4AD51EAB0208}"/>
              </a:ext>
            </a:extLst>
          </p:cNvPr>
          <p:cNvCxnSpPr/>
          <p:nvPr/>
        </p:nvCxnSpPr>
        <p:spPr>
          <a:xfrm>
            <a:off x="11091539" y="2668896"/>
            <a:ext cx="0" cy="630195"/>
          </a:xfrm>
          <a:prstGeom prst="straightConnector1">
            <a:avLst/>
          </a:prstGeom>
          <a:ln w="444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F861799A-8137-34A0-C388-17086067898E}"/>
              </a:ext>
            </a:extLst>
          </p:cNvPr>
          <p:cNvPicPr>
            <a:picLocks noChangeAspect="1"/>
          </p:cNvPicPr>
          <p:nvPr/>
        </p:nvPicPr>
        <p:blipFill>
          <a:blip r:embed="rId3">
            <a:extLst>
              <a:ext uri="{28A0092B-C50C-407E-A947-70E740481C1C}">
                <a14:useLocalDpi xmlns:a14="http://schemas.microsoft.com/office/drawing/2010/main" val="0"/>
              </a:ext>
            </a:extLst>
          </a:blip>
          <a:srcRect l="50000"/>
          <a:stretch>
            <a:fillRect/>
          </a:stretch>
        </p:blipFill>
        <p:spPr bwMode="auto">
          <a:xfrm>
            <a:off x="5129635" y="945005"/>
            <a:ext cx="4555079" cy="2338388"/>
          </a:xfrm>
          <a:prstGeom prst="rect">
            <a:avLst/>
          </a:prstGeom>
          <a:noFill/>
          <a:ln>
            <a:noFill/>
          </a:ln>
        </p:spPr>
      </p:pic>
      <p:pic>
        <p:nvPicPr>
          <p:cNvPr id="13" name="Picture 12">
            <a:extLst>
              <a:ext uri="{FF2B5EF4-FFF2-40B4-BE49-F238E27FC236}">
                <a16:creationId xmlns:a16="http://schemas.microsoft.com/office/drawing/2014/main" id="{5999D691-A907-F00E-CE57-991FCAADD2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8829" y="3372851"/>
            <a:ext cx="4416690" cy="3366413"/>
          </a:xfrm>
          <a:prstGeom prst="rect">
            <a:avLst/>
          </a:prstGeom>
          <a:ln w="25400">
            <a:solidFill>
              <a:schemeClr val="tx1"/>
            </a:solidFill>
          </a:ln>
        </p:spPr>
      </p:pic>
      <p:cxnSp>
        <p:nvCxnSpPr>
          <p:cNvPr id="15" name="Straight Arrow Connector 14">
            <a:extLst>
              <a:ext uri="{FF2B5EF4-FFF2-40B4-BE49-F238E27FC236}">
                <a16:creationId xmlns:a16="http://schemas.microsoft.com/office/drawing/2014/main" id="{65D70AA5-53BA-B715-4A6E-C3D04213E71F}"/>
              </a:ext>
            </a:extLst>
          </p:cNvPr>
          <p:cNvCxnSpPr>
            <a:cxnSpLocks/>
          </p:cNvCxnSpPr>
          <p:nvPr/>
        </p:nvCxnSpPr>
        <p:spPr>
          <a:xfrm flipH="1">
            <a:off x="8463196" y="1034463"/>
            <a:ext cx="271849" cy="35706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id="{EEF92A69-57D6-E3AE-E7E2-1F920EBACA64}"/>
              </a:ext>
            </a:extLst>
          </p:cNvPr>
          <p:cNvSpPr>
            <a:spLocks noGrp="1"/>
          </p:cNvSpPr>
          <p:nvPr>
            <p:ph idx="1"/>
          </p:nvPr>
        </p:nvSpPr>
        <p:spPr>
          <a:xfrm>
            <a:off x="290287" y="1123951"/>
            <a:ext cx="4406623" cy="3062377"/>
          </a:xfrm>
        </p:spPr>
        <p:txBody>
          <a:bodyPr/>
          <a:lstStyle/>
          <a:p>
            <a:r>
              <a:rPr lang="en-US" dirty="0"/>
              <a:t>Single surface patch</a:t>
            </a:r>
          </a:p>
          <a:p>
            <a:r>
              <a:rPr lang="en-US" dirty="0"/>
              <a:t>Less control over the sizing field</a:t>
            </a:r>
          </a:p>
          <a:p>
            <a:r>
              <a:rPr lang="en-US" dirty="0"/>
              <a:t>Small details are washed out</a:t>
            </a:r>
          </a:p>
          <a:p>
            <a:r>
              <a:rPr lang="en-US" dirty="0"/>
              <a:t>Shrink-wrapping takes time, but is hands off</a:t>
            </a:r>
          </a:p>
        </p:txBody>
      </p:sp>
      <p:sp>
        <p:nvSpPr>
          <p:cNvPr id="9" name="Rectangle 8">
            <a:extLst>
              <a:ext uri="{FF2B5EF4-FFF2-40B4-BE49-F238E27FC236}">
                <a16:creationId xmlns:a16="http://schemas.microsoft.com/office/drawing/2014/main" id="{02B1724B-E4AF-6445-76D6-99EE4729A081}"/>
              </a:ext>
            </a:extLst>
          </p:cNvPr>
          <p:cNvSpPr/>
          <p:nvPr/>
        </p:nvSpPr>
        <p:spPr>
          <a:xfrm>
            <a:off x="6020108" y="2897674"/>
            <a:ext cx="1307805" cy="3849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6">
            <a:extLst>
              <a:ext uri="{FF2B5EF4-FFF2-40B4-BE49-F238E27FC236}">
                <a16:creationId xmlns:a16="http://schemas.microsoft.com/office/drawing/2014/main" id="{363DAE39-6B19-528A-94B7-34F30E1B40FC}"/>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3718786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7D894-8431-432F-F431-F7A12D382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545A3-2FEE-7054-FD65-C8FAE56B35F2}"/>
              </a:ext>
            </a:extLst>
          </p:cNvPr>
          <p:cNvSpPr>
            <a:spLocks noGrp="1"/>
          </p:cNvSpPr>
          <p:nvPr>
            <p:ph type="title"/>
          </p:nvPr>
        </p:nvSpPr>
        <p:spPr/>
        <p:txBody>
          <a:bodyPr/>
          <a:lstStyle/>
          <a:p>
            <a:r>
              <a:rPr lang="en-US" dirty="0"/>
              <a:t>Methodology: Outer Surface</a:t>
            </a:r>
          </a:p>
        </p:txBody>
      </p:sp>
      <p:sp>
        <p:nvSpPr>
          <p:cNvPr id="4" name="Slide Number Placeholder 3">
            <a:extLst>
              <a:ext uri="{FF2B5EF4-FFF2-40B4-BE49-F238E27FC236}">
                <a16:creationId xmlns:a16="http://schemas.microsoft.com/office/drawing/2014/main" id="{510556D5-414D-439F-D359-B1E9475FE345}"/>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12</a:t>
            </a:fld>
            <a:endParaRPr lang="en-US"/>
          </a:p>
        </p:txBody>
      </p:sp>
      <p:sp>
        <p:nvSpPr>
          <p:cNvPr id="5" name="Rectangle: Rounded Corners 4">
            <a:extLst>
              <a:ext uri="{FF2B5EF4-FFF2-40B4-BE49-F238E27FC236}">
                <a16:creationId xmlns:a16="http://schemas.microsoft.com/office/drawing/2014/main" id="{DAFD4B2F-3123-A85F-3101-91C56DAACAEB}"/>
              </a:ext>
            </a:extLst>
          </p:cNvPr>
          <p:cNvSpPr/>
          <p:nvPr/>
        </p:nvSpPr>
        <p:spPr>
          <a:xfrm>
            <a:off x="10118621" y="1959215"/>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6" name="Rectangle: Rounded Corners 5">
            <a:extLst>
              <a:ext uri="{FF2B5EF4-FFF2-40B4-BE49-F238E27FC236}">
                <a16:creationId xmlns:a16="http://schemas.microsoft.com/office/drawing/2014/main" id="{40E61001-D8B1-BD7C-FEC3-514ABD90FE0A}"/>
              </a:ext>
            </a:extLst>
          </p:cNvPr>
          <p:cNvSpPr/>
          <p:nvPr/>
        </p:nvSpPr>
        <p:spPr>
          <a:xfrm>
            <a:off x="10119803" y="3090152"/>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7" name="Rectangle: Rounded Corners 6">
            <a:extLst>
              <a:ext uri="{FF2B5EF4-FFF2-40B4-BE49-F238E27FC236}">
                <a16:creationId xmlns:a16="http://schemas.microsoft.com/office/drawing/2014/main" id="{001385A9-F833-FCA5-6C9B-4F5708870B17}"/>
              </a:ext>
            </a:extLst>
          </p:cNvPr>
          <p:cNvSpPr/>
          <p:nvPr/>
        </p:nvSpPr>
        <p:spPr>
          <a:xfrm>
            <a:off x="10119803" y="4216604"/>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cxnSp>
        <p:nvCxnSpPr>
          <p:cNvPr id="8" name="Straight Arrow Connector 7">
            <a:extLst>
              <a:ext uri="{FF2B5EF4-FFF2-40B4-BE49-F238E27FC236}">
                <a16:creationId xmlns:a16="http://schemas.microsoft.com/office/drawing/2014/main" id="{0326517F-399B-5BCD-66F8-0E1AAC3FBDB6}"/>
              </a:ext>
            </a:extLst>
          </p:cNvPr>
          <p:cNvCxnSpPr/>
          <p:nvPr/>
        </p:nvCxnSpPr>
        <p:spPr>
          <a:xfrm>
            <a:off x="11099777" y="3813955"/>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AE99245-D2BA-3F5C-105A-CC4DCF359AB1}"/>
              </a:ext>
            </a:extLst>
          </p:cNvPr>
          <p:cNvCxnSpPr/>
          <p:nvPr/>
        </p:nvCxnSpPr>
        <p:spPr>
          <a:xfrm>
            <a:off x="11091539" y="2668896"/>
            <a:ext cx="0" cy="630195"/>
          </a:xfrm>
          <a:prstGeom prst="straightConnector1">
            <a:avLst/>
          </a:prstGeom>
          <a:ln w="444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04090AA-86B5-CF78-C28F-75B88335E8FC}"/>
              </a:ext>
            </a:extLst>
          </p:cNvPr>
          <p:cNvPicPr>
            <a:picLocks noChangeAspect="1"/>
          </p:cNvPicPr>
          <p:nvPr/>
        </p:nvPicPr>
        <p:blipFill>
          <a:blip r:embed="rId3">
            <a:extLst>
              <a:ext uri="{28A0092B-C50C-407E-A947-70E740481C1C}">
                <a14:useLocalDpi xmlns:a14="http://schemas.microsoft.com/office/drawing/2010/main" val="0"/>
              </a:ext>
            </a:extLst>
          </a:blip>
          <a:srcRect l="49604"/>
          <a:stretch>
            <a:fillRect/>
          </a:stretch>
        </p:blipFill>
        <p:spPr bwMode="auto">
          <a:xfrm>
            <a:off x="988827" y="1499702"/>
            <a:ext cx="4591177" cy="2338388"/>
          </a:xfrm>
          <a:prstGeom prst="rect">
            <a:avLst/>
          </a:prstGeom>
          <a:noFill/>
          <a:ln>
            <a:noFill/>
          </a:ln>
        </p:spPr>
      </p:pic>
      <p:pic>
        <p:nvPicPr>
          <p:cNvPr id="9" name="Picture 8">
            <a:extLst>
              <a:ext uri="{FF2B5EF4-FFF2-40B4-BE49-F238E27FC236}">
                <a16:creationId xmlns:a16="http://schemas.microsoft.com/office/drawing/2014/main" id="{A6B826B0-2F79-5AEC-976C-B92960FDE67A}"/>
              </a:ext>
            </a:extLst>
          </p:cNvPr>
          <p:cNvPicPr>
            <a:picLocks noChangeAspect="1"/>
          </p:cNvPicPr>
          <p:nvPr/>
        </p:nvPicPr>
        <p:blipFill rotWithShape="1">
          <a:blip r:embed="rId4">
            <a:extLst>
              <a:ext uri="{28A0092B-C50C-407E-A947-70E740481C1C}">
                <a14:useLocalDpi xmlns:a14="http://schemas.microsoft.com/office/drawing/2010/main" val="0"/>
              </a:ext>
            </a:extLst>
          </a:blip>
          <a:srcRect l="8498" t="9904" r="6526" b="7395"/>
          <a:stretch>
            <a:fillRect/>
          </a:stretch>
        </p:blipFill>
        <p:spPr bwMode="auto">
          <a:xfrm>
            <a:off x="4808253" y="3090152"/>
            <a:ext cx="4384321" cy="2928277"/>
          </a:xfrm>
          <a:prstGeom prst="rect">
            <a:avLst/>
          </a:prstGeom>
          <a:noFill/>
          <a:ln>
            <a:noFill/>
          </a:ln>
          <a:extLst>
            <a:ext uri="{53640926-AAD7-44D8-BBD7-CCE9431645EC}">
              <a14:shadowObscured xmlns:a14="http://schemas.microsoft.com/office/drawing/2010/main"/>
            </a:ext>
          </a:extLst>
        </p:spPr>
      </p:pic>
      <p:sp>
        <p:nvSpPr>
          <p:cNvPr id="11" name="Rectangle 10">
            <a:extLst>
              <a:ext uri="{FF2B5EF4-FFF2-40B4-BE49-F238E27FC236}">
                <a16:creationId xmlns:a16="http://schemas.microsoft.com/office/drawing/2014/main" id="{BA5790AB-FC8F-5547-2514-4CBE47E9A8F2}"/>
              </a:ext>
            </a:extLst>
          </p:cNvPr>
          <p:cNvSpPr/>
          <p:nvPr/>
        </p:nvSpPr>
        <p:spPr>
          <a:xfrm>
            <a:off x="1828800" y="3429000"/>
            <a:ext cx="1307805" cy="3849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6">
            <a:extLst>
              <a:ext uri="{FF2B5EF4-FFF2-40B4-BE49-F238E27FC236}">
                <a16:creationId xmlns:a16="http://schemas.microsoft.com/office/drawing/2014/main" id="{FA170776-C7C1-EAA3-912D-CFEC33217561}"/>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2705426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52A76-D840-6458-1491-990920E28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FC64C-A5C7-0EE3-2F98-52CFF72DC611}"/>
              </a:ext>
            </a:extLst>
          </p:cNvPr>
          <p:cNvSpPr>
            <a:spLocks noGrp="1"/>
          </p:cNvSpPr>
          <p:nvPr>
            <p:ph type="title"/>
          </p:nvPr>
        </p:nvSpPr>
        <p:spPr/>
        <p:txBody>
          <a:bodyPr/>
          <a:lstStyle/>
          <a:p>
            <a:r>
              <a:rPr lang="en-US" dirty="0"/>
              <a:t>Helios Methodology: Auto-Meshing</a:t>
            </a:r>
          </a:p>
        </p:txBody>
      </p:sp>
      <p:sp>
        <p:nvSpPr>
          <p:cNvPr id="4" name="Slide Number Placeholder 3">
            <a:extLst>
              <a:ext uri="{FF2B5EF4-FFF2-40B4-BE49-F238E27FC236}">
                <a16:creationId xmlns:a16="http://schemas.microsoft.com/office/drawing/2014/main" id="{6301F938-3648-D3AD-C356-8D170272A65B}"/>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13</a:t>
            </a:fld>
            <a:endParaRPr lang="en-US"/>
          </a:p>
        </p:txBody>
      </p:sp>
      <p:sp>
        <p:nvSpPr>
          <p:cNvPr id="5" name="Rectangle: Rounded Corners 4">
            <a:extLst>
              <a:ext uri="{FF2B5EF4-FFF2-40B4-BE49-F238E27FC236}">
                <a16:creationId xmlns:a16="http://schemas.microsoft.com/office/drawing/2014/main" id="{9B12412B-A15E-207D-867F-DCB48172AD9A}"/>
              </a:ext>
            </a:extLst>
          </p:cNvPr>
          <p:cNvSpPr/>
          <p:nvPr/>
        </p:nvSpPr>
        <p:spPr>
          <a:xfrm>
            <a:off x="10118621" y="1959215"/>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6" name="Rectangle: Rounded Corners 5">
            <a:extLst>
              <a:ext uri="{FF2B5EF4-FFF2-40B4-BE49-F238E27FC236}">
                <a16:creationId xmlns:a16="http://schemas.microsoft.com/office/drawing/2014/main" id="{7BC881E5-7930-1BB2-2785-81F02F0BBEE7}"/>
              </a:ext>
            </a:extLst>
          </p:cNvPr>
          <p:cNvSpPr/>
          <p:nvPr/>
        </p:nvSpPr>
        <p:spPr>
          <a:xfrm>
            <a:off x="10119803" y="3090152"/>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7" name="Rectangle: Rounded Corners 6">
            <a:extLst>
              <a:ext uri="{FF2B5EF4-FFF2-40B4-BE49-F238E27FC236}">
                <a16:creationId xmlns:a16="http://schemas.microsoft.com/office/drawing/2014/main" id="{243B60E5-1698-67D8-C83B-FCAF627997BC}"/>
              </a:ext>
            </a:extLst>
          </p:cNvPr>
          <p:cNvSpPr/>
          <p:nvPr/>
        </p:nvSpPr>
        <p:spPr>
          <a:xfrm>
            <a:off x="10119803" y="4216604"/>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cxnSp>
        <p:nvCxnSpPr>
          <p:cNvPr id="8" name="Straight Arrow Connector 7">
            <a:extLst>
              <a:ext uri="{FF2B5EF4-FFF2-40B4-BE49-F238E27FC236}">
                <a16:creationId xmlns:a16="http://schemas.microsoft.com/office/drawing/2014/main" id="{98DE038F-66B9-C68A-C3C7-82ECCADE8E50}"/>
              </a:ext>
            </a:extLst>
          </p:cNvPr>
          <p:cNvCxnSpPr/>
          <p:nvPr/>
        </p:nvCxnSpPr>
        <p:spPr>
          <a:xfrm>
            <a:off x="11099777" y="3813955"/>
            <a:ext cx="0" cy="630195"/>
          </a:xfrm>
          <a:prstGeom prst="straightConnector1">
            <a:avLst/>
          </a:prstGeom>
          <a:ln w="444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5811289-A21A-E73A-8F42-AA5F3DB24EDA}"/>
              </a:ext>
            </a:extLst>
          </p:cNvPr>
          <p:cNvCxnSpPr/>
          <p:nvPr/>
        </p:nvCxnSpPr>
        <p:spPr>
          <a:xfrm>
            <a:off x="11091539" y="2668896"/>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 name="Picture 2" descr="Shape&#10;&#10;AI-generated content may be incorrect.">
            <a:extLst>
              <a:ext uri="{FF2B5EF4-FFF2-40B4-BE49-F238E27FC236}">
                <a16:creationId xmlns:a16="http://schemas.microsoft.com/office/drawing/2014/main" id="{C9026FFD-6444-94B4-AE3E-D9B00C480655}"/>
              </a:ext>
            </a:extLst>
          </p:cNvPr>
          <p:cNvPicPr>
            <a:picLocks noChangeAspect="1"/>
          </p:cNvPicPr>
          <p:nvPr/>
        </p:nvPicPr>
        <p:blipFill>
          <a:blip r:embed="rId3" cstate="print">
            <a:extLst>
              <a:ext uri="{28A0092B-C50C-407E-A947-70E740481C1C}">
                <a14:useLocalDpi xmlns:a14="http://schemas.microsoft.com/office/drawing/2010/main" val="0"/>
              </a:ext>
            </a:extLst>
          </a:blip>
          <a:srcRect t="7086"/>
          <a:stretch>
            <a:fillRect/>
          </a:stretch>
        </p:blipFill>
        <p:spPr>
          <a:xfrm>
            <a:off x="1267887" y="970190"/>
            <a:ext cx="7481035" cy="3645152"/>
          </a:xfrm>
          <a:prstGeom prst="rect">
            <a:avLst/>
          </a:prstGeom>
        </p:spPr>
      </p:pic>
      <p:sp>
        <p:nvSpPr>
          <p:cNvPr id="9" name="TextBox 8">
            <a:extLst>
              <a:ext uri="{FF2B5EF4-FFF2-40B4-BE49-F238E27FC236}">
                <a16:creationId xmlns:a16="http://schemas.microsoft.com/office/drawing/2014/main" id="{A6307DBB-0E5A-5762-DB06-B3C0DDDFE7D0}"/>
              </a:ext>
            </a:extLst>
          </p:cNvPr>
          <p:cNvSpPr txBox="1"/>
          <p:nvPr/>
        </p:nvSpPr>
        <p:spPr>
          <a:xfrm>
            <a:off x="730571" y="4736446"/>
            <a:ext cx="8555666" cy="1938992"/>
          </a:xfrm>
          <a:prstGeom prst="rect">
            <a:avLst/>
          </a:prstGeom>
          <a:solidFill>
            <a:schemeClr val="bg1"/>
          </a:solidFill>
          <a:ln w="25400">
            <a:solidFill>
              <a:schemeClr val="tx1"/>
            </a:solidFill>
          </a:ln>
        </p:spPr>
        <p:txBody>
          <a:bodyPr wrap="square" rtlCol="0">
            <a:spAutoFit/>
          </a:bodyPr>
          <a:lstStyle/>
          <a:p>
            <a:pPr algn="ctr"/>
            <a:r>
              <a:rPr lang="en-US" sz="2400" b="1" dirty="0"/>
              <a:t>Provide geometry directly to Helios, sizing field is automatically determined, mesh generated at runtime</a:t>
            </a:r>
            <a:br>
              <a:rPr lang="en-US" sz="2400" b="1" dirty="0"/>
            </a:br>
            <a:endParaRPr lang="en-US" sz="2400" b="1" dirty="0"/>
          </a:p>
          <a:p>
            <a:pPr algn="ctr"/>
            <a:r>
              <a:rPr lang="en-US" sz="2400" b="1" dirty="0"/>
              <a:t>Saves time by eliminating the iterative process associated with manual sizing field setup and grid generation</a:t>
            </a:r>
          </a:p>
        </p:txBody>
      </p:sp>
      <p:sp>
        <p:nvSpPr>
          <p:cNvPr id="14" name="Text Placeholder 6">
            <a:extLst>
              <a:ext uri="{FF2B5EF4-FFF2-40B4-BE49-F238E27FC236}">
                <a16:creationId xmlns:a16="http://schemas.microsoft.com/office/drawing/2014/main" id="{C42D2E56-3F4A-A3C3-8307-004774F57DC5}"/>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2569726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0438C-4024-9614-4364-6B00168EA3CF}"/>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2DD8F93E-8969-75D3-2232-27BB20F940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56" y="1590183"/>
            <a:ext cx="5804524" cy="4424224"/>
          </a:xfrm>
          <a:prstGeom prst="rect">
            <a:avLst/>
          </a:prstGeom>
        </p:spPr>
      </p:pic>
      <p:pic>
        <p:nvPicPr>
          <p:cNvPr id="9" name="Picture 8" descr="A picture containing black&#10;&#10;AI-generated content may be incorrect.">
            <a:extLst>
              <a:ext uri="{FF2B5EF4-FFF2-40B4-BE49-F238E27FC236}">
                <a16:creationId xmlns:a16="http://schemas.microsoft.com/office/drawing/2014/main" id="{325E13C2-EA8F-E2C5-490F-2D6EA9E482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3108" y="1740229"/>
            <a:ext cx="5500667" cy="4192624"/>
          </a:xfrm>
          <a:prstGeom prst="rect">
            <a:avLst/>
          </a:prstGeom>
        </p:spPr>
      </p:pic>
      <p:sp>
        <p:nvSpPr>
          <p:cNvPr id="2" name="Title 1">
            <a:extLst>
              <a:ext uri="{FF2B5EF4-FFF2-40B4-BE49-F238E27FC236}">
                <a16:creationId xmlns:a16="http://schemas.microsoft.com/office/drawing/2014/main" id="{CCC1161B-5A13-09EE-CDF3-CB4B0C915FD1}"/>
              </a:ext>
            </a:extLst>
          </p:cNvPr>
          <p:cNvSpPr>
            <a:spLocks noGrp="1"/>
          </p:cNvSpPr>
          <p:nvPr>
            <p:ph type="title"/>
          </p:nvPr>
        </p:nvSpPr>
        <p:spPr/>
        <p:txBody>
          <a:bodyPr/>
          <a:lstStyle/>
          <a:p>
            <a:r>
              <a:rPr lang="en-US" dirty="0"/>
              <a:t>Methodology: Auto-Meshing (Fuselage)</a:t>
            </a:r>
          </a:p>
        </p:txBody>
      </p:sp>
      <p:sp>
        <p:nvSpPr>
          <p:cNvPr id="4" name="Slide Number Placeholder 3">
            <a:extLst>
              <a:ext uri="{FF2B5EF4-FFF2-40B4-BE49-F238E27FC236}">
                <a16:creationId xmlns:a16="http://schemas.microsoft.com/office/drawing/2014/main" id="{0CFCC2EA-D2BA-1821-1F7A-602B04B4522C}"/>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14</a:t>
            </a:fld>
            <a:endParaRPr lang="en-US"/>
          </a:p>
        </p:txBody>
      </p:sp>
      <p:sp>
        <p:nvSpPr>
          <p:cNvPr id="5" name="Rectangle: Rounded Corners 4">
            <a:extLst>
              <a:ext uri="{FF2B5EF4-FFF2-40B4-BE49-F238E27FC236}">
                <a16:creationId xmlns:a16="http://schemas.microsoft.com/office/drawing/2014/main" id="{0A1D6AB1-A993-2DBC-46E8-C6B19EBC0121}"/>
              </a:ext>
            </a:extLst>
          </p:cNvPr>
          <p:cNvSpPr/>
          <p:nvPr/>
        </p:nvSpPr>
        <p:spPr>
          <a:xfrm>
            <a:off x="10118621" y="1959215"/>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6" name="Rectangle: Rounded Corners 5">
            <a:extLst>
              <a:ext uri="{FF2B5EF4-FFF2-40B4-BE49-F238E27FC236}">
                <a16:creationId xmlns:a16="http://schemas.microsoft.com/office/drawing/2014/main" id="{E0526708-AB54-B2E7-9073-C96E51135821}"/>
              </a:ext>
            </a:extLst>
          </p:cNvPr>
          <p:cNvSpPr/>
          <p:nvPr/>
        </p:nvSpPr>
        <p:spPr>
          <a:xfrm>
            <a:off x="10119803" y="3090152"/>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7" name="Rectangle: Rounded Corners 6">
            <a:extLst>
              <a:ext uri="{FF2B5EF4-FFF2-40B4-BE49-F238E27FC236}">
                <a16:creationId xmlns:a16="http://schemas.microsoft.com/office/drawing/2014/main" id="{06283480-076A-E510-F182-8DA8FCF987E2}"/>
              </a:ext>
            </a:extLst>
          </p:cNvPr>
          <p:cNvSpPr/>
          <p:nvPr/>
        </p:nvSpPr>
        <p:spPr>
          <a:xfrm>
            <a:off x="10119803" y="4216604"/>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cxnSp>
        <p:nvCxnSpPr>
          <p:cNvPr id="8" name="Straight Arrow Connector 7">
            <a:extLst>
              <a:ext uri="{FF2B5EF4-FFF2-40B4-BE49-F238E27FC236}">
                <a16:creationId xmlns:a16="http://schemas.microsoft.com/office/drawing/2014/main" id="{CA72103A-94FD-F2CB-9D82-38C741134CE4}"/>
              </a:ext>
            </a:extLst>
          </p:cNvPr>
          <p:cNvCxnSpPr/>
          <p:nvPr/>
        </p:nvCxnSpPr>
        <p:spPr>
          <a:xfrm>
            <a:off x="11099777" y="3813955"/>
            <a:ext cx="0" cy="630195"/>
          </a:xfrm>
          <a:prstGeom prst="straightConnector1">
            <a:avLst/>
          </a:prstGeom>
          <a:ln w="444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4E705D6-0399-A36C-51B3-945C3FB9E4E4}"/>
              </a:ext>
            </a:extLst>
          </p:cNvPr>
          <p:cNvCxnSpPr/>
          <p:nvPr/>
        </p:nvCxnSpPr>
        <p:spPr>
          <a:xfrm>
            <a:off x="11091539" y="2668896"/>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E0896632-927F-BD9C-C1F2-8222857D08D3}"/>
              </a:ext>
            </a:extLst>
          </p:cNvPr>
          <p:cNvSpPr/>
          <p:nvPr/>
        </p:nvSpPr>
        <p:spPr>
          <a:xfrm>
            <a:off x="6205109" y="935124"/>
            <a:ext cx="2696663" cy="963276"/>
          </a:xfrm>
          <a:prstGeom prst="roundRect">
            <a:avLst/>
          </a:prstGeom>
          <a:no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Auto-Meshed</a:t>
            </a:r>
          </a:p>
        </p:txBody>
      </p:sp>
      <p:sp>
        <p:nvSpPr>
          <p:cNvPr id="15" name="Rectangle: Rounded Corners 14">
            <a:extLst>
              <a:ext uri="{FF2B5EF4-FFF2-40B4-BE49-F238E27FC236}">
                <a16:creationId xmlns:a16="http://schemas.microsoft.com/office/drawing/2014/main" id="{C3B6D5A0-9E22-6903-880B-29B3A2150943}"/>
              </a:ext>
            </a:extLst>
          </p:cNvPr>
          <p:cNvSpPr/>
          <p:nvPr/>
        </p:nvSpPr>
        <p:spPr>
          <a:xfrm>
            <a:off x="1602986" y="935124"/>
            <a:ext cx="2696663" cy="963276"/>
          </a:xfrm>
          <a:prstGeom prst="roundRect">
            <a:avLst/>
          </a:prstGeom>
          <a:no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Baseline</a:t>
            </a:r>
          </a:p>
        </p:txBody>
      </p:sp>
      <p:sp>
        <p:nvSpPr>
          <p:cNvPr id="3" name="TextBox 2">
            <a:extLst>
              <a:ext uri="{FF2B5EF4-FFF2-40B4-BE49-F238E27FC236}">
                <a16:creationId xmlns:a16="http://schemas.microsoft.com/office/drawing/2014/main" id="{638E7F59-2185-7CB0-3C18-74BC1FBBF6EA}"/>
              </a:ext>
            </a:extLst>
          </p:cNvPr>
          <p:cNvSpPr txBox="1"/>
          <p:nvPr/>
        </p:nvSpPr>
        <p:spPr>
          <a:xfrm>
            <a:off x="932590" y="5906961"/>
            <a:ext cx="8555666" cy="830997"/>
          </a:xfrm>
          <a:prstGeom prst="rect">
            <a:avLst/>
          </a:prstGeom>
          <a:solidFill>
            <a:schemeClr val="bg1"/>
          </a:solidFill>
          <a:ln w="25400">
            <a:solidFill>
              <a:schemeClr val="tx1"/>
            </a:solidFill>
          </a:ln>
        </p:spPr>
        <p:txBody>
          <a:bodyPr wrap="square" rtlCol="0">
            <a:spAutoFit/>
          </a:bodyPr>
          <a:lstStyle/>
          <a:p>
            <a:pPr algn="ctr"/>
            <a:r>
              <a:rPr lang="en-US" sz="2400" b="1" dirty="0"/>
              <a:t>New feature of auto-meshing generates fully-unstructured volume meshes</a:t>
            </a:r>
          </a:p>
        </p:txBody>
      </p:sp>
      <p:sp>
        <p:nvSpPr>
          <p:cNvPr id="17" name="Text Placeholder 6">
            <a:extLst>
              <a:ext uri="{FF2B5EF4-FFF2-40B4-BE49-F238E27FC236}">
                <a16:creationId xmlns:a16="http://schemas.microsoft.com/office/drawing/2014/main" id="{F97BA1B3-69DE-A31E-E87B-BEEFD4B6A5F8}"/>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1663569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5D323-20C0-2046-72B4-0F998B3CC8E2}"/>
            </a:ext>
          </a:extLst>
        </p:cNvPr>
        <p:cNvGrpSpPr/>
        <p:nvPr/>
      </p:nvGrpSpPr>
      <p:grpSpPr>
        <a:xfrm>
          <a:off x="0" y="0"/>
          <a:ext cx="0" cy="0"/>
          <a:chOff x="0" y="0"/>
          <a:chExt cx="0" cy="0"/>
        </a:xfrm>
      </p:grpSpPr>
      <p:pic>
        <p:nvPicPr>
          <p:cNvPr id="13" name="Picture 12" descr="A black and white snake&#10;&#10;AI-generated content may be incorrect.">
            <a:extLst>
              <a:ext uri="{FF2B5EF4-FFF2-40B4-BE49-F238E27FC236}">
                <a16:creationId xmlns:a16="http://schemas.microsoft.com/office/drawing/2014/main" id="{5A0E8A1C-C96E-3FE5-EBD5-79DF8AB6572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715692" y="4104045"/>
            <a:ext cx="5914124" cy="2151670"/>
          </a:xfrm>
          <a:prstGeom prst="rect">
            <a:avLst/>
          </a:prstGeom>
        </p:spPr>
      </p:pic>
      <p:sp>
        <p:nvSpPr>
          <p:cNvPr id="2" name="Title 1">
            <a:extLst>
              <a:ext uri="{FF2B5EF4-FFF2-40B4-BE49-F238E27FC236}">
                <a16:creationId xmlns:a16="http://schemas.microsoft.com/office/drawing/2014/main" id="{FF4D5B95-D4E2-5E1C-6F7C-FC5A68DCC6E9}"/>
              </a:ext>
            </a:extLst>
          </p:cNvPr>
          <p:cNvSpPr>
            <a:spLocks noGrp="1"/>
          </p:cNvSpPr>
          <p:nvPr>
            <p:ph type="title"/>
          </p:nvPr>
        </p:nvSpPr>
        <p:spPr/>
        <p:txBody>
          <a:bodyPr/>
          <a:lstStyle/>
          <a:p>
            <a:r>
              <a:rPr lang="en-US" dirty="0"/>
              <a:t>Methodology: Auto-Meshing (Blades)</a:t>
            </a:r>
          </a:p>
        </p:txBody>
      </p:sp>
      <p:sp>
        <p:nvSpPr>
          <p:cNvPr id="4" name="Slide Number Placeholder 3">
            <a:extLst>
              <a:ext uri="{FF2B5EF4-FFF2-40B4-BE49-F238E27FC236}">
                <a16:creationId xmlns:a16="http://schemas.microsoft.com/office/drawing/2014/main" id="{800503E4-3A2C-1646-E5CD-A2746C80D020}"/>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15</a:t>
            </a:fld>
            <a:endParaRPr lang="en-US"/>
          </a:p>
        </p:txBody>
      </p:sp>
      <p:sp>
        <p:nvSpPr>
          <p:cNvPr id="5" name="Rectangle: Rounded Corners 4">
            <a:extLst>
              <a:ext uri="{FF2B5EF4-FFF2-40B4-BE49-F238E27FC236}">
                <a16:creationId xmlns:a16="http://schemas.microsoft.com/office/drawing/2014/main" id="{2DBB6914-E6A7-37E4-6230-CD84F0AA4457}"/>
              </a:ext>
            </a:extLst>
          </p:cNvPr>
          <p:cNvSpPr/>
          <p:nvPr/>
        </p:nvSpPr>
        <p:spPr>
          <a:xfrm>
            <a:off x="10118621" y="1959215"/>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6" name="Rectangle: Rounded Corners 5">
            <a:extLst>
              <a:ext uri="{FF2B5EF4-FFF2-40B4-BE49-F238E27FC236}">
                <a16:creationId xmlns:a16="http://schemas.microsoft.com/office/drawing/2014/main" id="{43FB488E-2529-DAA1-B735-F16E19A95153}"/>
              </a:ext>
            </a:extLst>
          </p:cNvPr>
          <p:cNvSpPr/>
          <p:nvPr/>
        </p:nvSpPr>
        <p:spPr>
          <a:xfrm>
            <a:off x="10119803" y="3090152"/>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7" name="Rectangle: Rounded Corners 6">
            <a:extLst>
              <a:ext uri="{FF2B5EF4-FFF2-40B4-BE49-F238E27FC236}">
                <a16:creationId xmlns:a16="http://schemas.microsoft.com/office/drawing/2014/main" id="{0F358868-26BD-3E84-86F2-4600731E4C85}"/>
              </a:ext>
            </a:extLst>
          </p:cNvPr>
          <p:cNvSpPr/>
          <p:nvPr/>
        </p:nvSpPr>
        <p:spPr>
          <a:xfrm>
            <a:off x="10119803" y="4216604"/>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cxnSp>
        <p:nvCxnSpPr>
          <p:cNvPr id="8" name="Straight Arrow Connector 7">
            <a:extLst>
              <a:ext uri="{FF2B5EF4-FFF2-40B4-BE49-F238E27FC236}">
                <a16:creationId xmlns:a16="http://schemas.microsoft.com/office/drawing/2014/main" id="{A22915A6-96F4-F8B1-375B-3659E3C32A7A}"/>
              </a:ext>
            </a:extLst>
          </p:cNvPr>
          <p:cNvCxnSpPr/>
          <p:nvPr/>
        </p:nvCxnSpPr>
        <p:spPr>
          <a:xfrm>
            <a:off x="11099777" y="3813955"/>
            <a:ext cx="0" cy="630195"/>
          </a:xfrm>
          <a:prstGeom prst="straightConnector1">
            <a:avLst/>
          </a:prstGeom>
          <a:ln w="444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4B1192B-2C4D-5740-B765-E4349186CCC0}"/>
              </a:ext>
            </a:extLst>
          </p:cNvPr>
          <p:cNvCxnSpPr/>
          <p:nvPr/>
        </p:nvCxnSpPr>
        <p:spPr>
          <a:xfrm>
            <a:off x="11091539" y="2668896"/>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F0D20E89-F22B-A877-C55C-BA31BEE6DCF3}"/>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rot="1303820">
            <a:off x="5054011" y="1880373"/>
            <a:ext cx="4597128" cy="2084236"/>
          </a:xfrm>
          <a:prstGeom prst="rect">
            <a:avLst/>
          </a:prstGeom>
        </p:spPr>
      </p:pic>
      <p:sp>
        <p:nvSpPr>
          <p:cNvPr id="14" name="Rectangle: Rounded Corners 13">
            <a:extLst>
              <a:ext uri="{FF2B5EF4-FFF2-40B4-BE49-F238E27FC236}">
                <a16:creationId xmlns:a16="http://schemas.microsoft.com/office/drawing/2014/main" id="{B3B581D6-7FFB-D6C7-F506-9257826E670D}"/>
              </a:ext>
            </a:extLst>
          </p:cNvPr>
          <p:cNvSpPr/>
          <p:nvPr/>
        </p:nvSpPr>
        <p:spPr>
          <a:xfrm>
            <a:off x="6514956" y="1569569"/>
            <a:ext cx="2696663" cy="963276"/>
          </a:xfrm>
          <a:prstGeom prst="roundRect">
            <a:avLst/>
          </a:prstGeom>
          <a:no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Auto-Meshed</a:t>
            </a:r>
          </a:p>
        </p:txBody>
      </p:sp>
      <p:sp>
        <p:nvSpPr>
          <p:cNvPr id="15" name="Rectangle: Rounded Corners 14">
            <a:extLst>
              <a:ext uri="{FF2B5EF4-FFF2-40B4-BE49-F238E27FC236}">
                <a16:creationId xmlns:a16="http://schemas.microsoft.com/office/drawing/2014/main" id="{74542E1E-34E4-7E16-3D8D-763894883F43}"/>
              </a:ext>
            </a:extLst>
          </p:cNvPr>
          <p:cNvSpPr/>
          <p:nvPr/>
        </p:nvSpPr>
        <p:spPr>
          <a:xfrm>
            <a:off x="6672754" y="3962512"/>
            <a:ext cx="2696663" cy="963276"/>
          </a:xfrm>
          <a:prstGeom prst="roundRect">
            <a:avLst/>
          </a:prstGeom>
          <a:no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Baseline</a:t>
            </a:r>
          </a:p>
        </p:txBody>
      </p:sp>
      <p:sp>
        <p:nvSpPr>
          <p:cNvPr id="3" name="TextBox 2">
            <a:extLst>
              <a:ext uri="{FF2B5EF4-FFF2-40B4-BE49-F238E27FC236}">
                <a16:creationId xmlns:a16="http://schemas.microsoft.com/office/drawing/2014/main" id="{8A1E3776-39C7-E55E-A789-0E88C8FF7156}"/>
              </a:ext>
            </a:extLst>
          </p:cNvPr>
          <p:cNvSpPr txBox="1"/>
          <p:nvPr/>
        </p:nvSpPr>
        <p:spPr>
          <a:xfrm>
            <a:off x="595643" y="2098762"/>
            <a:ext cx="3994633" cy="1200329"/>
          </a:xfrm>
          <a:prstGeom prst="rect">
            <a:avLst/>
          </a:prstGeom>
          <a:solidFill>
            <a:schemeClr val="bg1"/>
          </a:solidFill>
          <a:ln w="25400">
            <a:solidFill>
              <a:schemeClr val="tx1"/>
            </a:solidFill>
          </a:ln>
        </p:spPr>
        <p:txBody>
          <a:bodyPr wrap="square" rtlCol="0">
            <a:spAutoFit/>
          </a:bodyPr>
          <a:lstStyle/>
          <a:p>
            <a:pPr algn="ctr"/>
            <a:r>
              <a:rPr lang="en-US" sz="2400" b="1" dirty="0"/>
              <a:t>New feature of auto-meshing uses edge detection to refine the surface</a:t>
            </a:r>
          </a:p>
        </p:txBody>
      </p:sp>
      <p:sp>
        <p:nvSpPr>
          <p:cNvPr id="17" name="Text Placeholder 6">
            <a:extLst>
              <a:ext uri="{FF2B5EF4-FFF2-40B4-BE49-F238E27FC236}">
                <a16:creationId xmlns:a16="http://schemas.microsoft.com/office/drawing/2014/main" id="{66CFCFFC-866F-970A-9577-7E298B26722E}"/>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2996276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366FE-9774-4048-A3DC-7F24CE6AEB1D}"/>
            </a:ext>
          </a:extLst>
        </p:cNvPr>
        <p:cNvGrpSpPr/>
        <p:nvPr/>
      </p:nvGrpSpPr>
      <p:grpSpPr>
        <a:xfrm>
          <a:off x="0" y="0"/>
          <a:ext cx="0" cy="0"/>
          <a:chOff x="0" y="0"/>
          <a:chExt cx="0" cy="0"/>
        </a:xfrm>
      </p:grpSpPr>
      <p:pic>
        <p:nvPicPr>
          <p:cNvPr id="13" name="Picture 12" descr="A black and white snake&#10;&#10;AI-generated content may be incorrect.">
            <a:extLst>
              <a:ext uri="{FF2B5EF4-FFF2-40B4-BE49-F238E27FC236}">
                <a16:creationId xmlns:a16="http://schemas.microsoft.com/office/drawing/2014/main" id="{856A23A0-10FA-B2CD-4770-A269B76D760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715692" y="4104045"/>
            <a:ext cx="5914124" cy="2151670"/>
          </a:xfrm>
          <a:prstGeom prst="rect">
            <a:avLst/>
          </a:prstGeom>
        </p:spPr>
      </p:pic>
      <p:sp>
        <p:nvSpPr>
          <p:cNvPr id="2" name="Title 1">
            <a:extLst>
              <a:ext uri="{FF2B5EF4-FFF2-40B4-BE49-F238E27FC236}">
                <a16:creationId xmlns:a16="http://schemas.microsoft.com/office/drawing/2014/main" id="{F43CDE1D-742F-E8E1-D470-78011789ECE3}"/>
              </a:ext>
            </a:extLst>
          </p:cNvPr>
          <p:cNvSpPr>
            <a:spLocks noGrp="1"/>
          </p:cNvSpPr>
          <p:nvPr>
            <p:ph type="title"/>
          </p:nvPr>
        </p:nvSpPr>
        <p:spPr/>
        <p:txBody>
          <a:bodyPr/>
          <a:lstStyle/>
          <a:p>
            <a:r>
              <a:rPr lang="en-US" dirty="0"/>
              <a:t>Methodology: Auto-Meshing (Blades)</a:t>
            </a:r>
          </a:p>
        </p:txBody>
      </p:sp>
      <p:sp>
        <p:nvSpPr>
          <p:cNvPr id="4" name="Slide Number Placeholder 3">
            <a:extLst>
              <a:ext uri="{FF2B5EF4-FFF2-40B4-BE49-F238E27FC236}">
                <a16:creationId xmlns:a16="http://schemas.microsoft.com/office/drawing/2014/main" id="{840B581A-FEDB-404F-60A6-749837CB4353}"/>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16</a:t>
            </a:fld>
            <a:endParaRPr lang="en-US"/>
          </a:p>
        </p:txBody>
      </p:sp>
      <p:sp>
        <p:nvSpPr>
          <p:cNvPr id="5" name="Rectangle: Rounded Corners 4">
            <a:extLst>
              <a:ext uri="{FF2B5EF4-FFF2-40B4-BE49-F238E27FC236}">
                <a16:creationId xmlns:a16="http://schemas.microsoft.com/office/drawing/2014/main" id="{C8B8D762-3966-4983-C67E-B3576CA9EA3F}"/>
              </a:ext>
            </a:extLst>
          </p:cNvPr>
          <p:cNvSpPr/>
          <p:nvPr/>
        </p:nvSpPr>
        <p:spPr>
          <a:xfrm>
            <a:off x="10118621" y="1959215"/>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6" name="Rectangle: Rounded Corners 5">
            <a:extLst>
              <a:ext uri="{FF2B5EF4-FFF2-40B4-BE49-F238E27FC236}">
                <a16:creationId xmlns:a16="http://schemas.microsoft.com/office/drawing/2014/main" id="{AE8B5924-5B93-F473-B5A2-8B39BD035B53}"/>
              </a:ext>
            </a:extLst>
          </p:cNvPr>
          <p:cNvSpPr/>
          <p:nvPr/>
        </p:nvSpPr>
        <p:spPr>
          <a:xfrm>
            <a:off x="10119803" y="3090152"/>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7" name="Rectangle: Rounded Corners 6">
            <a:extLst>
              <a:ext uri="{FF2B5EF4-FFF2-40B4-BE49-F238E27FC236}">
                <a16:creationId xmlns:a16="http://schemas.microsoft.com/office/drawing/2014/main" id="{3DE42153-F8E4-ED5D-2DCD-592628A025D6}"/>
              </a:ext>
            </a:extLst>
          </p:cNvPr>
          <p:cNvSpPr/>
          <p:nvPr/>
        </p:nvSpPr>
        <p:spPr>
          <a:xfrm>
            <a:off x="10119803" y="4216604"/>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cxnSp>
        <p:nvCxnSpPr>
          <p:cNvPr id="8" name="Straight Arrow Connector 7">
            <a:extLst>
              <a:ext uri="{FF2B5EF4-FFF2-40B4-BE49-F238E27FC236}">
                <a16:creationId xmlns:a16="http://schemas.microsoft.com/office/drawing/2014/main" id="{B9235D1D-69D8-0CA9-FE69-BAF968CD9C29}"/>
              </a:ext>
            </a:extLst>
          </p:cNvPr>
          <p:cNvCxnSpPr/>
          <p:nvPr/>
        </p:nvCxnSpPr>
        <p:spPr>
          <a:xfrm>
            <a:off x="11099777" y="3813955"/>
            <a:ext cx="0" cy="630195"/>
          </a:xfrm>
          <a:prstGeom prst="straightConnector1">
            <a:avLst/>
          </a:prstGeom>
          <a:ln w="444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BB5509E-366D-9BA1-CEA5-67BD28444992}"/>
              </a:ext>
            </a:extLst>
          </p:cNvPr>
          <p:cNvCxnSpPr/>
          <p:nvPr/>
        </p:nvCxnSpPr>
        <p:spPr>
          <a:xfrm>
            <a:off x="11091539" y="2668896"/>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DD4C9DB-908C-3149-189D-B141BFBBE254}"/>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rot="1303820">
            <a:off x="5054011" y="1880373"/>
            <a:ext cx="4597128" cy="2084236"/>
          </a:xfrm>
          <a:prstGeom prst="rect">
            <a:avLst/>
          </a:prstGeom>
        </p:spPr>
      </p:pic>
      <p:sp>
        <p:nvSpPr>
          <p:cNvPr id="14" name="Rectangle: Rounded Corners 13">
            <a:extLst>
              <a:ext uri="{FF2B5EF4-FFF2-40B4-BE49-F238E27FC236}">
                <a16:creationId xmlns:a16="http://schemas.microsoft.com/office/drawing/2014/main" id="{244A49D1-726E-651A-6783-2B43C5B2641B}"/>
              </a:ext>
            </a:extLst>
          </p:cNvPr>
          <p:cNvSpPr/>
          <p:nvPr/>
        </p:nvSpPr>
        <p:spPr>
          <a:xfrm>
            <a:off x="6514956" y="1569569"/>
            <a:ext cx="2696663" cy="963276"/>
          </a:xfrm>
          <a:prstGeom prst="roundRect">
            <a:avLst/>
          </a:prstGeom>
          <a:no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Auto-Meshed</a:t>
            </a:r>
          </a:p>
        </p:txBody>
      </p:sp>
      <p:sp>
        <p:nvSpPr>
          <p:cNvPr id="15" name="Rectangle: Rounded Corners 14">
            <a:extLst>
              <a:ext uri="{FF2B5EF4-FFF2-40B4-BE49-F238E27FC236}">
                <a16:creationId xmlns:a16="http://schemas.microsoft.com/office/drawing/2014/main" id="{C4389C31-6657-1A56-2597-660A8B4373E5}"/>
              </a:ext>
            </a:extLst>
          </p:cNvPr>
          <p:cNvSpPr/>
          <p:nvPr/>
        </p:nvSpPr>
        <p:spPr>
          <a:xfrm>
            <a:off x="6672754" y="3962512"/>
            <a:ext cx="2696663" cy="963276"/>
          </a:xfrm>
          <a:prstGeom prst="roundRect">
            <a:avLst/>
          </a:prstGeom>
          <a:no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Baseline</a:t>
            </a:r>
          </a:p>
        </p:txBody>
      </p:sp>
      <p:sp>
        <p:nvSpPr>
          <p:cNvPr id="16" name="Content Placeholder 10">
            <a:extLst>
              <a:ext uri="{FF2B5EF4-FFF2-40B4-BE49-F238E27FC236}">
                <a16:creationId xmlns:a16="http://schemas.microsoft.com/office/drawing/2014/main" id="{74B94571-2269-C41B-7B12-B027AE82F258}"/>
              </a:ext>
            </a:extLst>
          </p:cNvPr>
          <p:cNvSpPr>
            <a:spLocks noGrp="1"/>
          </p:cNvSpPr>
          <p:nvPr>
            <p:ph idx="1"/>
          </p:nvPr>
        </p:nvSpPr>
        <p:spPr>
          <a:xfrm>
            <a:off x="290288" y="1417354"/>
            <a:ext cx="4664772" cy="2154436"/>
          </a:xfrm>
          <a:ln w="25400">
            <a:solidFill>
              <a:schemeClr val="tx1"/>
            </a:solidFill>
          </a:ln>
        </p:spPr>
        <p:txBody>
          <a:bodyPr/>
          <a:lstStyle/>
          <a:p>
            <a:r>
              <a:rPr lang="en-US" dirty="0"/>
              <a:t>Trade-off</a:t>
            </a:r>
          </a:p>
          <a:p>
            <a:pPr lvl="1"/>
            <a:r>
              <a:rPr lang="en-US" sz="2000" b="1" dirty="0"/>
              <a:t>Saves time spent manually setting up the sizing field</a:t>
            </a:r>
          </a:p>
          <a:p>
            <a:pPr lvl="1"/>
            <a:r>
              <a:rPr lang="en-US" sz="2000" b="1" dirty="0"/>
              <a:t>Parameterized sizing field eliminates fine control over the grid distribution</a:t>
            </a:r>
          </a:p>
        </p:txBody>
      </p:sp>
      <p:sp>
        <p:nvSpPr>
          <p:cNvPr id="12" name="Text Placeholder 6">
            <a:extLst>
              <a:ext uri="{FF2B5EF4-FFF2-40B4-BE49-F238E27FC236}">
                <a16:creationId xmlns:a16="http://schemas.microsoft.com/office/drawing/2014/main" id="{CBDAF7D7-EC7E-58E0-A4B0-7B62DD57427E}"/>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4027281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E317D-A820-0EAF-812B-CD799B11A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F0F8B-1600-6FCC-D865-71173DEECDCC}"/>
              </a:ext>
            </a:extLst>
          </p:cNvPr>
          <p:cNvSpPr>
            <a:spLocks noGrp="1"/>
          </p:cNvSpPr>
          <p:nvPr>
            <p:ph type="title"/>
          </p:nvPr>
        </p:nvSpPr>
        <p:spPr/>
        <p:txBody>
          <a:bodyPr/>
          <a:lstStyle/>
          <a:p>
            <a:r>
              <a:rPr lang="en-US" dirty="0"/>
              <a:t>Methodology: Helios 12.5 GPU Beta</a:t>
            </a:r>
          </a:p>
        </p:txBody>
      </p:sp>
      <p:sp>
        <p:nvSpPr>
          <p:cNvPr id="4" name="Slide Number Placeholder 3">
            <a:extLst>
              <a:ext uri="{FF2B5EF4-FFF2-40B4-BE49-F238E27FC236}">
                <a16:creationId xmlns:a16="http://schemas.microsoft.com/office/drawing/2014/main" id="{4C97EBF6-4D69-FAE6-E2CF-9EFD87A195D8}"/>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17</a:t>
            </a:fld>
            <a:endParaRPr lang="en-US"/>
          </a:p>
        </p:txBody>
      </p:sp>
      <p:sp>
        <p:nvSpPr>
          <p:cNvPr id="5" name="Rectangle: Rounded Corners 4">
            <a:extLst>
              <a:ext uri="{FF2B5EF4-FFF2-40B4-BE49-F238E27FC236}">
                <a16:creationId xmlns:a16="http://schemas.microsoft.com/office/drawing/2014/main" id="{53189859-ED4D-0D74-87FB-984AC00C4D03}"/>
              </a:ext>
            </a:extLst>
          </p:cNvPr>
          <p:cNvSpPr/>
          <p:nvPr/>
        </p:nvSpPr>
        <p:spPr>
          <a:xfrm>
            <a:off x="10118621" y="1959215"/>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6" name="Rectangle: Rounded Corners 5">
            <a:extLst>
              <a:ext uri="{FF2B5EF4-FFF2-40B4-BE49-F238E27FC236}">
                <a16:creationId xmlns:a16="http://schemas.microsoft.com/office/drawing/2014/main" id="{12946F83-DBC3-FC0D-BD8B-4F5AACF9F9A4}"/>
              </a:ext>
            </a:extLst>
          </p:cNvPr>
          <p:cNvSpPr/>
          <p:nvPr/>
        </p:nvSpPr>
        <p:spPr>
          <a:xfrm>
            <a:off x="10119803" y="3090152"/>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7" name="Rectangle: Rounded Corners 6">
            <a:extLst>
              <a:ext uri="{FF2B5EF4-FFF2-40B4-BE49-F238E27FC236}">
                <a16:creationId xmlns:a16="http://schemas.microsoft.com/office/drawing/2014/main" id="{9E042F8A-3899-E249-10BD-FD33437E47B1}"/>
              </a:ext>
            </a:extLst>
          </p:cNvPr>
          <p:cNvSpPr/>
          <p:nvPr/>
        </p:nvSpPr>
        <p:spPr>
          <a:xfrm>
            <a:off x="10119803" y="4216604"/>
            <a:ext cx="1907204" cy="963276"/>
          </a:xfrm>
          <a:prstGeom prst="roundRect">
            <a:avLst/>
          </a:prstGeom>
          <a:noFill/>
          <a:ln>
            <a:solidFill>
              <a:srgbClr val="FFC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cxnSp>
        <p:nvCxnSpPr>
          <p:cNvPr id="8" name="Straight Arrow Connector 7">
            <a:extLst>
              <a:ext uri="{FF2B5EF4-FFF2-40B4-BE49-F238E27FC236}">
                <a16:creationId xmlns:a16="http://schemas.microsoft.com/office/drawing/2014/main" id="{6CC5C91D-3F6F-95A0-4B44-48D19A6B2FE7}"/>
              </a:ext>
            </a:extLst>
          </p:cNvPr>
          <p:cNvCxnSpPr/>
          <p:nvPr/>
        </p:nvCxnSpPr>
        <p:spPr>
          <a:xfrm>
            <a:off x="11099777" y="3813955"/>
            <a:ext cx="0" cy="630195"/>
          </a:xfrm>
          <a:prstGeom prst="straightConnector1">
            <a:avLst/>
          </a:prstGeom>
          <a:ln w="44450">
            <a:solidFill>
              <a:schemeClr val="accent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E6760ED-845C-DF0B-02D0-94B929B9038F}"/>
              </a:ext>
            </a:extLst>
          </p:cNvPr>
          <p:cNvCxnSpPr/>
          <p:nvPr/>
        </p:nvCxnSpPr>
        <p:spPr>
          <a:xfrm>
            <a:off x="11091539" y="2668896"/>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F3E843B-C9E3-DC79-6411-FFD9A56A45B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3460728" y="4608876"/>
            <a:ext cx="3319397" cy="1114817"/>
          </a:xfrm>
          <a:prstGeom prst="rect">
            <a:avLst/>
          </a:prstGeom>
        </p:spPr>
      </p:pic>
      <p:sp>
        <p:nvSpPr>
          <p:cNvPr id="12" name="Oval 11">
            <a:extLst>
              <a:ext uri="{FF2B5EF4-FFF2-40B4-BE49-F238E27FC236}">
                <a16:creationId xmlns:a16="http://schemas.microsoft.com/office/drawing/2014/main" id="{C1922EB6-8864-3C19-3B0E-09A5533711BC}"/>
              </a:ext>
            </a:extLst>
          </p:cNvPr>
          <p:cNvSpPr/>
          <p:nvPr/>
        </p:nvSpPr>
        <p:spPr>
          <a:xfrm>
            <a:off x="996218" y="3088832"/>
            <a:ext cx="2538663" cy="1275347"/>
          </a:xfrm>
          <a:prstGeom prst="ellipse">
            <a:avLst/>
          </a:prstGeom>
          <a:no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cap="small" dirty="0" err="1">
                <a:solidFill>
                  <a:schemeClr val="tx1"/>
                </a:solidFill>
              </a:rPr>
              <a:t>Rapidus</a:t>
            </a:r>
            <a:endParaRPr lang="en-US" sz="2400" b="1" cap="small" dirty="0">
              <a:solidFill>
                <a:schemeClr val="tx1"/>
              </a:solidFill>
            </a:endParaRPr>
          </a:p>
        </p:txBody>
      </p:sp>
      <p:cxnSp>
        <p:nvCxnSpPr>
          <p:cNvPr id="13" name="Straight Arrow Connector 12">
            <a:extLst>
              <a:ext uri="{FF2B5EF4-FFF2-40B4-BE49-F238E27FC236}">
                <a16:creationId xmlns:a16="http://schemas.microsoft.com/office/drawing/2014/main" id="{8B66C79B-6026-E4F5-C5E3-7BA9005AEAA7}"/>
              </a:ext>
            </a:extLst>
          </p:cNvPr>
          <p:cNvCxnSpPr>
            <a:cxnSpLocks/>
            <a:stCxn id="12" idx="5"/>
          </p:cNvCxnSpPr>
          <p:nvPr/>
        </p:nvCxnSpPr>
        <p:spPr>
          <a:xfrm>
            <a:off x="3163102" y="4177409"/>
            <a:ext cx="1100495" cy="5379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B9E1A911-353A-B721-ED46-0E99946FA0CB}"/>
              </a:ext>
            </a:extLst>
          </p:cNvPr>
          <p:cNvSpPr/>
          <p:nvPr/>
        </p:nvSpPr>
        <p:spPr>
          <a:xfrm>
            <a:off x="6780125" y="3090152"/>
            <a:ext cx="2538663" cy="1275347"/>
          </a:xfrm>
          <a:prstGeom prst="ellipse">
            <a:avLst/>
          </a:prstGeom>
          <a:no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cap="small" dirty="0">
                <a:solidFill>
                  <a:schemeClr val="tx1"/>
                </a:solidFill>
              </a:rPr>
              <a:t>Orchard</a:t>
            </a:r>
          </a:p>
        </p:txBody>
      </p:sp>
      <p:cxnSp>
        <p:nvCxnSpPr>
          <p:cNvPr id="15" name="Straight Arrow Connector 14">
            <a:extLst>
              <a:ext uri="{FF2B5EF4-FFF2-40B4-BE49-F238E27FC236}">
                <a16:creationId xmlns:a16="http://schemas.microsoft.com/office/drawing/2014/main" id="{4AD5959A-179A-BF8B-0D11-210F4978D6B3}"/>
              </a:ext>
            </a:extLst>
          </p:cNvPr>
          <p:cNvCxnSpPr>
            <a:cxnSpLocks/>
            <a:stCxn id="14" idx="3"/>
          </p:cNvCxnSpPr>
          <p:nvPr/>
        </p:nvCxnSpPr>
        <p:spPr>
          <a:xfrm flipH="1">
            <a:off x="6272066" y="4178729"/>
            <a:ext cx="879838" cy="43014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754CD58B-5983-092C-29B7-A9151DF24D82}"/>
              </a:ext>
            </a:extLst>
          </p:cNvPr>
          <p:cNvSpPr/>
          <p:nvPr/>
        </p:nvSpPr>
        <p:spPr>
          <a:xfrm>
            <a:off x="3891818" y="2298579"/>
            <a:ext cx="2538663" cy="1275347"/>
          </a:xfrm>
          <a:prstGeom prst="ellipse">
            <a:avLst/>
          </a:prstGeom>
          <a:no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PUNDITG</a:t>
            </a:r>
          </a:p>
        </p:txBody>
      </p:sp>
      <p:cxnSp>
        <p:nvCxnSpPr>
          <p:cNvPr id="17" name="Straight Arrow Connector 16">
            <a:extLst>
              <a:ext uri="{FF2B5EF4-FFF2-40B4-BE49-F238E27FC236}">
                <a16:creationId xmlns:a16="http://schemas.microsoft.com/office/drawing/2014/main" id="{590F5CED-A7EF-8FBE-2606-A48580F15851}"/>
              </a:ext>
            </a:extLst>
          </p:cNvPr>
          <p:cNvCxnSpPr>
            <a:cxnSpLocks/>
            <a:stCxn id="16" idx="4"/>
          </p:cNvCxnSpPr>
          <p:nvPr/>
        </p:nvCxnSpPr>
        <p:spPr>
          <a:xfrm>
            <a:off x="5161150" y="3573926"/>
            <a:ext cx="0" cy="10349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D80BDF5-92BB-458D-4648-694315A54FDA}"/>
              </a:ext>
            </a:extLst>
          </p:cNvPr>
          <p:cNvSpPr txBox="1"/>
          <p:nvPr/>
        </p:nvSpPr>
        <p:spPr>
          <a:xfrm>
            <a:off x="875902" y="5617188"/>
            <a:ext cx="2538663" cy="461665"/>
          </a:xfrm>
          <a:prstGeom prst="rect">
            <a:avLst/>
          </a:prstGeom>
          <a:noFill/>
          <a:ln w="25400">
            <a:solidFill>
              <a:schemeClr val="tx1"/>
            </a:solidFill>
          </a:ln>
          <a:effectLst>
            <a:outerShdw blurRad="63500" sx="102000" sy="102000" algn="ctr" rotWithShape="0">
              <a:prstClr val="black">
                <a:alpha val="40000"/>
              </a:prstClr>
            </a:outerShdw>
          </a:effectLst>
        </p:spPr>
        <p:txBody>
          <a:bodyPr wrap="square" rtlCol="0">
            <a:spAutoFit/>
          </a:bodyPr>
          <a:lstStyle/>
          <a:p>
            <a:pPr algn="ctr"/>
            <a:r>
              <a:rPr lang="en-US" sz="2400" b="1" dirty="0" err="1"/>
              <a:t>use_gpu</a:t>
            </a:r>
            <a:r>
              <a:rPr lang="en-US" sz="2400" b="1" dirty="0"/>
              <a:t> = “yes”</a:t>
            </a:r>
          </a:p>
        </p:txBody>
      </p:sp>
      <p:cxnSp>
        <p:nvCxnSpPr>
          <p:cNvPr id="19" name="Straight Arrow Connector 18">
            <a:extLst>
              <a:ext uri="{FF2B5EF4-FFF2-40B4-BE49-F238E27FC236}">
                <a16:creationId xmlns:a16="http://schemas.microsoft.com/office/drawing/2014/main" id="{A026C14D-4E18-8D09-34CF-07BB2D552475}"/>
              </a:ext>
            </a:extLst>
          </p:cNvPr>
          <p:cNvCxnSpPr>
            <a:cxnSpLocks/>
            <a:stCxn id="18" idx="3"/>
          </p:cNvCxnSpPr>
          <p:nvPr/>
        </p:nvCxnSpPr>
        <p:spPr>
          <a:xfrm flipV="1">
            <a:off x="3414565" y="5617188"/>
            <a:ext cx="849032" cy="2308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2238B84-49E0-A868-08FF-68870D657C0B}"/>
              </a:ext>
            </a:extLst>
          </p:cNvPr>
          <p:cNvSpPr txBox="1"/>
          <p:nvPr/>
        </p:nvSpPr>
        <p:spPr>
          <a:xfrm>
            <a:off x="996217" y="2105255"/>
            <a:ext cx="2538663" cy="830997"/>
          </a:xfrm>
          <a:prstGeom prst="rect">
            <a:avLst/>
          </a:prstGeom>
          <a:noFill/>
          <a:ln w="25400">
            <a:noFill/>
          </a:ln>
        </p:spPr>
        <p:txBody>
          <a:bodyPr wrap="square" rtlCol="0">
            <a:spAutoFit/>
          </a:bodyPr>
          <a:lstStyle/>
          <a:p>
            <a:pPr algn="ctr"/>
            <a:r>
              <a:rPr lang="en-US" sz="2400" b="1" dirty="0"/>
              <a:t>Unstructured Near-Body Solver</a:t>
            </a:r>
          </a:p>
        </p:txBody>
      </p:sp>
      <p:sp>
        <p:nvSpPr>
          <p:cNvPr id="21" name="TextBox 20">
            <a:extLst>
              <a:ext uri="{FF2B5EF4-FFF2-40B4-BE49-F238E27FC236}">
                <a16:creationId xmlns:a16="http://schemas.microsoft.com/office/drawing/2014/main" id="{B69D9BDE-9AC9-8109-48E4-AC9C90092A17}"/>
              </a:ext>
            </a:extLst>
          </p:cNvPr>
          <p:cNvSpPr txBox="1"/>
          <p:nvPr/>
        </p:nvSpPr>
        <p:spPr>
          <a:xfrm>
            <a:off x="6787418" y="2191148"/>
            <a:ext cx="2538663" cy="830997"/>
          </a:xfrm>
          <a:prstGeom prst="rect">
            <a:avLst/>
          </a:prstGeom>
          <a:noFill/>
          <a:ln w="25400">
            <a:noFill/>
          </a:ln>
        </p:spPr>
        <p:txBody>
          <a:bodyPr wrap="square" rtlCol="0">
            <a:spAutoFit/>
          </a:bodyPr>
          <a:lstStyle/>
          <a:p>
            <a:pPr algn="ctr"/>
            <a:r>
              <a:rPr lang="en-US" sz="2400" b="1" dirty="0"/>
              <a:t>Cartesian </a:t>
            </a:r>
          </a:p>
          <a:p>
            <a:pPr algn="ctr"/>
            <a:r>
              <a:rPr lang="en-US" sz="2400" b="1" dirty="0"/>
              <a:t>Off-Body Solver</a:t>
            </a:r>
          </a:p>
        </p:txBody>
      </p:sp>
      <p:sp>
        <p:nvSpPr>
          <p:cNvPr id="22" name="TextBox 21">
            <a:extLst>
              <a:ext uri="{FF2B5EF4-FFF2-40B4-BE49-F238E27FC236}">
                <a16:creationId xmlns:a16="http://schemas.microsoft.com/office/drawing/2014/main" id="{BC9733EA-3035-D901-D8B6-8C8FDA4DBF3C}"/>
              </a:ext>
            </a:extLst>
          </p:cNvPr>
          <p:cNvSpPr txBox="1"/>
          <p:nvPr/>
        </p:nvSpPr>
        <p:spPr>
          <a:xfrm>
            <a:off x="3891818" y="1355841"/>
            <a:ext cx="2538663" cy="830997"/>
          </a:xfrm>
          <a:prstGeom prst="rect">
            <a:avLst/>
          </a:prstGeom>
          <a:noFill/>
          <a:ln w="25400">
            <a:noFill/>
          </a:ln>
        </p:spPr>
        <p:txBody>
          <a:bodyPr wrap="square" rtlCol="0">
            <a:spAutoFit/>
          </a:bodyPr>
          <a:lstStyle/>
          <a:p>
            <a:pPr algn="ctr"/>
            <a:r>
              <a:rPr lang="en-US" sz="2400" b="1" dirty="0"/>
              <a:t>Domain Connectivity</a:t>
            </a:r>
          </a:p>
        </p:txBody>
      </p:sp>
      <p:sp>
        <p:nvSpPr>
          <p:cNvPr id="24" name="Text Placeholder 6">
            <a:extLst>
              <a:ext uri="{FF2B5EF4-FFF2-40B4-BE49-F238E27FC236}">
                <a16:creationId xmlns:a16="http://schemas.microsoft.com/office/drawing/2014/main" id="{75613277-E948-18FD-3376-60190B5B9F6D}"/>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3275589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78E72-2A7E-7A2E-AA14-5F16ECDE5C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4AFE2-40A7-BCEA-D1BC-44C3BDB6B93C}"/>
              </a:ext>
            </a:extLst>
          </p:cNvPr>
          <p:cNvSpPr>
            <a:spLocks noGrp="1"/>
          </p:cNvSpPr>
          <p:nvPr>
            <p:ph type="title"/>
          </p:nvPr>
        </p:nvSpPr>
        <p:spPr/>
        <p:txBody>
          <a:bodyPr/>
          <a:lstStyle/>
          <a:p>
            <a:r>
              <a:rPr lang="en-US" dirty="0"/>
              <a:t>Methodology: Helios 12.5 GPU Beta</a:t>
            </a:r>
          </a:p>
        </p:txBody>
      </p:sp>
      <p:sp>
        <p:nvSpPr>
          <p:cNvPr id="4" name="Slide Number Placeholder 3">
            <a:extLst>
              <a:ext uri="{FF2B5EF4-FFF2-40B4-BE49-F238E27FC236}">
                <a16:creationId xmlns:a16="http://schemas.microsoft.com/office/drawing/2014/main" id="{1D76247D-0318-BD3F-CF73-ED2ABD286851}"/>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18</a:t>
            </a:fld>
            <a:endParaRPr lang="en-US"/>
          </a:p>
        </p:txBody>
      </p:sp>
      <p:sp>
        <p:nvSpPr>
          <p:cNvPr id="5" name="Rectangle: Rounded Corners 4">
            <a:extLst>
              <a:ext uri="{FF2B5EF4-FFF2-40B4-BE49-F238E27FC236}">
                <a16:creationId xmlns:a16="http://schemas.microsoft.com/office/drawing/2014/main" id="{12D373BD-2E95-D720-F14D-6AF066FB9D21}"/>
              </a:ext>
            </a:extLst>
          </p:cNvPr>
          <p:cNvSpPr/>
          <p:nvPr/>
        </p:nvSpPr>
        <p:spPr>
          <a:xfrm>
            <a:off x="10118621" y="1959215"/>
            <a:ext cx="1907204" cy="963276"/>
          </a:xfrm>
          <a:prstGeom prst="roundRect">
            <a:avLst/>
          </a:prstGeom>
          <a:noFill/>
          <a:ln>
            <a:solidFill>
              <a:schemeClr val="accent2"/>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Pre-Process Information</a:t>
            </a:r>
          </a:p>
        </p:txBody>
      </p:sp>
      <p:sp>
        <p:nvSpPr>
          <p:cNvPr id="6" name="Rectangle: Rounded Corners 5">
            <a:extLst>
              <a:ext uri="{FF2B5EF4-FFF2-40B4-BE49-F238E27FC236}">
                <a16:creationId xmlns:a16="http://schemas.microsoft.com/office/drawing/2014/main" id="{41446C19-E3DC-AD61-AF2C-B69215E3BB53}"/>
              </a:ext>
            </a:extLst>
          </p:cNvPr>
          <p:cNvSpPr/>
          <p:nvPr/>
        </p:nvSpPr>
        <p:spPr>
          <a:xfrm>
            <a:off x="10119803" y="3090152"/>
            <a:ext cx="1907204" cy="963276"/>
          </a:xfrm>
          <a:prstGeom prst="roundRect">
            <a:avLst/>
          </a:prstGeom>
          <a:noFill/>
          <a:ln>
            <a:solidFill>
              <a:schemeClr val="accent2">
                <a:lumMod val="7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 </a:t>
            </a:r>
            <a:r>
              <a:rPr lang="en-US" b="1" dirty="0">
                <a:solidFill>
                  <a:schemeClr val="tx1"/>
                </a:solidFill>
              </a:rPr>
              <a:t>Capstone</a:t>
            </a:r>
          </a:p>
        </p:txBody>
      </p:sp>
      <p:sp>
        <p:nvSpPr>
          <p:cNvPr id="7" name="Rectangle: Rounded Corners 6">
            <a:extLst>
              <a:ext uri="{FF2B5EF4-FFF2-40B4-BE49-F238E27FC236}">
                <a16:creationId xmlns:a16="http://schemas.microsoft.com/office/drawing/2014/main" id="{1C27256C-D68E-5B1C-529C-6F4D5C9C223F}"/>
              </a:ext>
            </a:extLst>
          </p:cNvPr>
          <p:cNvSpPr/>
          <p:nvPr/>
        </p:nvSpPr>
        <p:spPr>
          <a:xfrm>
            <a:off x="10119803" y="4216604"/>
            <a:ext cx="1907204" cy="963276"/>
          </a:xfrm>
          <a:prstGeom prst="roundRect">
            <a:avLst/>
          </a:prstGeom>
          <a:noFill/>
          <a:ln>
            <a:solidFill>
              <a:srgbClr val="FFC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a:t>
            </a:r>
            <a:r>
              <a:rPr lang="en-US" b="1" baseline="30000" dirty="0">
                <a:solidFill>
                  <a:schemeClr val="tx1"/>
                </a:solidFill>
              </a:rPr>
              <a:t>TM</a:t>
            </a:r>
            <a:r>
              <a:rPr lang="en-US" b="1" dirty="0">
                <a:solidFill>
                  <a:schemeClr val="tx1"/>
                </a:solidFill>
              </a:rPr>
              <a:t>-AV Helios</a:t>
            </a:r>
          </a:p>
        </p:txBody>
      </p:sp>
      <p:cxnSp>
        <p:nvCxnSpPr>
          <p:cNvPr id="8" name="Straight Arrow Connector 7">
            <a:extLst>
              <a:ext uri="{FF2B5EF4-FFF2-40B4-BE49-F238E27FC236}">
                <a16:creationId xmlns:a16="http://schemas.microsoft.com/office/drawing/2014/main" id="{60614616-76C8-6D4F-9CFE-1530514D2EF5}"/>
              </a:ext>
            </a:extLst>
          </p:cNvPr>
          <p:cNvCxnSpPr/>
          <p:nvPr/>
        </p:nvCxnSpPr>
        <p:spPr>
          <a:xfrm>
            <a:off x="11099777" y="3813955"/>
            <a:ext cx="0" cy="630195"/>
          </a:xfrm>
          <a:prstGeom prst="straightConnector1">
            <a:avLst/>
          </a:prstGeom>
          <a:ln w="44450">
            <a:solidFill>
              <a:schemeClr val="accent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B3D6A1F-8A16-6F2C-51B0-F4EAB6889834}"/>
              </a:ext>
            </a:extLst>
          </p:cNvPr>
          <p:cNvCxnSpPr/>
          <p:nvPr/>
        </p:nvCxnSpPr>
        <p:spPr>
          <a:xfrm>
            <a:off x="11091539" y="2668896"/>
            <a:ext cx="0" cy="630195"/>
          </a:xfrm>
          <a:prstGeom prst="straightConnector1">
            <a:avLst/>
          </a:prstGeom>
          <a:ln w="44450">
            <a:solidFill>
              <a:srgbClr val="812928"/>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07219B4E-753D-4293-E556-199DF271CBD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3460728" y="4608876"/>
            <a:ext cx="3319397" cy="1114817"/>
          </a:xfrm>
          <a:prstGeom prst="rect">
            <a:avLst/>
          </a:prstGeom>
        </p:spPr>
      </p:pic>
      <p:sp>
        <p:nvSpPr>
          <p:cNvPr id="12" name="Oval 11">
            <a:extLst>
              <a:ext uri="{FF2B5EF4-FFF2-40B4-BE49-F238E27FC236}">
                <a16:creationId xmlns:a16="http://schemas.microsoft.com/office/drawing/2014/main" id="{599411BB-1200-762E-E643-89572C0502B4}"/>
              </a:ext>
            </a:extLst>
          </p:cNvPr>
          <p:cNvSpPr/>
          <p:nvPr/>
        </p:nvSpPr>
        <p:spPr>
          <a:xfrm>
            <a:off x="996218" y="3088832"/>
            <a:ext cx="2538663" cy="1275347"/>
          </a:xfrm>
          <a:prstGeom prst="ellipse">
            <a:avLst/>
          </a:prstGeom>
          <a:no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cap="small" dirty="0">
                <a:solidFill>
                  <a:schemeClr val="tx1"/>
                </a:solidFill>
              </a:rPr>
              <a:t>ROAM</a:t>
            </a:r>
          </a:p>
        </p:txBody>
      </p:sp>
      <p:cxnSp>
        <p:nvCxnSpPr>
          <p:cNvPr id="13" name="Straight Arrow Connector 12">
            <a:extLst>
              <a:ext uri="{FF2B5EF4-FFF2-40B4-BE49-F238E27FC236}">
                <a16:creationId xmlns:a16="http://schemas.microsoft.com/office/drawing/2014/main" id="{667C5F48-1FF4-F26D-5D3E-375CD4239E7C}"/>
              </a:ext>
            </a:extLst>
          </p:cNvPr>
          <p:cNvCxnSpPr>
            <a:cxnSpLocks/>
            <a:stCxn id="12" idx="5"/>
          </p:cNvCxnSpPr>
          <p:nvPr/>
        </p:nvCxnSpPr>
        <p:spPr>
          <a:xfrm>
            <a:off x="3163102" y="4177409"/>
            <a:ext cx="1100495" cy="5379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744C86EB-EB59-A777-B42B-D496CA687821}"/>
              </a:ext>
            </a:extLst>
          </p:cNvPr>
          <p:cNvSpPr/>
          <p:nvPr/>
        </p:nvSpPr>
        <p:spPr>
          <a:xfrm>
            <a:off x="6780125" y="3090152"/>
            <a:ext cx="2538663" cy="1275347"/>
          </a:xfrm>
          <a:prstGeom prst="ellipse">
            <a:avLst/>
          </a:prstGeom>
          <a:no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cap="small" dirty="0">
                <a:solidFill>
                  <a:schemeClr val="tx1"/>
                </a:solidFill>
              </a:rPr>
              <a:t>Orchard</a:t>
            </a:r>
          </a:p>
        </p:txBody>
      </p:sp>
      <p:cxnSp>
        <p:nvCxnSpPr>
          <p:cNvPr id="15" name="Straight Arrow Connector 14">
            <a:extLst>
              <a:ext uri="{FF2B5EF4-FFF2-40B4-BE49-F238E27FC236}">
                <a16:creationId xmlns:a16="http://schemas.microsoft.com/office/drawing/2014/main" id="{7ECC6EE7-2783-FC6E-1BBA-9DD74EA6C4A4}"/>
              </a:ext>
            </a:extLst>
          </p:cNvPr>
          <p:cNvCxnSpPr>
            <a:cxnSpLocks/>
            <a:stCxn id="14" idx="3"/>
          </p:cNvCxnSpPr>
          <p:nvPr/>
        </p:nvCxnSpPr>
        <p:spPr>
          <a:xfrm flipH="1">
            <a:off x="6272066" y="4178729"/>
            <a:ext cx="879838" cy="43014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ABEA1EFF-4712-45CB-5F4B-9A6A3556E177}"/>
              </a:ext>
            </a:extLst>
          </p:cNvPr>
          <p:cNvSpPr/>
          <p:nvPr/>
        </p:nvSpPr>
        <p:spPr>
          <a:xfrm>
            <a:off x="3891818" y="2298579"/>
            <a:ext cx="2538663" cy="1275347"/>
          </a:xfrm>
          <a:prstGeom prst="ellipse">
            <a:avLst/>
          </a:prstGeom>
          <a:no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PUNDITG</a:t>
            </a:r>
          </a:p>
        </p:txBody>
      </p:sp>
      <p:cxnSp>
        <p:nvCxnSpPr>
          <p:cNvPr id="17" name="Straight Arrow Connector 16">
            <a:extLst>
              <a:ext uri="{FF2B5EF4-FFF2-40B4-BE49-F238E27FC236}">
                <a16:creationId xmlns:a16="http://schemas.microsoft.com/office/drawing/2014/main" id="{5978D855-D6E3-E174-55D2-C3639D37D987}"/>
              </a:ext>
            </a:extLst>
          </p:cNvPr>
          <p:cNvCxnSpPr>
            <a:cxnSpLocks/>
            <a:stCxn id="16" idx="4"/>
          </p:cNvCxnSpPr>
          <p:nvPr/>
        </p:nvCxnSpPr>
        <p:spPr>
          <a:xfrm>
            <a:off x="5161150" y="3573926"/>
            <a:ext cx="0" cy="10349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95D78FE-D79F-CD8E-846B-542DF69AAB2C}"/>
              </a:ext>
            </a:extLst>
          </p:cNvPr>
          <p:cNvSpPr txBox="1"/>
          <p:nvPr/>
        </p:nvSpPr>
        <p:spPr>
          <a:xfrm>
            <a:off x="875902" y="5617188"/>
            <a:ext cx="2538663" cy="461665"/>
          </a:xfrm>
          <a:prstGeom prst="rect">
            <a:avLst/>
          </a:prstGeom>
          <a:noFill/>
          <a:ln w="25400">
            <a:solidFill>
              <a:schemeClr val="tx1"/>
            </a:solidFill>
          </a:ln>
          <a:effectLst>
            <a:outerShdw blurRad="63500" sx="102000" sy="102000" algn="ctr" rotWithShape="0">
              <a:prstClr val="black">
                <a:alpha val="40000"/>
              </a:prstClr>
            </a:outerShdw>
          </a:effectLst>
        </p:spPr>
        <p:txBody>
          <a:bodyPr wrap="square" rtlCol="0">
            <a:spAutoFit/>
          </a:bodyPr>
          <a:lstStyle/>
          <a:p>
            <a:pPr algn="ctr"/>
            <a:r>
              <a:rPr lang="en-US" sz="2400" b="1" dirty="0" err="1"/>
              <a:t>use_gpu</a:t>
            </a:r>
            <a:r>
              <a:rPr lang="en-US" sz="2400" b="1" dirty="0"/>
              <a:t> = “yes”</a:t>
            </a:r>
          </a:p>
        </p:txBody>
      </p:sp>
      <p:cxnSp>
        <p:nvCxnSpPr>
          <p:cNvPr id="19" name="Straight Arrow Connector 18">
            <a:extLst>
              <a:ext uri="{FF2B5EF4-FFF2-40B4-BE49-F238E27FC236}">
                <a16:creationId xmlns:a16="http://schemas.microsoft.com/office/drawing/2014/main" id="{AB467DB2-3F2B-9759-281D-CBFB0457D7FF}"/>
              </a:ext>
            </a:extLst>
          </p:cNvPr>
          <p:cNvCxnSpPr>
            <a:cxnSpLocks/>
            <a:stCxn id="18" idx="3"/>
          </p:cNvCxnSpPr>
          <p:nvPr/>
        </p:nvCxnSpPr>
        <p:spPr>
          <a:xfrm flipV="1">
            <a:off x="3414565" y="5617188"/>
            <a:ext cx="849032" cy="2308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6144D39-50DE-C3F1-EB2B-53CB4FB1D4C1}"/>
              </a:ext>
            </a:extLst>
          </p:cNvPr>
          <p:cNvSpPr txBox="1"/>
          <p:nvPr/>
        </p:nvSpPr>
        <p:spPr>
          <a:xfrm>
            <a:off x="996217" y="2105255"/>
            <a:ext cx="2538663" cy="830997"/>
          </a:xfrm>
          <a:prstGeom prst="rect">
            <a:avLst/>
          </a:prstGeom>
          <a:noFill/>
          <a:ln w="25400">
            <a:noFill/>
          </a:ln>
        </p:spPr>
        <p:txBody>
          <a:bodyPr wrap="square" rtlCol="0">
            <a:spAutoFit/>
          </a:bodyPr>
          <a:lstStyle/>
          <a:p>
            <a:pPr algn="ctr"/>
            <a:r>
              <a:rPr lang="en-US" sz="2400" b="1" dirty="0"/>
              <a:t>Immersed Boundary Method</a:t>
            </a:r>
          </a:p>
        </p:txBody>
      </p:sp>
      <p:sp>
        <p:nvSpPr>
          <p:cNvPr id="21" name="TextBox 20">
            <a:extLst>
              <a:ext uri="{FF2B5EF4-FFF2-40B4-BE49-F238E27FC236}">
                <a16:creationId xmlns:a16="http://schemas.microsoft.com/office/drawing/2014/main" id="{7A02B81C-38E4-5D58-70CE-ABE2D9D62D67}"/>
              </a:ext>
            </a:extLst>
          </p:cNvPr>
          <p:cNvSpPr txBox="1"/>
          <p:nvPr/>
        </p:nvSpPr>
        <p:spPr>
          <a:xfrm>
            <a:off x="6787418" y="2191148"/>
            <a:ext cx="2538663" cy="830997"/>
          </a:xfrm>
          <a:prstGeom prst="rect">
            <a:avLst/>
          </a:prstGeom>
          <a:noFill/>
          <a:ln w="25400">
            <a:noFill/>
          </a:ln>
        </p:spPr>
        <p:txBody>
          <a:bodyPr wrap="square" rtlCol="0">
            <a:spAutoFit/>
          </a:bodyPr>
          <a:lstStyle/>
          <a:p>
            <a:pPr algn="ctr"/>
            <a:r>
              <a:rPr lang="en-US" sz="2400" b="1" dirty="0"/>
              <a:t>Cartesian </a:t>
            </a:r>
          </a:p>
          <a:p>
            <a:pPr algn="ctr"/>
            <a:r>
              <a:rPr lang="en-US" sz="2400" b="1" dirty="0"/>
              <a:t>Off-Body Solver</a:t>
            </a:r>
          </a:p>
        </p:txBody>
      </p:sp>
      <p:sp>
        <p:nvSpPr>
          <p:cNvPr id="22" name="TextBox 21">
            <a:extLst>
              <a:ext uri="{FF2B5EF4-FFF2-40B4-BE49-F238E27FC236}">
                <a16:creationId xmlns:a16="http://schemas.microsoft.com/office/drawing/2014/main" id="{442026C3-B609-92ED-D0F4-0BCB6D681CC9}"/>
              </a:ext>
            </a:extLst>
          </p:cNvPr>
          <p:cNvSpPr txBox="1"/>
          <p:nvPr/>
        </p:nvSpPr>
        <p:spPr>
          <a:xfrm>
            <a:off x="3891818" y="1355841"/>
            <a:ext cx="2538663" cy="830997"/>
          </a:xfrm>
          <a:prstGeom prst="rect">
            <a:avLst/>
          </a:prstGeom>
          <a:noFill/>
          <a:ln w="25400">
            <a:noFill/>
          </a:ln>
        </p:spPr>
        <p:txBody>
          <a:bodyPr wrap="square" rtlCol="0">
            <a:spAutoFit/>
          </a:bodyPr>
          <a:lstStyle/>
          <a:p>
            <a:pPr algn="ctr"/>
            <a:r>
              <a:rPr lang="en-US" sz="2400" b="1" dirty="0"/>
              <a:t>Domain Connectivity</a:t>
            </a:r>
          </a:p>
        </p:txBody>
      </p:sp>
      <p:sp>
        <p:nvSpPr>
          <p:cNvPr id="24" name="Text Placeholder 6">
            <a:extLst>
              <a:ext uri="{FF2B5EF4-FFF2-40B4-BE49-F238E27FC236}">
                <a16:creationId xmlns:a16="http://schemas.microsoft.com/office/drawing/2014/main" id="{30AEFFC5-3DC1-BEE0-8CF0-73F6C7D41F01}"/>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1818280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E4C0-2CF2-6E3E-5075-BFF14D0A67A8}"/>
              </a:ext>
            </a:extLst>
          </p:cNvPr>
          <p:cNvSpPr>
            <a:spLocks noGrp="1"/>
          </p:cNvSpPr>
          <p:nvPr>
            <p:ph type="title"/>
          </p:nvPr>
        </p:nvSpPr>
        <p:spPr/>
        <p:txBody>
          <a:bodyPr/>
          <a:lstStyle/>
          <a:p>
            <a:r>
              <a:rPr lang="en-US" dirty="0"/>
              <a:t>Baseline Computational Setup</a:t>
            </a:r>
          </a:p>
        </p:txBody>
      </p:sp>
      <p:sp>
        <p:nvSpPr>
          <p:cNvPr id="4" name="Slide Number Placeholder 3">
            <a:extLst>
              <a:ext uri="{FF2B5EF4-FFF2-40B4-BE49-F238E27FC236}">
                <a16:creationId xmlns:a16="http://schemas.microsoft.com/office/drawing/2014/main" id="{7782D42B-80CA-46AE-5935-55A6A21DA8D9}"/>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19</a:t>
            </a:fld>
            <a:endParaRPr lang="en-US"/>
          </a:p>
        </p:txBody>
      </p:sp>
      <p:pic>
        <p:nvPicPr>
          <p:cNvPr id="6" name="Picture 5">
            <a:extLst>
              <a:ext uri="{FF2B5EF4-FFF2-40B4-BE49-F238E27FC236}">
                <a16:creationId xmlns:a16="http://schemas.microsoft.com/office/drawing/2014/main" id="{20FDFDA7-851C-E306-889D-A6F656D2209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290288" y="954774"/>
            <a:ext cx="7114233" cy="3855775"/>
          </a:xfrm>
          <a:prstGeom prst="rect">
            <a:avLst/>
          </a:prstGeom>
          <a:noFill/>
          <a:ln>
            <a:no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C7F8E32F-5728-55A3-405E-2E7F2B1F73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5395" y="724335"/>
            <a:ext cx="3849540" cy="2934130"/>
          </a:xfrm>
          <a:prstGeom prst="rect">
            <a:avLst/>
          </a:prstGeom>
        </p:spPr>
      </p:pic>
      <p:pic>
        <p:nvPicPr>
          <p:cNvPr id="11" name="Picture 10" descr="A close-up of a syringe&#10;&#10;AI-generated content may be incorrect.">
            <a:extLst>
              <a:ext uri="{FF2B5EF4-FFF2-40B4-BE49-F238E27FC236}">
                <a16:creationId xmlns:a16="http://schemas.microsoft.com/office/drawing/2014/main" id="{513D6BC8-D501-9539-EA4A-E8D17EFC9D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44677" y="3658465"/>
            <a:ext cx="3850975" cy="2935224"/>
          </a:xfrm>
          <a:prstGeom prst="rect">
            <a:avLst/>
          </a:prstGeom>
        </p:spPr>
      </p:pic>
      <p:sp>
        <p:nvSpPr>
          <p:cNvPr id="12" name="TextBox 11">
            <a:extLst>
              <a:ext uri="{FF2B5EF4-FFF2-40B4-BE49-F238E27FC236}">
                <a16:creationId xmlns:a16="http://schemas.microsoft.com/office/drawing/2014/main" id="{220B9F6C-9036-4356-8EF4-E1C5D90A6CB3}"/>
              </a:ext>
            </a:extLst>
          </p:cNvPr>
          <p:cNvSpPr txBox="1"/>
          <p:nvPr/>
        </p:nvSpPr>
        <p:spPr>
          <a:xfrm rot="16200000">
            <a:off x="6456510" y="2004765"/>
            <a:ext cx="2538663" cy="461665"/>
          </a:xfrm>
          <a:prstGeom prst="rect">
            <a:avLst/>
          </a:prstGeom>
          <a:noFill/>
          <a:ln w="25400">
            <a:noFill/>
          </a:ln>
        </p:spPr>
        <p:txBody>
          <a:bodyPr wrap="square" rtlCol="0">
            <a:spAutoFit/>
          </a:bodyPr>
          <a:lstStyle/>
          <a:p>
            <a:pPr algn="ctr"/>
            <a:r>
              <a:rPr lang="en-US" sz="2400" b="1" cap="small" dirty="0" err="1"/>
              <a:t>Rapidus</a:t>
            </a:r>
            <a:r>
              <a:rPr lang="en-US" sz="2400" b="1" cap="small" dirty="0"/>
              <a:t>/Orchard</a:t>
            </a:r>
          </a:p>
        </p:txBody>
      </p:sp>
      <p:sp>
        <p:nvSpPr>
          <p:cNvPr id="13" name="TextBox 12">
            <a:extLst>
              <a:ext uri="{FF2B5EF4-FFF2-40B4-BE49-F238E27FC236}">
                <a16:creationId xmlns:a16="http://schemas.microsoft.com/office/drawing/2014/main" id="{F124BCEC-7CE0-11C1-EE8D-9FAE4DDBC04A}"/>
              </a:ext>
            </a:extLst>
          </p:cNvPr>
          <p:cNvSpPr txBox="1"/>
          <p:nvPr/>
        </p:nvSpPr>
        <p:spPr>
          <a:xfrm rot="16200000">
            <a:off x="6444872" y="4886626"/>
            <a:ext cx="2538663" cy="461665"/>
          </a:xfrm>
          <a:prstGeom prst="rect">
            <a:avLst/>
          </a:prstGeom>
          <a:noFill/>
          <a:ln w="25400">
            <a:noFill/>
          </a:ln>
        </p:spPr>
        <p:txBody>
          <a:bodyPr wrap="square" rtlCol="0">
            <a:spAutoFit/>
          </a:bodyPr>
          <a:lstStyle/>
          <a:p>
            <a:pPr algn="ctr"/>
            <a:r>
              <a:rPr lang="en-US" sz="2400" b="1" dirty="0"/>
              <a:t>ROAM/</a:t>
            </a:r>
            <a:r>
              <a:rPr lang="en-US" sz="2400" b="1" cap="small" dirty="0"/>
              <a:t>Orchard</a:t>
            </a:r>
          </a:p>
        </p:txBody>
      </p:sp>
      <p:pic>
        <p:nvPicPr>
          <p:cNvPr id="14" name="Picture 13" descr="Shape&#10;&#10;AI-generated content may be incorrect.">
            <a:extLst>
              <a:ext uri="{FF2B5EF4-FFF2-40B4-BE49-F238E27FC236}">
                <a16:creationId xmlns:a16="http://schemas.microsoft.com/office/drawing/2014/main" id="{71126E18-3F55-80B4-CD99-F2DAB8BAAB2B}"/>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90288" y="5024381"/>
            <a:ext cx="1976004" cy="1569308"/>
          </a:xfrm>
          <a:prstGeom prst="rect">
            <a:avLst/>
          </a:prstGeom>
          <a:ln w="25400">
            <a:solidFill>
              <a:schemeClr val="tx1"/>
            </a:solidFill>
          </a:ln>
        </p:spPr>
      </p:pic>
      <p:sp>
        <p:nvSpPr>
          <p:cNvPr id="15" name="TextBox 14">
            <a:extLst>
              <a:ext uri="{FF2B5EF4-FFF2-40B4-BE49-F238E27FC236}">
                <a16:creationId xmlns:a16="http://schemas.microsoft.com/office/drawing/2014/main" id="{E4662E66-2BC6-D714-A50B-2F4F961D7ABA}"/>
              </a:ext>
            </a:extLst>
          </p:cNvPr>
          <p:cNvSpPr txBox="1"/>
          <p:nvPr/>
        </p:nvSpPr>
        <p:spPr>
          <a:xfrm>
            <a:off x="2141477" y="5393536"/>
            <a:ext cx="1976005" cy="830997"/>
          </a:xfrm>
          <a:prstGeom prst="rect">
            <a:avLst/>
          </a:prstGeom>
          <a:noFill/>
          <a:ln w="25400">
            <a:noFill/>
          </a:ln>
        </p:spPr>
        <p:txBody>
          <a:bodyPr wrap="square" rtlCol="0">
            <a:spAutoFit/>
          </a:bodyPr>
          <a:lstStyle/>
          <a:p>
            <a:pPr algn="ctr"/>
            <a:r>
              <a:rPr lang="en-US" sz="2400" b="1" dirty="0"/>
              <a:t>Auto-Mesh Variation</a:t>
            </a:r>
          </a:p>
        </p:txBody>
      </p:sp>
      <p:sp>
        <p:nvSpPr>
          <p:cNvPr id="8" name="Text Placeholder 6">
            <a:extLst>
              <a:ext uri="{FF2B5EF4-FFF2-40B4-BE49-F238E27FC236}">
                <a16:creationId xmlns:a16="http://schemas.microsoft.com/office/drawing/2014/main" id="{A13DA728-98BB-163B-6BCF-1386C29FC9FD}"/>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58297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16F4C-5081-A4F3-EDE2-97FCB282D1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C2C10-DE07-E511-31E3-CBBA8063CC12}"/>
              </a:ext>
            </a:extLst>
          </p:cNvPr>
          <p:cNvSpPr>
            <a:spLocks noGrp="1"/>
          </p:cNvSpPr>
          <p:nvPr>
            <p:ph type="title"/>
          </p:nvPr>
        </p:nvSpPr>
        <p:spPr/>
        <p:txBody>
          <a:bodyPr/>
          <a:lstStyle/>
          <a:p>
            <a:r>
              <a:rPr lang="en-US" dirty="0"/>
              <a:t>Baseline Computational Setup</a:t>
            </a:r>
          </a:p>
        </p:txBody>
      </p:sp>
      <p:sp>
        <p:nvSpPr>
          <p:cNvPr id="4" name="Slide Number Placeholder 3">
            <a:extLst>
              <a:ext uri="{FF2B5EF4-FFF2-40B4-BE49-F238E27FC236}">
                <a16:creationId xmlns:a16="http://schemas.microsoft.com/office/drawing/2014/main" id="{91EF31FA-EB93-B2AB-9E56-E0E2ABEF01A5}"/>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20</a:t>
            </a:fld>
            <a:endParaRPr lang="en-US"/>
          </a:p>
        </p:txBody>
      </p:sp>
      <p:pic>
        <p:nvPicPr>
          <p:cNvPr id="6" name="Picture 5">
            <a:extLst>
              <a:ext uri="{FF2B5EF4-FFF2-40B4-BE49-F238E27FC236}">
                <a16:creationId xmlns:a16="http://schemas.microsoft.com/office/drawing/2014/main" id="{2691BFE1-9D33-3272-8DC0-EF44CD896D4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290288" y="954774"/>
            <a:ext cx="7114233" cy="3855775"/>
          </a:xfrm>
          <a:prstGeom prst="rect">
            <a:avLst/>
          </a:prstGeom>
          <a:noFill/>
          <a:ln>
            <a:no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2C71B5B2-69C7-D9B4-2001-0DAD2B6884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5395" y="724335"/>
            <a:ext cx="3849540" cy="2934130"/>
          </a:xfrm>
          <a:prstGeom prst="rect">
            <a:avLst/>
          </a:prstGeom>
        </p:spPr>
      </p:pic>
      <p:pic>
        <p:nvPicPr>
          <p:cNvPr id="11" name="Picture 10" descr="A close-up of a syringe&#10;&#10;AI-generated content may be incorrect.">
            <a:extLst>
              <a:ext uri="{FF2B5EF4-FFF2-40B4-BE49-F238E27FC236}">
                <a16:creationId xmlns:a16="http://schemas.microsoft.com/office/drawing/2014/main" id="{E0C76D81-021E-0E71-DC46-5AA71A7F43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44677" y="3658465"/>
            <a:ext cx="3850975" cy="2935224"/>
          </a:xfrm>
          <a:prstGeom prst="rect">
            <a:avLst/>
          </a:prstGeom>
        </p:spPr>
      </p:pic>
      <p:sp>
        <p:nvSpPr>
          <p:cNvPr id="12" name="TextBox 11">
            <a:extLst>
              <a:ext uri="{FF2B5EF4-FFF2-40B4-BE49-F238E27FC236}">
                <a16:creationId xmlns:a16="http://schemas.microsoft.com/office/drawing/2014/main" id="{B6CA8D65-9ED5-263B-BD84-1BB0CEE1A48E}"/>
              </a:ext>
            </a:extLst>
          </p:cNvPr>
          <p:cNvSpPr txBox="1"/>
          <p:nvPr/>
        </p:nvSpPr>
        <p:spPr>
          <a:xfrm rot="16200000">
            <a:off x="6456510" y="2004765"/>
            <a:ext cx="2538663" cy="461665"/>
          </a:xfrm>
          <a:prstGeom prst="rect">
            <a:avLst/>
          </a:prstGeom>
          <a:noFill/>
          <a:ln w="25400">
            <a:noFill/>
          </a:ln>
        </p:spPr>
        <p:txBody>
          <a:bodyPr wrap="square" rtlCol="0">
            <a:spAutoFit/>
          </a:bodyPr>
          <a:lstStyle/>
          <a:p>
            <a:pPr algn="ctr"/>
            <a:r>
              <a:rPr lang="en-US" sz="2400" b="1" cap="small" dirty="0" err="1"/>
              <a:t>Rapidus</a:t>
            </a:r>
            <a:r>
              <a:rPr lang="en-US" sz="2400" b="1" cap="small" dirty="0"/>
              <a:t>/Orchard</a:t>
            </a:r>
          </a:p>
        </p:txBody>
      </p:sp>
      <p:sp>
        <p:nvSpPr>
          <p:cNvPr id="13" name="TextBox 12">
            <a:extLst>
              <a:ext uri="{FF2B5EF4-FFF2-40B4-BE49-F238E27FC236}">
                <a16:creationId xmlns:a16="http://schemas.microsoft.com/office/drawing/2014/main" id="{C23A50C0-7DBA-3C52-F4A3-EB42B646E20C}"/>
              </a:ext>
            </a:extLst>
          </p:cNvPr>
          <p:cNvSpPr txBox="1"/>
          <p:nvPr/>
        </p:nvSpPr>
        <p:spPr>
          <a:xfrm rot="16200000">
            <a:off x="6444872" y="4886626"/>
            <a:ext cx="2538663" cy="461665"/>
          </a:xfrm>
          <a:prstGeom prst="rect">
            <a:avLst/>
          </a:prstGeom>
          <a:noFill/>
          <a:ln w="25400">
            <a:noFill/>
          </a:ln>
        </p:spPr>
        <p:txBody>
          <a:bodyPr wrap="square" rtlCol="0">
            <a:spAutoFit/>
          </a:bodyPr>
          <a:lstStyle/>
          <a:p>
            <a:pPr algn="ctr"/>
            <a:r>
              <a:rPr lang="en-US" sz="2400" b="1" dirty="0"/>
              <a:t>ROAM/</a:t>
            </a:r>
            <a:r>
              <a:rPr lang="en-US" sz="2400" b="1" cap="small" dirty="0"/>
              <a:t>Orchard</a:t>
            </a:r>
          </a:p>
        </p:txBody>
      </p:sp>
      <p:pic>
        <p:nvPicPr>
          <p:cNvPr id="14" name="Picture 13" descr="Shape&#10;&#10;AI-generated content may be incorrect.">
            <a:extLst>
              <a:ext uri="{FF2B5EF4-FFF2-40B4-BE49-F238E27FC236}">
                <a16:creationId xmlns:a16="http://schemas.microsoft.com/office/drawing/2014/main" id="{8F216966-1CB3-AA4A-9F42-66F4CC341AC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90288" y="5024381"/>
            <a:ext cx="1976004" cy="1569308"/>
          </a:xfrm>
          <a:prstGeom prst="rect">
            <a:avLst/>
          </a:prstGeom>
          <a:ln w="25400">
            <a:solidFill>
              <a:schemeClr val="tx1"/>
            </a:solidFill>
          </a:ln>
        </p:spPr>
      </p:pic>
      <p:sp>
        <p:nvSpPr>
          <p:cNvPr id="15" name="TextBox 14">
            <a:extLst>
              <a:ext uri="{FF2B5EF4-FFF2-40B4-BE49-F238E27FC236}">
                <a16:creationId xmlns:a16="http://schemas.microsoft.com/office/drawing/2014/main" id="{442BEE74-1EA3-2CC6-F6F0-6081248B621D}"/>
              </a:ext>
            </a:extLst>
          </p:cNvPr>
          <p:cNvSpPr txBox="1"/>
          <p:nvPr/>
        </p:nvSpPr>
        <p:spPr>
          <a:xfrm>
            <a:off x="2141477" y="5393536"/>
            <a:ext cx="1976005" cy="830997"/>
          </a:xfrm>
          <a:prstGeom prst="rect">
            <a:avLst/>
          </a:prstGeom>
          <a:noFill/>
          <a:ln w="25400">
            <a:noFill/>
          </a:ln>
        </p:spPr>
        <p:txBody>
          <a:bodyPr wrap="square" rtlCol="0">
            <a:spAutoFit/>
          </a:bodyPr>
          <a:lstStyle/>
          <a:p>
            <a:pPr algn="ctr"/>
            <a:r>
              <a:rPr lang="en-US" sz="2400" b="1" dirty="0"/>
              <a:t>Auto-Mesh Variation</a:t>
            </a:r>
          </a:p>
        </p:txBody>
      </p:sp>
      <p:pic>
        <p:nvPicPr>
          <p:cNvPr id="3" name="Picture 2">
            <a:extLst>
              <a:ext uri="{FF2B5EF4-FFF2-40B4-BE49-F238E27FC236}">
                <a16:creationId xmlns:a16="http://schemas.microsoft.com/office/drawing/2014/main" id="{9B7E5DF5-023C-6B42-C678-5F61C5D3C664}"/>
              </a:ext>
            </a:extLst>
          </p:cNvPr>
          <p:cNvPicPr>
            <a:picLocks noChangeAspect="1"/>
          </p:cNvPicPr>
          <p:nvPr/>
        </p:nvPicPr>
        <p:blipFill>
          <a:blip r:embed="rId7"/>
          <a:srcRect l="4465" r="76974" b="12925"/>
          <a:stretch>
            <a:fillRect/>
          </a:stretch>
        </p:blipFill>
        <p:spPr>
          <a:xfrm>
            <a:off x="3911136" y="4952219"/>
            <a:ext cx="1977656" cy="1688487"/>
          </a:xfrm>
          <a:prstGeom prst="rect">
            <a:avLst/>
          </a:prstGeom>
        </p:spPr>
      </p:pic>
      <p:sp>
        <p:nvSpPr>
          <p:cNvPr id="5" name="TextBox 4">
            <a:extLst>
              <a:ext uri="{FF2B5EF4-FFF2-40B4-BE49-F238E27FC236}">
                <a16:creationId xmlns:a16="http://schemas.microsoft.com/office/drawing/2014/main" id="{C6FB33DB-DD20-A81A-D3C2-9D44C7B4572C}"/>
              </a:ext>
            </a:extLst>
          </p:cNvPr>
          <p:cNvSpPr txBox="1"/>
          <p:nvPr/>
        </p:nvSpPr>
        <p:spPr>
          <a:xfrm>
            <a:off x="5860482" y="5162703"/>
            <a:ext cx="1579823" cy="461665"/>
          </a:xfrm>
          <a:prstGeom prst="rect">
            <a:avLst/>
          </a:prstGeom>
          <a:noFill/>
          <a:ln w="25400">
            <a:noFill/>
          </a:ln>
        </p:spPr>
        <p:txBody>
          <a:bodyPr wrap="square" rtlCol="0">
            <a:spAutoFit/>
          </a:bodyPr>
          <a:lstStyle/>
          <a:p>
            <a:pPr algn="ctr"/>
            <a:r>
              <a:rPr lang="en-US" sz="2400" b="1" dirty="0"/>
              <a:t>5% chord</a:t>
            </a:r>
          </a:p>
        </p:txBody>
      </p:sp>
      <p:sp>
        <p:nvSpPr>
          <p:cNvPr id="7" name="TextBox 6">
            <a:extLst>
              <a:ext uri="{FF2B5EF4-FFF2-40B4-BE49-F238E27FC236}">
                <a16:creationId xmlns:a16="http://schemas.microsoft.com/office/drawing/2014/main" id="{62FA17E7-A468-34A1-016B-B63A808A271B}"/>
              </a:ext>
            </a:extLst>
          </p:cNvPr>
          <p:cNvSpPr txBox="1"/>
          <p:nvPr/>
        </p:nvSpPr>
        <p:spPr>
          <a:xfrm>
            <a:off x="5931858" y="5565629"/>
            <a:ext cx="1658674" cy="461665"/>
          </a:xfrm>
          <a:prstGeom prst="rect">
            <a:avLst/>
          </a:prstGeom>
          <a:noFill/>
          <a:ln w="25400">
            <a:noFill/>
          </a:ln>
        </p:spPr>
        <p:txBody>
          <a:bodyPr wrap="square" rtlCol="0">
            <a:spAutoFit/>
          </a:bodyPr>
          <a:lstStyle/>
          <a:p>
            <a:pPr algn="ctr"/>
            <a:r>
              <a:rPr lang="en-US" sz="2400" b="1" dirty="0"/>
              <a:t>2.5% chord</a:t>
            </a:r>
          </a:p>
        </p:txBody>
      </p:sp>
      <p:sp>
        <p:nvSpPr>
          <p:cNvPr id="17" name="Text Placeholder 6">
            <a:extLst>
              <a:ext uri="{FF2B5EF4-FFF2-40B4-BE49-F238E27FC236}">
                <a16:creationId xmlns:a16="http://schemas.microsoft.com/office/drawing/2014/main" id="{A3CA92FF-8B32-8850-C166-63E351D14CD6}"/>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1922150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6B4568-20A2-932E-D4EC-340378E2FE69}"/>
              </a:ext>
            </a:extLst>
          </p:cNvPr>
          <p:cNvSpPr>
            <a:spLocks noGrp="1"/>
          </p:cNvSpPr>
          <p:nvPr>
            <p:ph type="title"/>
          </p:nvPr>
        </p:nvSpPr>
        <p:spPr/>
        <p:txBody>
          <a:bodyPr/>
          <a:lstStyle/>
          <a:p>
            <a:r>
              <a:rPr lang="en-US" dirty="0"/>
              <a:t>Full Vehicle Forward Flight</a:t>
            </a:r>
          </a:p>
        </p:txBody>
      </p:sp>
      <p:sp>
        <p:nvSpPr>
          <p:cNvPr id="6" name="Text Placeholder 5">
            <a:extLst>
              <a:ext uri="{FF2B5EF4-FFF2-40B4-BE49-F238E27FC236}">
                <a16:creationId xmlns:a16="http://schemas.microsoft.com/office/drawing/2014/main" id="{351210E2-8A38-D819-24E6-F476E68F1458}"/>
              </a:ext>
            </a:extLst>
          </p:cNvPr>
          <p:cNvSpPr>
            <a:spLocks noGrp="1"/>
          </p:cNvSpPr>
          <p:nvPr>
            <p:ph type="body" idx="1"/>
          </p:nvPr>
        </p:nvSpPr>
        <p:spPr/>
        <p:txBody>
          <a:bodyPr/>
          <a:lstStyle/>
          <a:p>
            <a:r>
              <a:rPr lang="en-US" dirty="0"/>
              <a:t>Results</a:t>
            </a:r>
          </a:p>
        </p:txBody>
      </p:sp>
      <p:sp>
        <p:nvSpPr>
          <p:cNvPr id="4" name="Slide Number Placeholder 3">
            <a:extLst>
              <a:ext uri="{FF2B5EF4-FFF2-40B4-BE49-F238E27FC236}">
                <a16:creationId xmlns:a16="http://schemas.microsoft.com/office/drawing/2014/main" id="{E74BFA90-BA42-CF6D-7206-E0FD160BA8B0}"/>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21</a:t>
            </a:fld>
            <a:endParaRPr lang="en-US"/>
          </a:p>
        </p:txBody>
      </p:sp>
      <p:sp>
        <p:nvSpPr>
          <p:cNvPr id="7" name="Text Placeholder 6">
            <a:extLst>
              <a:ext uri="{FF2B5EF4-FFF2-40B4-BE49-F238E27FC236}">
                <a16:creationId xmlns:a16="http://schemas.microsoft.com/office/drawing/2014/main" id="{163EA9F5-AAD5-7465-7C75-E0A2D818BBA0}"/>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73860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D13920-210A-C2BC-A9E4-2E58087A00E7}"/>
              </a:ext>
            </a:extLst>
          </p:cNvPr>
          <p:cNvSpPr>
            <a:spLocks noGrp="1"/>
          </p:cNvSpPr>
          <p:nvPr>
            <p:ph type="title"/>
          </p:nvPr>
        </p:nvSpPr>
        <p:spPr/>
        <p:txBody>
          <a:bodyPr/>
          <a:lstStyle/>
          <a:p>
            <a:r>
              <a:rPr lang="en-US" dirty="0"/>
              <a:t>Full Vehicle Integrated Forces and Moments</a:t>
            </a:r>
          </a:p>
        </p:txBody>
      </p:sp>
      <p:sp>
        <p:nvSpPr>
          <p:cNvPr id="4" name="Slide Number Placeholder 3">
            <a:extLst>
              <a:ext uri="{FF2B5EF4-FFF2-40B4-BE49-F238E27FC236}">
                <a16:creationId xmlns:a16="http://schemas.microsoft.com/office/drawing/2014/main" id="{70CB3D57-5C70-E742-8C1F-C98089EEF2F7}"/>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22</a:t>
            </a:fld>
            <a:endParaRPr lang="en-US"/>
          </a:p>
        </p:txBody>
      </p:sp>
      <p:pic>
        <p:nvPicPr>
          <p:cNvPr id="8" name="Picture 7">
            <a:extLst>
              <a:ext uri="{FF2B5EF4-FFF2-40B4-BE49-F238E27FC236}">
                <a16:creationId xmlns:a16="http://schemas.microsoft.com/office/drawing/2014/main" id="{498BD4D3-D896-A777-6370-618A9D70CDE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8213" y="2171518"/>
            <a:ext cx="11472260" cy="2871839"/>
          </a:xfrm>
          <a:prstGeom prst="rect">
            <a:avLst/>
          </a:prstGeom>
          <a:noFill/>
          <a:ln>
            <a:noFill/>
          </a:ln>
        </p:spPr>
      </p:pic>
      <p:sp>
        <p:nvSpPr>
          <p:cNvPr id="9" name="TextBox 8">
            <a:extLst>
              <a:ext uri="{FF2B5EF4-FFF2-40B4-BE49-F238E27FC236}">
                <a16:creationId xmlns:a16="http://schemas.microsoft.com/office/drawing/2014/main" id="{098B669F-580F-B3BB-61DB-15B17FA9918D}"/>
              </a:ext>
            </a:extLst>
          </p:cNvPr>
          <p:cNvSpPr txBox="1"/>
          <p:nvPr/>
        </p:nvSpPr>
        <p:spPr>
          <a:xfrm>
            <a:off x="8645718" y="1709853"/>
            <a:ext cx="2993018" cy="461665"/>
          </a:xfrm>
          <a:prstGeom prst="rect">
            <a:avLst/>
          </a:prstGeom>
          <a:noFill/>
          <a:ln w="25400">
            <a:noFill/>
          </a:ln>
        </p:spPr>
        <p:txBody>
          <a:bodyPr wrap="square" rtlCol="0">
            <a:spAutoFit/>
          </a:bodyPr>
          <a:lstStyle/>
          <a:p>
            <a:pPr algn="ctr"/>
            <a:r>
              <a:rPr lang="en-US" sz="2400" b="1" dirty="0"/>
              <a:t>&lt; 6% Error</a:t>
            </a:r>
          </a:p>
        </p:txBody>
      </p:sp>
      <p:sp>
        <p:nvSpPr>
          <p:cNvPr id="10" name="TextBox 9">
            <a:extLst>
              <a:ext uri="{FF2B5EF4-FFF2-40B4-BE49-F238E27FC236}">
                <a16:creationId xmlns:a16="http://schemas.microsoft.com/office/drawing/2014/main" id="{25BF3941-85A8-AFCB-F4AB-A7104C6275DC}"/>
              </a:ext>
            </a:extLst>
          </p:cNvPr>
          <p:cNvSpPr txBox="1"/>
          <p:nvPr/>
        </p:nvSpPr>
        <p:spPr>
          <a:xfrm>
            <a:off x="469558" y="5505022"/>
            <a:ext cx="11370915" cy="461665"/>
          </a:xfrm>
          <a:prstGeom prst="rect">
            <a:avLst/>
          </a:prstGeom>
          <a:noFill/>
          <a:ln w="25400">
            <a:noFill/>
          </a:ln>
        </p:spPr>
        <p:txBody>
          <a:bodyPr wrap="square" rtlCol="0">
            <a:spAutoFit/>
          </a:bodyPr>
          <a:lstStyle/>
          <a:p>
            <a:pPr algn="ctr"/>
            <a:r>
              <a:rPr lang="en-US" sz="2400" b="1" dirty="0"/>
              <a:t>The </a:t>
            </a:r>
            <a:r>
              <a:rPr lang="en-US" sz="2400" b="1" dirty="0" err="1"/>
              <a:t>F</a:t>
            </a:r>
            <a:r>
              <a:rPr lang="en-US" sz="2400" b="1" baseline="-25000" dirty="0" err="1"/>
              <a:t>x</a:t>
            </a:r>
            <a:r>
              <a:rPr lang="en-US" sz="2400" b="1" dirty="0"/>
              <a:t> and F</a:t>
            </a:r>
            <a:r>
              <a:rPr lang="en-US" sz="2400" b="1" baseline="-25000" dirty="0"/>
              <a:t>z</a:t>
            </a:r>
            <a:r>
              <a:rPr lang="en-US" sz="2400" b="1" dirty="0"/>
              <a:t> results are ok, but the M</a:t>
            </a:r>
            <a:r>
              <a:rPr lang="en-US" sz="2400" b="1" baseline="-25000" dirty="0"/>
              <a:t>y</a:t>
            </a:r>
            <a:r>
              <a:rPr lang="en-US" sz="2400" b="1" dirty="0"/>
              <a:t> results require deeper investigation</a:t>
            </a:r>
          </a:p>
        </p:txBody>
      </p:sp>
      <p:sp>
        <p:nvSpPr>
          <p:cNvPr id="7" name="Text Placeholder 6">
            <a:extLst>
              <a:ext uri="{FF2B5EF4-FFF2-40B4-BE49-F238E27FC236}">
                <a16:creationId xmlns:a16="http://schemas.microsoft.com/office/drawing/2014/main" id="{513D9DC8-CDBD-23D1-42F0-C960A4E77226}"/>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991428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AC864-DF39-D252-835E-3C064EF2FD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A521769-89EA-5A50-F321-EDF61BDA917E}"/>
              </a:ext>
            </a:extLst>
          </p:cNvPr>
          <p:cNvSpPr>
            <a:spLocks noGrp="1"/>
          </p:cNvSpPr>
          <p:nvPr>
            <p:ph type="title"/>
          </p:nvPr>
        </p:nvSpPr>
        <p:spPr/>
        <p:txBody>
          <a:bodyPr/>
          <a:lstStyle/>
          <a:p>
            <a:r>
              <a:rPr lang="en-US" dirty="0"/>
              <a:t>Full Vehicle Pitching Moment Time-History</a:t>
            </a:r>
          </a:p>
        </p:txBody>
      </p:sp>
      <p:sp>
        <p:nvSpPr>
          <p:cNvPr id="4" name="Slide Number Placeholder 3">
            <a:extLst>
              <a:ext uri="{FF2B5EF4-FFF2-40B4-BE49-F238E27FC236}">
                <a16:creationId xmlns:a16="http://schemas.microsoft.com/office/drawing/2014/main" id="{EA94B80A-17B2-E41D-5189-9E8395069B8C}"/>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23</a:t>
            </a:fld>
            <a:endParaRPr lang="en-US"/>
          </a:p>
        </p:txBody>
      </p:sp>
      <p:pic>
        <p:nvPicPr>
          <p:cNvPr id="8" name="Picture 7">
            <a:extLst>
              <a:ext uri="{FF2B5EF4-FFF2-40B4-BE49-F238E27FC236}">
                <a16:creationId xmlns:a16="http://schemas.microsoft.com/office/drawing/2014/main" id="{C6310E9A-A146-114E-CF46-BA2203B1A7F0}"/>
              </a:ext>
            </a:extLst>
          </p:cNvPr>
          <p:cNvPicPr>
            <a:picLocks noChangeAspect="1"/>
          </p:cNvPicPr>
          <p:nvPr/>
        </p:nvPicPr>
        <p:blipFill>
          <a:blip r:embed="rId3">
            <a:extLst>
              <a:ext uri="{28A0092B-C50C-407E-A947-70E740481C1C}">
                <a14:useLocalDpi xmlns:a14="http://schemas.microsoft.com/office/drawing/2010/main" val="0"/>
              </a:ext>
            </a:extLst>
          </a:blip>
          <a:srcRect l="33399" r="32865"/>
          <a:stretch>
            <a:fillRect/>
          </a:stretch>
        </p:blipFill>
        <p:spPr bwMode="auto">
          <a:xfrm>
            <a:off x="7618695" y="1808105"/>
            <a:ext cx="3870252" cy="2871839"/>
          </a:xfrm>
          <a:prstGeom prst="rect">
            <a:avLst/>
          </a:prstGeom>
          <a:noFill/>
          <a:ln>
            <a:noFill/>
          </a:ln>
        </p:spPr>
      </p:pic>
      <p:pic>
        <p:nvPicPr>
          <p:cNvPr id="3" name="Picture 2" descr="Graphical user interface, chart&#10;&#10;AI-generated content may be incorrect.">
            <a:extLst>
              <a:ext uri="{FF2B5EF4-FFF2-40B4-BE49-F238E27FC236}">
                <a16:creationId xmlns:a16="http://schemas.microsoft.com/office/drawing/2014/main" id="{A82CC73B-6FC5-A341-3EDD-A98C75F2DE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241" y="1778755"/>
            <a:ext cx="6095238" cy="2638095"/>
          </a:xfrm>
          <a:prstGeom prst="rect">
            <a:avLst/>
          </a:prstGeom>
        </p:spPr>
      </p:pic>
      <p:sp>
        <p:nvSpPr>
          <p:cNvPr id="6" name="TextBox 5">
            <a:extLst>
              <a:ext uri="{FF2B5EF4-FFF2-40B4-BE49-F238E27FC236}">
                <a16:creationId xmlns:a16="http://schemas.microsoft.com/office/drawing/2014/main" id="{E368D12B-29DC-5735-2F51-A328CCB02A9C}"/>
              </a:ext>
            </a:extLst>
          </p:cNvPr>
          <p:cNvSpPr txBox="1"/>
          <p:nvPr/>
        </p:nvSpPr>
        <p:spPr>
          <a:xfrm rot="16200000">
            <a:off x="202246" y="2822737"/>
            <a:ext cx="1010213" cy="307777"/>
          </a:xfrm>
          <a:prstGeom prst="rect">
            <a:avLst/>
          </a:prstGeom>
          <a:noFill/>
        </p:spPr>
        <p:txBody>
          <a:bodyPr wrap="none" rtlCol="0">
            <a:spAutoFit/>
          </a:bodyPr>
          <a:lstStyle/>
          <a:p>
            <a:r>
              <a:rPr lang="en-US" sz="1400" b="1" dirty="0">
                <a:latin typeface="Times New Roman" panose="02020603050405020304" pitchFamily="18" charset="0"/>
                <a:cs typeface="Times New Roman" panose="02020603050405020304" pitchFamily="18" charset="0"/>
              </a:rPr>
              <a:t>My [in </a:t>
            </a:r>
            <a:r>
              <a:rPr lang="en-US" sz="1400" b="1" dirty="0" err="1">
                <a:latin typeface="Times New Roman" panose="02020603050405020304" pitchFamily="18" charset="0"/>
                <a:cs typeface="Times New Roman" panose="02020603050405020304" pitchFamily="18" charset="0"/>
              </a:rPr>
              <a:t>lbf</a:t>
            </a:r>
            <a:r>
              <a:rPr lang="en-US" sz="1400" b="1"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8DB8B227-E553-E5F4-041F-91BB7AADB958}"/>
              </a:ext>
            </a:extLst>
          </p:cNvPr>
          <p:cNvSpPr txBox="1"/>
          <p:nvPr/>
        </p:nvSpPr>
        <p:spPr>
          <a:xfrm>
            <a:off x="3620360" y="4372167"/>
            <a:ext cx="862737" cy="307777"/>
          </a:xfrm>
          <a:prstGeom prst="rect">
            <a:avLst/>
          </a:prstGeom>
          <a:noFill/>
        </p:spPr>
        <p:txBody>
          <a:bodyPr wrap="none" rtlCol="0">
            <a:spAutoFit/>
          </a:bodyPr>
          <a:lstStyle/>
          <a:p>
            <a:r>
              <a:rPr lang="en-US" sz="1400" b="1" dirty="0">
                <a:latin typeface="Times New Roman" panose="02020603050405020304" pitchFamily="18" charset="0"/>
                <a:cs typeface="Times New Roman" panose="02020603050405020304" pitchFamily="18" charset="0"/>
              </a:rPr>
              <a:t>Iteration</a:t>
            </a:r>
          </a:p>
        </p:txBody>
      </p:sp>
      <p:cxnSp>
        <p:nvCxnSpPr>
          <p:cNvPr id="12" name="Straight Arrow Connector 11">
            <a:extLst>
              <a:ext uri="{FF2B5EF4-FFF2-40B4-BE49-F238E27FC236}">
                <a16:creationId xmlns:a16="http://schemas.microsoft.com/office/drawing/2014/main" id="{69B062E2-C330-376D-89BD-613C893B0C68}"/>
              </a:ext>
            </a:extLst>
          </p:cNvPr>
          <p:cNvCxnSpPr/>
          <p:nvPr/>
        </p:nvCxnSpPr>
        <p:spPr>
          <a:xfrm flipH="1">
            <a:off x="6878898" y="2471519"/>
            <a:ext cx="3636335" cy="16535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BCBFB56-37ED-BC24-62CA-A0918CC2211F}"/>
              </a:ext>
            </a:extLst>
          </p:cNvPr>
          <p:cNvCxnSpPr>
            <a:cxnSpLocks/>
          </p:cNvCxnSpPr>
          <p:nvPr/>
        </p:nvCxnSpPr>
        <p:spPr>
          <a:xfrm flipH="1" flipV="1">
            <a:off x="6878897" y="2768420"/>
            <a:ext cx="3657601" cy="9742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F835D56-F54B-C1EA-6BDB-C3996F5A2174}"/>
              </a:ext>
            </a:extLst>
          </p:cNvPr>
          <p:cNvSpPr txBox="1"/>
          <p:nvPr/>
        </p:nvSpPr>
        <p:spPr>
          <a:xfrm>
            <a:off x="1328160" y="5170911"/>
            <a:ext cx="9535679" cy="830997"/>
          </a:xfrm>
          <a:prstGeom prst="rect">
            <a:avLst/>
          </a:prstGeom>
          <a:noFill/>
          <a:ln w="25400">
            <a:noFill/>
          </a:ln>
        </p:spPr>
        <p:txBody>
          <a:bodyPr wrap="square" rtlCol="0">
            <a:spAutoFit/>
          </a:bodyPr>
          <a:lstStyle/>
          <a:p>
            <a:pPr algn="ctr"/>
            <a:r>
              <a:rPr lang="en-US" sz="2400" b="1" dirty="0"/>
              <a:t>The M</a:t>
            </a:r>
            <a:r>
              <a:rPr lang="en-US" sz="2400" b="1" baseline="-25000" dirty="0"/>
              <a:t>y</a:t>
            </a:r>
            <a:r>
              <a:rPr lang="en-US" sz="2400" b="1" dirty="0"/>
              <a:t> error seems significant, but the time-history reveals the test data are well within in the unsteady min/max range of the simulation</a:t>
            </a:r>
          </a:p>
        </p:txBody>
      </p:sp>
      <p:sp>
        <p:nvSpPr>
          <p:cNvPr id="11" name="Text Placeholder 6">
            <a:extLst>
              <a:ext uri="{FF2B5EF4-FFF2-40B4-BE49-F238E27FC236}">
                <a16:creationId xmlns:a16="http://schemas.microsoft.com/office/drawing/2014/main" id="{5B5E5D49-A162-C278-CB3E-EE417065A1FA}"/>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3979414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DBAE32-55C9-9032-A37A-A6B23843645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04115" y="3865657"/>
            <a:ext cx="7306654" cy="2847611"/>
          </a:xfrm>
          <a:prstGeom prst="rect">
            <a:avLst/>
          </a:prstGeom>
          <a:noFill/>
          <a:ln>
            <a:noFill/>
          </a:ln>
        </p:spPr>
      </p:pic>
      <p:sp>
        <p:nvSpPr>
          <p:cNvPr id="2" name="Title 1">
            <a:extLst>
              <a:ext uri="{FF2B5EF4-FFF2-40B4-BE49-F238E27FC236}">
                <a16:creationId xmlns:a16="http://schemas.microsoft.com/office/drawing/2014/main" id="{80EADE59-A776-66FE-38F4-C994009503E2}"/>
              </a:ext>
            </a:extLst>
          </p:cNvPr>
          <p:cNvSpPr>
            <a:spLocks noGrp="1"/>
          </p:cNvSpPr>
          <p:nvPr>
            <p:ph type="title"/>
          </p:nvPr>
        </p:nvSpPr>
        <p:spPr/>
        <p:txBody>
          <a:bodyPr/>
          <a:lstStyle/>
          <a:p>
            <a:r>
              <a:rPr lang="en-US" dirty="0"/>
              <a:t>Auto-Mesh Assessment</a:t>
            </a:r>
          </a:p>
        </p:txBody>
      </p:sp>
      <p:sp>
        <p:nvSpPr>
          <p:cNvPr id="4" name="Slide Number Placeholder 3">
            <a:extLst>
              <a:ext uri="{FF2B5EF4-FFF2-40B4-BE49-F238E27FC236}">
                <a16:creationId xmlns:a16="http://schemas.microsoft.com/office/drawing/2014/main" id="{3E704ED2-63F9-D432-B0EA-D15183A0441F}"/>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24</a:t>
            </a:fld>
            <a:endParaRPr lang="en-US"/>
          </a:p>
        </p:txBody>
      </p:sp>
      <p:pic>
        <p:nvPicPr>
          <p:cNvPr id="6" name="Picture 5">
            <a:extLst>
              <a:ext uri="{FF2B5EF4-FFF2-40B4-BE49-F238E27FC236}">
                <a16:creationId xmlns:a16="http://schemas.microsoft.com/office/drawing/2014/main" id="{B7201039-39F9-977D-7F0D-D9CCE288F07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68213" y="993818"/>
            <a:ext cx="11472260" cy="2871839"/>
          </a:xfrm>
          <a:prstGeom prst="rect">
            <a:avLst/>
          </a:prstGeom>
          <a:noFill/>
          <a:ln>
            <a:noFill/>
          </a:ln>
        </p:spPr>
      </p:pic>
      <p:sp>
        <p:nvSpPr>
          <p:cNvPr id="7" name="TextBox 6">
            <a:extLst>
              <a:ext uri="{FF2B5EF4-FFF2-40B4-BE49-F238E27FC236}">
                <a16:creationId xmlns:a16="http://schemas.microsoft.com/office/drawing/2014/main" id="{41FBC8F3-0067-44CC-91BD-663B84A01C5D}"/>
              </a:ext>
            </a:extLst>
          </p:cNvPr>
          <p:cNvSpPr txBox="1"/>
          <p:nvPr/>
        </p:nvSpPr>
        <p:spPr>
          <a:xfrm>
            <a:off x="290288" y="4873963"/>
            <a:ext cx="4335902" cy="830997"/>
          </a:xfrm>
          <a:prstGeom prst="rect">
            <a:avLst/>
          </a:prstGeom>
          <a:noFill/>
          <a:ln w="25400">
            <a:noFill/>
          </a:ln>
        </p:spPr>
        <p:txBody>
          <a:bodyPr wrap="square" rtlCol="0">
            <a:spAutoFit/>
          </a:bodyPr>
          <a:lstStyle/>
          <a:p>
            <a:pPr algn="ctr"/>
            <a:r>
              <a:rPr lang="en-US" sz="2400" b="1" dirty="0"/>
              <a:t>Auto-mesh results are comparable to baseline</a:t>
            </a:r>
          </a:p>
        </p:txBody>
      </p:sp>
      <p:sp>
        <p:nvSpPr>
          <p:cNvPr id="10" name="Text Placeholder 6">
            <a:extLst>
              <a:ext uri="{FF2B5EF4-FFF2-40B4-BE49-F238E27FC236}">
                <a16:creationId xmlns:a16="http://schemas.microsoft.com/office/drawing/2014/main" id="{22A6F2D9-FD32-5DD0-D86D-C1A3CBE9D462}"/>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1828729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9DDCD-08CB-5E54-ED0E-A2DD75A113A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0C6277-FE38-3DAB-22C3-418695F544A1}"/>
              </a:ext>
            </a:extLst>
          </p:cNvPr>
          <p:cNvSpPr>
            <a:spLocks noGrp="1"/>
          </p:cNvSpPr>
          <p:nvPr>
            <p:ph type="title"/>
          </p:nvPr>
        </p:nvSpPr>
        <p:spPr/>
        <p:txBody>
          <a:bodyPr/>
          <a:lstStyle/>
          <a:p>
            <a:r>
              <a:rPr lang="en-US" dirty="0"/>
              <a:t>Isolated Fuselage</a:t>
            </a:r>
          </a:p>
        </p:txBody>
      </p:sp>
      <p:sp>
        <p:nvSpPr>
          <p:cNvPr id="6" name="Text Placeholder 5">
            <a:extLst>
              <a:ext uri="{FF2B5EF4-FFF2-40B4-BE49-F238E27FC236}">
                <a16:creationId xmlns:a16="http://schemas.microsoft.com/office/drawing/2014/main" id="{7DF0742F-8834-AE10-360F-5F5A03A26340}"/>
              </a:ext>
            </a:extLst>
          </p:cNvPr>
          <p:cNvSpPr>
            <a:spLocks noGrp="1"/>
          </p:cNvSpPr>
          <p:nvPr>
            <p:ph type="body" idx="1"/>
          </p:nvPr>
        </p:nvSpPr>
        <p:spPr/>
        <p:txBody>
          <a:bodyPr/>
          <a:lstStyle/>
          <a:p>
            <a:r>
              <a:rPr lang="en-US" dirty="0"/>
              <a:t>Results</a:t>
            </a:r>
          </a:p>
        </p:txBody>
      </p:sp>
      <p:sp>
        <p:nvSpPr>
          <p:cNvPr id="4" name="Slide Number Placeholder 3">
            <a:extLst>
              <a:ext uri="{FF2B5EF4-FFF2-40B4-BE49-F238E27FC236}">
                <a16:creationId xmlns:a16="http://schemas.microsoft.com/office/drawing/2014/main" id="{92452E5F-3FAD-5799-DCB7-BD6E5FCA11B0}"/>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25</a:t>
            </a:fld>
            <a:endParaRPr lang="en-US"/>
          </a:p>
        </p:txBody>
      </p:sp>
      <p:sp>
        <p:nvSpPr>
          <p:cNvPr id="7" name="Text Placeholder 6">
            <a:extLst>
              <a:ext uri="{FF2B5EF4-FFF2-40B4-BE49-F238E27FC236}">
                <a16:creationId xmlns:a16="http://schemas.microsoft.com/office/drawing/2014/main" id="{FABBA5D9-7BE6-9A3A-FC65-6D4266811BEB}"/>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2862649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4A61D5-AD4C-4DE7-CB5A-A73542EBD540}"/>
              </a:ext>
            </a:extLst>
          </p:cNvPr>
          <p:cNvSpPr>
            <a:spLocks noGrp="1"/>
          </p:cNvSpPr>
          <p:nvPr>
            <p:ph type="title"/>
          </p:nvPr>
        </p:nvSpPr>
        <p:spPr/>
        <p:txBody>
          <a:bodyPr/>
          <a:lstStyle/>
          <a:p>
            <a:r>
              <a:rPr lang="en-US" dirty="0"/>
              <a:t>Integrated Forces and Moments</a:t>
            </a:r>
          </a:p>
        </p:txBody>
      </p:sp>
      <p:sp>
        <p:nvSpPr>
          <p:cNvPr id="4" name="Slide Number Placeholder 3">
            <a:extLst>
              <a:ext uri="{FF2B5EF4-FFF2-40B4-BE49-F238E27FC236}">
                <a16:creationId xmlns:a16="http://schemas.microsoft.com/office/drawing/2014/main" id="{20CCAD8D-855E-739C-A84B-72F2FED8EDDF}"/>
              </a:ext>
            </a:extLst>
          </p:cNvPr>
          <p:cNvSpPr>
            <a:spLocks noGrp="1"/>
          </p:cNvSpPr>
          <p:nvPr>
            <p:ph type="sldNum" sz="quarter" idx="11"/>
          </p:nvPr>
        </p:nvSpPr>
        <p:spPr/>
        <p:txBody>
          <a:bodyPr/>
          <a:lstStyle/>
          <a:p>
            <a:fld id="{0AB53790-719C-4748-B51D-E976E207180C}" type="slidenum">
              <a:rPr lang="en-US" smtClean="0"/>
              <a:t>26</a:t>
            </a:fld>
            <a:endParaRPr lang="en-US"/>
          </a:p>
        </p:txBody>
      </p:sp>
      <p:grpSp>
        <p:nvGrpSpPr>
          <p:cNvPr id="2" name="Group 1">
            <a:extLst>
              <a:ext uri="{FF2B5EF4-FFF2-40B4-BE49-F238E27FC236}">
                <a16:creationId xmlns:a16="http://schemas.microsoft.com/office/drawing/2014/main" id="{8DD361E2-769B-1F6D-0A09-E798B11CAD76}"/>
              </a:ext>
            </a:extLst>
          </p:cNvPr>
          <p:cNvGrpSpPr/>
          <p:nvPr/>
        </p:nvGrpSpPr>
        <p:grpSpPr>
          <a:xfrm>
            <a:off x="1090531" y="2145171"/>
            <a:ext cx="10010938" cy="2567657"/>
            <a:chOff x="869115" y="637470"/>
            <a:chExt cx="10010938" cy="2567657"/>
          </a:xfrm>
        </p:grpSpPr>
        <p:pic>
          <p:nvPicPr>
            <p:cNvPr id="3" name="Picture 2">
              <a:extLst>
                <a:ext uri="{FF2B5EF4-FFF2-40B4-BE49-F238E27FC236}">
                  <a16:creationId xmlns:a16="http://schemas.microsoft.com/office/drawing/2014/main" id="{1CB3F317-447F-31D1-82D5-A0D89D2A19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115" y="637470"/>
              <a:ext cx="4480948" cy="2560542"/>
            </a:xfrm>
            <a:prstGeom prst="rect">
              <a:avLst/>
            </a:prstGeom>
          </p:spPr>
        </p:pic>
        <p:pic>
          <p:nvPicPr>
            <p:cNvPr id="7" name="Picture 6">
              <a:extLst>
                <a:ext uri="{FF2B5EF4-FFF2-40B4-BE49-F238E27FC236}">
                  <a16:creationId xmlns:a16="http://schemas.microsoft.com/office/drawing/2014/main" id="{13EB49D9-2402-7EF2-8542-8CA378CB0A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7771" y="644585"/>
              <a:ext cx="4480948" cy="2560542"/>
            </a:xfrm>
            <a:prstGeom prst="rect">
              <a:avLst/>
            </a:prstGeom>
          </p:spPr>
        </p:pic>
        <p:pic>
          <p:nvPicPr>
            <p:cNvPr id="8" name="Picture 7">
              <a:extLst>
                <a:ext uri="{FF2B5EF4-FFF2-40B4-BE49-F238E27FC236}">
                  <a16:creationId xmlns:a16="http://schemas.microsoft.com/office/drawing/2014/main" id="{15849092-E057-B322-AE1E-5EB4A96ACE5C}"/>
                </a:ext>
              </a:extLst>
            </p:cNvPr>
            <p:cNvPicPr>
              <a:picLocks noChangeAspect="1"/>
            </p:cNvPicPr>
            <p:nvPr/>
          </p:nvPicPr>
          <p:blipFill>
            <a:blip r:embed="rId5" cstate="print">
              <a:extLst>
                <a:ext uri="{28A0092B-C50C-407E-A947-70E740481C1C}">
                  <a14:useLocalDpi xmlns:a14="http://schemas.microsoft.com/office/drawing/2010/main" val="0"/>
                </a:ext>
              </a:extLst>
            </a:blip>
            <a:srcRect r="25245"/>
            <a:stretch>
              <a:fillRect/>
            </a:stretch>
          </p:blipFill>
          <p:spPr>
            <a:xfrm>
              <a:off x="7530320" y="637470"/>
              <a:ext cx="3349733" cy="2560542"/>
            </a:xfrm>
            <a:prstGeom prst="rect">
              <a:avLst/>
            </a:prstGeom>
          </p:spPr>
        </p:pic>
        <p:pic>
          <p:nvPicPr>
            <p:cNvPr id="9" name="Picture 8">
              <a:extLst>
                <a:ext uri="{FF2B5EF4-FFF2-40B4-BE49-F238E27FC236}">
                  <a16:creationId xmlns:a16="http://schemas.microsoft.com/office/drawing/2014/main" id="{7BFA411B-C1BF-5A88-34C2-2C619945581D}"/>
                </a:ext>
              </a:extLst>
            </p:cNvPr>
            <p:cNvPicPr>
              <a:picLocks noChangeAspect="1"/>
            </p:cNvPicPr>
            <p:nvPr/>
          </p:nvPicPr>
          <p:blipFill>
            <a:blip r:embed="rId6" cstate="print">
              <a:extLst>
                <a:ext uri="{28A0092B-C50C-407E-A947-70E740481C1C}">
                  <a14:useLocalDpi xmlns:a14="http://schemas.microsoft.com/office/drawing/2010/main" val="0"/>
                </a:ext>
              </a:extLst>
            </a:blip>
            <a:srcRect l="74805" t="32769" r="1601" b="32264"/>
            <a:stretch>
              <a:fillRect/>
            </a:stretch>
          </p:blipFill>
          <p:spPr>
            <a:xfrm>
              <a:off x="8248650" y="815461"/>
              <a:ext cx="876299" cy="742092"/>
            </a:xfrm>
            <a:prstGeom prst="rect">
              <a:avLst/>
            </a:prstGeom>
          </p:spPr>
        </p:pic>
      </p:grpSp>
      <p:sp>
        <p:nvSpPr>
          <p:cNvPr id="12" name="Text Placeholder 6">
            <a:extLst>
              <a:ext uri="{FF2B5EF4-FFF2-40B4-BE49-F238E27FC236}">
                <a16:creationId xmlns:a16="http://schemas.microsoft.com/office/drawing/2014/main" id="{8358D907-2DE3-FAA5-2538-DE48ABB3F08A}"/>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635455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254C6-2328-6070-8281-AE898AE05E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FA4424D-9E5A-C658-85B1-5092E7086354}"/>
              </a:ext>
            </a:extLst>
          </p:cNvPr>
          <p:cNvSpPr>
            <a:spLocks noGrp="1"/>
          </p:cNvSpPr>
          <p:nvPr>
            <p:ph type="title"/>
          </p:nvPr>
        </p:nvSpPr>
        <p:spPr/>
        <p:txBody>
          <a:bodyPr/>
          <a:lstStyle/>
          <a:p>
            <a:r>
              <a:rPr lang="en-US" dirty="0"/>
              <a:t>Shrink Wrap Geometry Delta</a:t>
            </a:r>
          </a:p>
        </p:txBody>
      </p:sp>
      <p:sp>
        <p:nvSpPr>
          <p:cNvPr id="4" name="Slide Number Placeholder 3">
            <a:extLst>
              <a:ext uri="{FF2B5EF4-FFF2-40B4-BE49-F238E27FC236}">
                <a16:creationId xmlns:a16="http://schemas.microsoft.com/office/drawing/2014/main" id="{05166726-440D-A73E-1915-C7526C36AC95}"/>
              </a:ext>
            </a:extLst>
          </p:cNvPr>
          <p:cNvSpPr>
            <a:spLocks noGrp="1"/>
          </p:cNvSpPr>
          <p:nvPr>
            <p:ph type="sldNum" sz="quarter" idx="11"/>
          </p:nvPr>
        </p:nvSpPr>
        <p:spPr/>
        <p:txBody>
          <a:bodyPr/>
          <a:lstStyle/>
          <a:p>
            <a:fld id="{0AB53790-719C-4748-B51D-E976E207180C}" type="slidenum">
              <a:rPr lang="en-US" smtClean="0"/>
              <a:t>27</a:t>
            </a:fld>
            <a:endParaRPr lang="en-US"/>
          </a:p>
        </p:txBody>
      </p:sp>
      <p:grpSp>
        <p:nvGrpSpPr>
          <p:cNvPr id="2" name="Group 1">
            <a:extLst>
              <a:ext uri="{FF2B5EF4-FFF2-40B4-BE49-F238E27FC236}">
                <a16:creationId xmlns:a16="http://schemas.microsoft.com/office/drawing/2014/main" id="{E207BEC7-6D02-B15B-5C07-39039E82E7AC}"/>
              </a:ext>
            </a:extLst>
          </p:cNvPr>
          <p:cNvGrpSpPr/>
          <p:nvPr/>
        </p:nvGrpSpPr>
        <p:grpSpPr>
          <a:xfrm>
            <a:off x="1090531" y="2145171"/>
            <a:ext cx="10010938" cy="2567657"/>
            <a:chOff x="869115" y="637470"/>
            <a:chExt cx="10010938" cy="2567657"/>
          </a:xfrm>
        </p:grpSpPr>
        <p:pic>
          <p:nvPicPr>
            <p:cNvPr id="3" name="Picture 2">
              <a:extLst>
                <a:ext uri="{FF2B5EF4-FFF2-40B4-BE49-F238E27FC236}">
                  <a16:creationId xmlns:a16="http://schemas.microsoft.com/office/drawing/2014/main" id="{B24174FF-019A-20E4-719D-47DCCBF5D3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115" y="637470"/>
              <a:ext cx="4480948" cy="2560542"/>
            </a:xfrm>
            <a:prstGeom prst="rect">
              <a:avLst/>
            </a:prstGeom>
          </p:spPr>
        </p:pic>
        <p:pic>
          <p:nvPicPr>
            <p:cNvPr id="7" name="Picture 6">
              <a:extLst>
                <a:ext uri="{FF2B5EF4-FFF2-40B4-BE49-F238E27FC236}">
                  <a16:creationId xmlns:a16="http://schemas.microsoft.com/office/drawing/2014/main" id="{FF1677B0-5DF4-63E0-7638-7E35FA6127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7771" y="644585"/>
              <a:ext cx="4480948" cy="2560542"/>
            </a:xfrm>
            <a:prstGeom prst="rect">
              <a:avLst/>
            </a:prstGeom>
          </p:spPr>
        </p:pic>
        <p:pic>
          <p:nvPicPr>
            <p:cNvPr id="8" name="Picture 7">
              <a:extLst>
                <a:ext uri="{FF2B5EF4-FFF2-40B4-BE49-F238E27FC236}">
                  <a16:creationId xmlns:a16="http://schemas.microsoft.com/office/drawing/2014/main" id="{B19372F5-F1C1-69B5-EBE7-4D44B16AB0ED}"/>
                </a:ext>
              </a:extLst>
            </p:cNvPr>
            <p:cNvPicPr>
              <a:picLocks noChangeAspect="1"/>
            </p:cNvPicPr>
            <p:nvPr/>
          </p:nvPicPr>
          <p:blipFill>
            <a:blip r:embed="rId5" cstate="print">
              <a:extLst>
                <a:ext uri="{28A0092B-C50C-407E-A947-70E740481C1C}">
                  <a14:useLocalDpi xmlns:a14="http://schemas.microsoft.com/office/drawing/2010/main" val="0"/>
                </a:ext>
              </a:extLst>
            </a:blip>
            <a:srcRect r="25245"/>
            <a:stretch>
              <a:fillRect/>
            </a:stretch>
          </p:blipFill>
          <p:spPr>
            <a:xfrm>
              <a:off x="7530320" y="637470"/>
              <a:ext cx="3349733" cy="2560542"/>
            </a:xfrm>
            <a:prstGeom prst="rect">
              <a:avLst/>
            </a:prstGeom>
          </p:spPr>
        </p:pic>
        <p:pic>
          <p:nvPicPr>
            <p:cNvPr id="9" name="Picture 8">
              <a:extLst>
                <a:ext uri="{FF2B5EF4-FFF2-40B4-BE49-F238E27FC236}">
                  <a16:creationId xmlns:a16="http://schemas.microsoft.com/office/drawing/2014/main" id="{32EA6991-9410-A819-EE61-26A9D514BC6D}"/>
                </a:ext>
              </a:extLst>
            </p:cNvPr>
            <p:cNvPicPr>
              <a:picLocks noChangeAspect="1"/>
            </p:cNvPicPr>
            <p:nvPr/>
          </p:nvPicPr>
          <p:blipFill>
            <a:blip r:embed="rId6" cstate="print">
              <a:extLst>
                <a:ext uri="{28A0092B-C50C-407E-A947-70E740481C1C}">
                  <a14:useLocalDpi xmlns:a14="http://schemas.microsoft.com/office/drawing/2010/main" val="0"/>
                </a:ext>
              </a:extLst>
            </a:blip>
            <a:srcRect l="74805" t="32769" r="1601" b="32264"/>
            <a:stretch>
              <a:fillRect/>
            </a:stretch>
          </p:blipFill>
          <p:spPr>
            <a:xfrm>
              <a:off x="8248650" y="815461"/>
              <a:ext cx="876299" cy="742092"/>
            </a:xfrm>
            <a:prstGeom prst="rect">
              <a:avLst/>
            </a:prstGeom>
          </p:spPr>
        </p:pic>
      </p:grpSp>
      <p:cxnSp>
        <p:nvCxnSpPr>
          <p:cNvPr id="6" name="Straight Arrow Connector 5">
            <a:extLst>
              <a:ext uri="{FF2B5EF4-FFF2-40B4-BE49-F238E27FC236}">
                <a16:creationId xmlns:a16="http://schemas.microsoft.com/office/drawing/2014/main" id="{C06103F2-CEAC-2783-6D9C-732432E4DFFC}"/>
              </a:ext>
            </a:extLst>
          </p:cNvPr>
          <p:cNvCxnSpPr>
            <a:cxnSpLocks/>
          </p:cNvCxnSpPr>
          <p:nvPr/>
        </p:nvCxnSpPr>
        <p:spPr>
          <a:xfrm flipH="1">
            <a:off x="9166944" y="1979551"/>
            <a:ext cx="400495" cy="7261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BA1E2D1-A8BB-DA1C-84FD-4E1DB2C28715}"/>
              </a:ext>
            </a:extLst>
          </p:cNvPr>
          <p:cNvSpPr txBox="1"/>
          <p:nvPr/>
        </p:nvSpPr>
        <p:spPr>
          <a:xfrm>
            <a:off x="1263580" y="5185031"/>
            <a:ext cx="6870535" cy="830997"/>
          </a:xfrm>
          <a:prstGeom prst="rect">
            <a:avLst/>
          </a:prstGeom>
          <a:solidFill>
            <a:schemeClr val="bg1"/>
          </a:solidFill>
          <a:ln w="25400">
            <a:solidFill>
              <a:schemeClr val="tx1"/>
            </a:solidFill>
          </a:ln>
        </p:spPr>
        <p:txBody>
          <a:bodyPr wrap="square" rtlCol="0">
            <a:spAutoFit/>
          </a:bodyPr>
          <a:lstStyle/>
          <a:p>
            <a:pPr algn="ctr"/>
            <a:r>
              <a:rPr lang="en-US" sz="2400" b="1" dirty="0"/>
              <a:t>Geometric differences between the models are not a significant factor</a:t>
            </a:r>
          </a:p>
        </p:txBody>
      </p:sp>
      <p:pic>
        <p:nvPicPr>
          <p:cNvPr id="10" name="Picture 9">
            <a:extLst>
              <a:ext uri="{FF2B5EF4-FFF2-40B4-BE49-F238E27FC236}">
                <a16:creationId xmlns:a16="http://schemas.microsoft.com/office/drawing/2014/main" id="{7C17792C-FF6A-4B3E-84D6-F19F94D5AFD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90135" y="4729605"/>
            <a:ext cx="2552907" cy="1945833"/>
          </a:xfrm>
          <a:prstGeom prst="rect">
            <a:avLst/>
          </a:prstGeom>
          <a:ln w="25400">
            <a:solidFill>
              <a:schemeClr val="tx1"/>
            </a:solidFill>
          </a:ln>
        </p:spPr>
      </p:pic>
      <p:sp>
        <p:nvSpPr>
          <p:cNvPr id="15" name="Text Placeholder 6">
            <a:extLst>
              <a:ext uri="{FF2B5EF4-FFF2-40B4-BE49-F238E27FC236}">
                <a16:creationId xmlns:a16="http://schemas.microsoft.com/office/drawing/2014/main" id="{7A1D5C85-941C-5CE6-2800-A32766E5412C}"/>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1098685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C0B59-3B9D-7E90-A22B-D748A0B832F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C039321-54C8-F56F-AAE6-CCF53E403E6F}"/>
              </a:ext>
            </a:extLst>
          </p:cNvPr>
          <p:cNvSpPr>
            <a:spLocks noGrp="1"/>
          </p:cNvSpPr>
          <p:nvPr>
            <p:ph type="title"/>
          </p:nvPr>
        </p:nvSpPr>
        <p:spPr/>
        <p:txBody>
          <a:bodyPr/>
          <a:lstStyle/>
          <a:p>
            <a:r>
              <a:rPr lang="en-US" dirty="0"/>
              <a:t>Shrink Wrap Assessment</a:t>
            </a:r>
          </a:p>
        </p:txBody>
      </p:sp>
      <p:sp>
        <p:nvSpPr>
          <p:cNvPr id="4" name="Slide Number Placeholder 3">
            <a:extLst>
              <a:ext uri="{FF2B5EF4-FFF2-40B4-BE49-F238E27FC236}">
                <a16:creationId xmlns:a16="http://schemas.microsoft.com/office/drawing/2014/main" id="{6620EFFE-58FD-9172-C41B-EF53BF92E6EC}"/>
              </a:ext>
            </a:extLst>
          </p:cNvPr>
          <p:cNvSpPr>
            <a:spLocks noGrp="1"/>
          </p:cNvSpPr>
          <p:nvPr>
            <p:ph type="sldNum" sz="quarter" idx="11"/>
          </p:nvPr>
        </p:nvSpPr>
        <p:spPr/>
        <p:txBody>
          <a:bodyPr/>
          <a:lstStyle/>
          <a:p>
            <a:fld id="{0AB53790-719C-4748-B51D-E976E207180C}" type="slidenum">
              <a:rPr lang="en-US" smtClean="0"/>
              <a:t>28</a:t>
            </a:fld>
            <a:endParaRPr lang="en-US"/>
          </a:p>
        </p:txBody>
      </p:sp>
      <p:grpSp>
        <p:nvGrpSpPr>
          <p:cNvPr id="2" name="Group 1">
            <a:extLst>
              <a:ext uri="{FF2B5EF4-FFF2-40B4-BE49-F238E27FC236}">
                <a16:creationId xmlns:a16="http://schemas.microsoft.com/office/drawing/2014/main" id="{2FE2DDBC-2351-EFD0-B31A-2DD8D6CBF68D}"/>
              </a:ext>
            </a:extLst>
          </p:cNvPr>
          <p:cNvGrpSpPr/>
          <p:nvPr/>
        </p:nvGrpSpPr>
        <p:grpSpPr>
          <a:xfrm>
            <a:off x="1090531" y="2145171"/>
            <a:ext cx="10010938" cy="2567657"/>
            <a:chOff x="869115" y="637470"/>
            <a:chExt cx="10010938" cy="2567657"/>
          </a:xfrm>
        </p:grpSpPr>
        <p:pic>
          <p:nvPicPr>
            <p:cNvPr id="3" name="Picture 2">
              <a:extLst>
                <a:ext uri="{FF2B5EF4-FFF2-40B4-BE49-F238E27FC236}">
                  <a16:creationId xmlns:a16="http://schemas.microsoft.com/office/drawing/2014/main" id="{748E7A1B-2DE0-E88E-0179-E381778D0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115" y="637470"/>
              <a:ext cx="4480948" cy="2560542"/>
            </a:xfrm>
            <a:prstGeom prst="rect">
              <a:avLst/>
            </a:prstGeom>
          </p:spPr>
        </p:pic>
        <p:pic>
          <p:nvPicPr>
            <p:cNvPr id="7" name="Picture 6">
              <a:extLst>
                <a:ext uri="{FF2B5EF4-FFF2-40B4-BE49-F238E27FC236}">
                  <a16:creationId xmlns:a16="http://schemas.microsoft.com/office/drawing/2014/main" id="{97B64213-BE75-4053-7E70-14A145AF1F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7771" y="644585"/>
              <a:ext cx="4480948" cy="2560542"/>
            </a:xfrm>
            <a:prstGeom prst="rect">
              <a:avLst/>
            </a:prstGeom>
          </p:spPr>
        </p:pic>
        <p:pic>
          <p:nvPicPr>
            <p:cNvPr id="8" name="Picture 7">
              <a:extLst>
                <a:ext uri="{FF2B5EF4-FFF2-40B4-BE49-F238E27FC236}">
                  <a16:creationId xmlns:a16="http://schemas.microsoft.com/office/drawing/2014/main" id="{C928EF3D-4444-C360-8F02-BCFD3CC70217}"/>
                </a:ext>
              </a:extLst>
            </p:cNvPr>
            <p:cNvPicPr>
              <a:picLocks noChangeAspect="1"/>
            </p:cNvPicPr>
            <p:nvPr/>
          </p:nvPicPr>
          <p:blipFill>
            <a:blip r:embed="rId5" cstate="print">
              <a:extLst>
                <a:ext uri="{28A0092B-C50C-407E-A947-70E740481C1C}">
                  <a14:useLocalDpi xmlns:a14="http://schemas.microsoft.com/office/drawing/2010/main" val="0"/>
                </a:ext>
              </a:extLst>
            </a:blip>
            <a:srcRect r="25245"/>
            <a:stretch>
              <a:fillRect/>
            </a:stretch>
          </p:blipFill>
          <p:spPr>
            <a:xfrm>
              <a:off x="7530320" y="637470"/>
              <a:ext cx="3349733" cy="2560542"/>
            </a:xfrm>
            <a:prstGeom prst="rect">
              <a:avLst/>
            </a:prstGeom>
          </p:spPr>
        </p:pic>
        <p:pic>
          <p:nvPicPr>
            <p:cNvPr id="9" name="Picture 8">
              <a:extLst>
                <a:ext uri="{FF2B5EF4-FFF2-40B4-BE49-F238E27FC236}">
                  <a16:creationId xmlns:a16="http://schemas.microsoft.com/office/drawing/2014/main" id="{1BFC8FB6-FABE-538C-D218-7E867E053DB8}"/>
                </a:ext>
              </a:extLst>
            </p:cNvPr>
            <p:cNvPicPr>
              <a:picLocks noChangeAspect="1"/>
            </p:cNvPicPr>
            <p:nvPr/>
          </p:nvPicPr>
          <p:blipFill>
            <a:blip r:embed="rId6" cstate="print">
              <a:extLst>
                <a:ext uri="{28A0092B-C50C-407E-A947-70E740481C1C}">
                  <a14:useLocalDpi xmlns:a14="http://schemas.microsoft.com/office/drawing/2010/main" val="0"/>
                </a:ext>
              </a:extLst>
            </a:blip>
            <a:srcRect l="74805" t="32769" r="1601" b="32264"/>
            <a:stretch>
              <a:fillRect/>
            </a:stretch>
          </p:blipFill>
          <p:spPr>
            <a:xfrm>
              <a:off x="8248650" y="815461"/>
              <a:ext cx="876299" cy="742092"/>
            </a:xfrm>
            <a:prstGeom prst="rect">
              <a:avLst/>
            </a:prstGeom>
          </p:spPr>
        </p:pic>
      </p:grpSp>
      <p:cxnSp>
        <p:nvCxnSpPr>
          <p:cNvPr id="6" name="Straight Arrow Connector 5">
            <a:extLst>
              <a:ext uri="{FF2B5EF4-FFF2-40B4-BE49-F238E27FC236}">
                <a16:creationId xmlns:a16="http://schemas.microsoft.com/office/drawing/2014/main" id="{BF5E771D-94F8-DA4F-EB1A-1BDC4D2EB286}"/>
              </a:ext>
            </a:extLst>
          </p:cNvPr>
          <p:cNvCxnSpPr>
            <a:cxnSpLocks/>
          </p:cNvCxnSpPr>
          <p:nvPr/>
        </p:nvCxnSpPr>
        <p:spPr>
          <a:xfrm flipH="1">
            <a:off x="9166944" y="1979551"/>
            <a:ext cx="400495" cy="7261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8F1C283-7C63-C879-5B85-89706045610E}"/>
              </a:ext>
            </a:extLst>
          </p:cNvPr>
          <p:cNvSpPr txBox="1"/>
          <p:nvPr/>
        </p:nvSpPr>
        <p:spPr>
          <a:xfrm>
            <a:off x="2660732" y="5090679"/>
            <a:ext cx="6870535" cy="1200329"/>
          </a:xfrm>
          <a:prstGeom prst="rect">
            <a:avLst/>
          </a:prstGeom>
          <a:solidFill>
            <a:schemeClr val="bg1"/>
          </a:solidFill>
          <a:ln w="25400">
            <a:solidFill>
              <a:schemeClr val="tx1"/>
            </a:solidFill>
          </a:ln>
        </p:spPr>
        <p:txBody>
          <a:bodyPr wrap="square" rtlCol="0">
            <a:spAutoFit/>
          </a:bodyPr>
          <a:lstStyle/>
          <a:p>
            <a:pPr algn="ctr"/>
            <a:r>
              <a:rPr lang="en-US" sz="2400" b="1" dirty="0"/>
              <a:t>Shrink-wrapped immersed boundary and shrink-wrapped full volume meshed results are both comparable to baseline</a:t>
            </a:r>
          </a:p>
        </p:txBody>
      </p:sp>
      <p:sp>
        <p:nvSpPr>
          <p:cNvPr id="14" name="Text Placeholder 6">
            <a:extLst>
              <a:ext uri="{FF2B5EF4-FFF2-40B4-BE49-F238E27FC236}">
                <a16:creationId xmlns:a16="http://schemas.microsoft.com/office/drawing/2014/main" id="{CBCD7D38-EE54-CFCC-215D-989D30CFBA8D}"/>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1563363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03795-748C-C4B7-CDB4-ABC8AFCA4767}"/>
              </a:ext>
            </a:extLst>
          </p:cNvPr>
          <p:cNvSpPr>
            <a:spLocks noGrp="1"/>
          </p:cNvSpPr>
          <p:nvPr>
            <p:ph type="title"/>
          </p:nvPr>
        </p:nvSpPr>
        <p:spPr/>
        <p:txBody>
          <a:bodyPr/>
          <a:lstStyle/>
          <a:p>
            <a:r>
              <a:rPr lang="en-US" dirty="0"/>
              <a:t>Helios Computational Metrics</a:t>
            </a:r>
          </a:p>
        </p:txBody>
      </p:sp>
      <p:sp>
        <p:nvSpPr>
          <p:cNvPr id="3" name="Slide Number Placeholder 2">
            <a:extLst>
              <a:ext uri="{FF2B5EF4-FFF2-40B4-BE49-F238E27FC236}">
                <a16:creationId xmlns:a16="http://schemas.microsoft.com/office/drawing/2014/main" id="{B0A9711B-46B2-4AAE-E037-3D6178A32CAD}"/>
              </a:ext>
            </a:extLst>
          </p:cNvPr>
          <p:cNvSpPr>
            <a:spLocks noGrp="1"/>
          </p:cNvSpPr>
          <p:nvPr>
            <p:ph type="sldNum" sz="quarter" idx="11"/>
          </p:nvPr>
        </p:nvSpPr>
        <p:spPr/>
        <p:txBody>
          <a:bodyPr/>
          <a:lstStyle/>
          <a:p>
            <a:fld id="{0AB53790-719C-4748-B51D-E976E207180C}" type="slidenum">
              <a:rPr lang="en-US" smtClean="0"/>
              <a:t>29</a:t>
            </a:fld>
            <a:endParaRPr lang="en-US"/>
          </a:p>
        </p:txBody>
      </p:sp>
      <p:pic>
        <p:nvPicPr>
          <p:cNvPr id="6" name="Picture 5">
            <a:extLst>
              <a:ext uri="{FF2B5EF4-FFF2-40B4-BE49-F238E27FC236}">
                <a16:creationId xmlns:a16="http://schemas.microsoft.com/office/drawing/2014/main" id="{A3D1AEB1-1961-DB9E-82A5-09459E9F8944}"/>
              </a:ext>
            </a:extLst>
          </p:cNvPr>
          <p:cNvPicPr>
            <a:picLocks noChangeAspect="1"/>
          </p:cNvPicPr>
          <p:nvPr/>
        </p:nvPicPr>
        <p:blipFill>
          <a:blip r:embed="rId3"/>
          <a:stretch>
            <a:fillRect/>
          </a:stretch>
        </p:blipFill>
        <p:spPr>
          <a:xfrm>
            <a:off x="510649" y="3037037"/>
            <a:ext cx="11170702" cy="1746452"/>
          </a:xfrm>
          <a:prstGeom prst="rect">
            <a:avLst/>
          </a:prstGeom>
        </p:spPr>
      </p:pic>
      <p:sp>
        <p:nvSpPr>
          <p:cNvPr id="7" name="TextBox 6">
            <a:extLst>
              <a:ext uri="{FF2B5EF4-FFF2-40B4-BE49-F238E27FC236}">
                <a16:creationId xmlns:a16="http://schemas.microsoft.com/office/drawing/2014/main" id="{B39C9BF3-382E-10C2-4E02-4FEAD8AEC3AF}"/>
              </a:ext>
            </a:extLst>
          </p:cNvPr>
          <p:cNvSpPr txBox="1"/>
          <p:nvPr/>
        </p:nvSpPr>
        <p:spPr>
          <a:xfrm>
            <a:off x="907310" y="1583528"/>
            <a:ext cx="10377377" cy="1200329"/>
          </a:xfrm>
          <a:prstGeom prst="rect">
            <a:avLst/>
          </a:prstGeom>
          <a:solidFill>
            <a:schemeClr val="bg1"/>
          </a:solidFill>
          <a:ln w="25400">
            <a:solidFill>
              <a:schemeClr val="tx1"/>
            </a:solidFill>
          </a:ln>
        </p:spPr>
        <p:txBody>
          <a:bodyPr wrap="square" rtlCol="0">
            <a:spAutoFit/>
          </a:bodyPr>
          <a:lstStyle/>
          <a:p>
            <a:pPr algn="ctr"/>
            <a:r>
              <a:rPr lang="en-US" sz="2400" b="1" dirty="0"/>
              <a:t>2 </a:t>
            </a:r>
            <a:r>
              <a:rPr lang="en-US" sz="2400" b="1" dirty="0" err="1"/>
              <a:t>hrs</a:t>
            </a:r>
            <a:r>
              <a:rPr lang="en-US" sz="2400" b="1" dirty="0"/>
              <a:t>/rev is a reasonable expectation for a well refined setup run on GPUs</a:t>
            </a:r>
          </a:p>
          <a:p>
            <a:pPr algn="ctr"/>
            <a:endParaRPr lang="en-US" sz="2400" b="1" dirty="0"/>
          </a:p>
          <a:p>
            <a:pPr algn="ctr"/>
            <a:r>
              <a:rPr lang="en-US" sz="2400" b="1" dirty="0"/>
              <a:t>10 </a:t>
            </a:r>
            <a:r>
              <a:rPr lang="en-US" sz="2400" b="1" dirty="0" err="1"/>
              <a:t>hrs</a:t>
            </a:r>
            <a:r>
              <a:rPr lang="en-US" sz="2400" b="1" dirty="0"/>
              <a:t>/rev is typical for the matching CPU driven simulations</a:t>
            </a:r>
          </a:p>
        </p:txBody>
      </p:sp>
      <p:sp>
        <p:nvSpPr>
          <p:cNvPr id="4" name="TextBox 3">
            <a:extLst>
              <a:ext uri="{FF2B5EF4-FFF2-40B4-BE49-F238E27FC236}">
                <a16:creationId xmlns:a16="http://schemas.microsoft.com/office/drawing/2014/main" id="{D33C4766-07B9-7C3F-C4FD-78C69E7CD4E1}"/>
              </a:ext>
            </a:extLst>
          </p:cNvPr>
          <p:cNvSpPr txBox="1"/>
          <p:nvPr/>
        </p:nvSpPr>
        <p:spPr>
          <a:xfrm>
            <a:off x="907311" y="5036669"/>
            <a:ext cx="10377377" cy="461665"/>
          </a:xfrm>
          <a:prstGeom prst="rect">
            <a:avLst/>
          </a:prstGeom>
          <a:solidFill>
            <a:schemeClr val="bg1"/>
          </a:solidFill>
          <a:ln w="25400">
            <a:solidFill>
              <a:schemeClr val="tx1"/>
            </a:solidFill>
          </a:ln>
        </p:spPr>
        <p:txBody>
          <a:bodyPr wrap="square" rtlCol="0">
            <a:spAutoFit/>
          </a:bodyPr>
          <a:lstStyle/>
          <a:p>
            <a:pPr algn="ctr"/>
            <a:r>
              <a:rPr lang="en-US" sz="2400" b="1" dirty="0"/>
              <a:t>When run on 8 H100s (2 nodes) this simulation takes about 2.2 </a:t>
            </a:r>
            <a:r>
              <a:rPr lang="en-US" sz="2400" b="1" dirty="0" err="1"/>
              <a:t>hrs</a:t>
            </a:r>
            <a:r>
              <a:rPr lang="en-US" sz="2400" b="1" dirty="0"/>
              <a:t>/rev</a:t>
            </a:r>
          </a:p>
        </p:txBody>
      </p:sp>
      <p:cxnSp>
        <p:nvCxnSpPr>
          <p:cNvPr id="9" name="Connector: Elbow 8">
            <a:extLst>
              <a:ext uri="{FF2B5EF4-FFF2-40B4-BE49-F238E27FC236}">
                <a16:creationId xmlns:a16="http://schemas.microsoft.com/office/drawing/2014/main" id="{679BEE5B-8409-2F88-D9D8-4D9F25B32539}"/>
              </a:ext>
            </a:extLst>
          </p:cNvPr>
          <p:cNvCxnSpPr>
            <a:cxnSpLocks/>
            <a:stCxn id="4" idx="3"/>
          </p:cNvCxnSpPr>
          <p:nvPr/>
        </p:nvCxnSpPr>
        <p:spPr>
          <a:xfrm flipH="1" flipV="1">
            <a:off x="10587789" y="3503356"/>
            <a:ext cx="696899" cy="1764146"/>
          </a:xfrm>
          <a:prstGeom prst="bentConnector4">
            <a:avLst>
              <a:gd name="adj1" fmla="val -32802"/>
              <a:gd name="adj2" fmla="val 99645"/>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 Placeholder 6">
            <a:extLst>
              <a:ext uri="{FF2B5EF4-FFF2-40B4-BE49-F238E27FC236}">
                <a16:creationId xmlns:a16="http://schemas.microsoft.com/office/drawing/2014/main" id="{5AA3C0DD-E4DF-4A83-3F26-BB643D67A20E}"/>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368576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F36FD-2090-644B-2BFA-CA60FD3F4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4AA58-86D1-9515-9958-B1E92915D9FA}"/>
              </a:ext>
            </a:extLst>
          </p:cNvPr>
          <p:cNvSpPr>
            <a:spLocks noGrp="1"/>
          </p:cNvSpPr>
          <p:nvPr>
            <p:ph type="title"/>
          </p:nvPr>
        </p:nvSpPr>
        <p:spPr/>
        <p:txBody>
          <a:bodyPr/>
          <a:lstStyle/>
          <a:p>
            <a:r>
              <a:rPr lang="en-US" dirty="0"/>
              <a:t>Total Workflow Time Savings</a:t>
            </a:r>
          </a:p>
        </p:txBody>
      </p:sp>
      <p:sp>
        <p:nvSpPr>
          <p:cNvPr id="4" name="Slide Number Placeholder 3">
            <a:extLst>
              <a:ext uri="{FF2B5EF4-FFF2-40B4-BE49-F238E27FC236}">
                <a16:creationId xmlns:a16="http://schemas.microsoft.com/office/drawing/2014/main" id="{2FF7E2E1-CE6E-FFB1-BC15-3F57A50CCFC0}"/>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30</a:t>
            </a:fld>
            <a:endParaRPr lang="en-US"/>
          </a:p>
        </p:txBody>
      </p:sp>
      <p:sp>
        <p:nvSpPr>
          <p:cNvPr id="5" name="Rectangle 4">
            <a:extLst>
              <a:ext uri="{FF2B5EF4-FFF2-40B4-BE49-F238E27FC236}">
                <a16:creationId xmlns:a16="http://schemas.microsoft.com/office/drawing/2014/main" id="{2C79F61F-F255-F29F-012E-B7A0CF2F0634}"/>
              </a:ext>
            </a:extLst>
          </p:cNvPr>
          <p:cNvSpPr/>
          <p:nvPr/>
        </p:nvSpPr>
        <p:spPr>
          <a:xfrm>
            <a:off x="290289" y="2063698"/>
            <a:ext cx="3466838" cy="276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9E0DAB6-E6E6-DBF5-0401-6C4251E940CE}"/>
              </a:ext>
            </a:extLst>
          </p:cNvPr>
          <p:cNvSpPr txBox="1"/>
          <p:nvPr/>
        </p:nvSpPr>
        <p:spPr>
          <a:xfrm>
            <a:off x="1001232" y="1243637"/>
            <a:ext cx="2205860" cy="369332"/>
          </a:xfrm>
          <a:prstGeom prst="rect">
            <a:avLst/>
          </a:prstGeom>
          <a:noFill/>
        </p:spPr>
        <p:txBody>
          <a:bodyPr wrap="none" rtlCol="0">
            <a:spAutoFit/>
          </a:bodyPr>
          <a:lstStyle/>
          <a:p>
            <a:r>
              <a:rPr lang="en-US" b="1" dirty="0">
                <a:solidFill>
                  <a:srgbClr val="0000FF"/>
                </a:solidFill>
              </a:rPr>
              <a:t>Geometry Processing</a:t>
            </a:r>
          </a:p>
        </p:txBody>
      </p:sp>
      <p:sp>
        <p:nvSpPr>
          <p:cNvPr id="10" name="Rectangle 9">
            <a:extLst>
              <a:ext uri="{FF2B5EF4-FFF2-40B4-BE49-F238E27FC236}">
                <a16:creationId xmlns:a16="http://schemas.microsoft.com/office/drawing/2014/main" id="{488C3735-FEAD-C360-2D14-CDCF118B789A}"/>
              </a:ext>
            </a:extLst>
          </p:cNvPr>
          <p:cNvSpPr/>
          <p:nvPr/>
        </p:nvSpPr>
        <p:spPr>
          <a:xfrm>
            <a:off x="3765116" y="2063698"/>
            <a:ext cx="2245899" cy="27657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86F9AC-BBA8-DEE1-E150-01323BA80FDF}"/>
              </a:ext>
            </a:extLst>
          </p:cNvPr>
          <p:cNvSpPr/>
          <p:nvPr/>
        </p:nvSpPr>
        <p:spPr>
          <a:xfrm>
            <a:off x="6011015" y="2063698"/>
            <a:ext cx="3466838" cy="27657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1276487-A556-1895-E293-E91C1D2B7636}"/>
              </a:ext>
            </a:extLst>
          </p:cNvPr>
          <p:cNvSpPr txBox="1"/>
          <p:nvPr/>
        </p:nvSpPr>
        <p:spPr>
          <a:xfrm>
            <a:off x="4093303" y="1263305"/>
            <a:ext cx="1719573" cy="369332"/>
          </a:xfrm>
          <a:prstGeom prst="rect">
            <a:avLst/>
          </a:prstGeom>
          <a:noFill/>
        </p:spPr>
        <p:txBody>
          <a:bodyPr wrap="none" rtlCol="0">
            <a:spAutoFit/>
          </a:bodyPr>
          <a:lstStyle/>
          <a:p>
            <a:r>
              <a:rPr lang="en-US" b="1" dirty="0">
                <a:solidFill>
                  <a:srgbClr val="FF0000"/>
                </a:solidFill>
              </a:rPr>
              <a:t>Grid Generation</a:t>
            </a:r>
          </a:p>
        </p:txBody>
      </p:sp>
      <p:sp>
        <p:nvSpPr>
          <p:cNvPr id="6" name="TextBox 5">
            <a:extLst>
              <a:ext uri="{FF2B5EF4-FFF2-40B4-BE49-F238E27FC236}">
                <a16:creationId xmlns:a16="http://schemas.microsoft.com/office/drawing/2014/main" id="{A3CF563A-8153-FD3E-4541-EF757DEE0419}"/>
              </a:ext>
            </a:extLst>
          </p:cNvPr>
          <p:cNvSpPr txBox="1"/>
          <p:nvPr/>
        </p:nvSpPr>
        <p:spPr>
          <a:xfrm>
            <a:off x="7138595" y="1243637"/>
            <a:ext cx="1211678" cy="369332"/>
          </a:xfrm>
          <a:prstGeom prst="rect">
            <a:avLst/>
          </a:prstGeom>
          <a:noFill/>
        </p:spPr>
        <p:txBody>
          <a:bodyPr wrap="none" rtlCol="0">
            <a:spAutoFit/>
          </a:bodyPr>
          <a:lstStyle/>
          <a:p>
            <a:r>
              <a:rPr lang="en-US" b="1" dirty="0">
                <a:solidFill>
                  <a:schemeClr val="accent6"/>
                </a:solidFill>
              </a:rPr>
              <a:t>Simulation</a:t>
            </a:r>
          </a:p>
        </p:txBody>
      </p:sp>
      <p:cxnSp>
        <p:nvCxnSpPr>
          <p:cNvPr id="19" name="Straight Arrow Connector 18">
            <a:extLst>
              <a:ext uri="{FF2B5EF4-FFF2-40B4-BE49-F238E27FC236}">
                <a16:creationId xmlns:a16="http://schemas.microsoft.com/office/drawing/2014/main" id="{3523D044-7518-2F98-E354-6A00D86674E6}"/>
              </a:ext>
            </a:extLst>
          </p:cNvPr>
          <p:cNvCxnSpPr>
            <a:cxnSpLocks/>
          </p:cNvCxnSpPr>
          <p:nvPr/>
        </p:nvCxnSpPr>
        <p:spPr>
          <a:xfrm>
            <a:off x="279897" y="1629687"/>
            <a:ext cx="91875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8DF9871-7E61-CFE0-1BD6-41C6EFF1483A}"/>
              </a:ext>
            </a:extLst>
          </p:cNvPr>
          <p:cNvSpPr txBox="1"/>
          <p:nvPr/>
        </p:nvSpPr>
        <p:spPr>
          <a:xfrm>
            <a:off x="10129036" y="1395602"/>
            <a:ext cx="1175578" cy="369332"/>
          </a:xfrm>
          <a:prstGeom prst="rect">
            <a:avLst/>
          </a:prstGeom>
          <a:noFill/>
        </p:spPr>
        <p:txBody>
          <a:bodyPr wrap="none" rtlCol="0">
            <a:spAutoFit/>
          </a:bodyPr>
          <a:lstStyle/>
          <a:p>
            <a:r>
              <a:rPr lang="en-US" b="1" u="sng" dirty="0"/>
              <a:t>Total Time</a:t>
            </a:r>
          </a:p>
        </p:txBody>
      </p:sp>
      <p:sp>
        <p:nvSpPr>
          <p:cNvPr id="3" name="TextBox 2">
            <a:extLst>
              <a:ext uri="{FF2B5EF4-FFF2-40B4-BE49-F238E27FC236}">
                <a16:creationId xmlns:a16="http://schemas.microsoft.com/office/drawing/2014/main" id="{745EB758-591B-ADFF-135E-725084E2C227}"/>
              </a:ext>
            </a:extLst>
          </p:cNvPr>
          <p:cNvSpPr txBox="1"/>
          <p:nvPr/>
        </p:nvSpPr>
        <p:spPr>
          <a:xfrm>
            <a:off x="227942" y="1675315"/>
            <a:ext cx="2110578" cy="369332"/>
          </a:xfrm>
          <a:prstGeom prst="rect">
            <a:avLst/>
          </a:prstGeom>
          <a:noFill/>
        </p:spPr>
        <p:txBody>
          <a:bodyPr wrap="none" rtlCol="0">
            <a:spAutoFit/>
          </a:bodyPr>
          <a:lstStyle/>
          <a:p>
            <a:r>
              <a:rPr lang="en-US" b="1" dirty="0"/>
              <a:t>Traditional/Baseline</a:t>
            </a:r>
          </a:p>
        </p:txBody>
      </p:sp>
      <p:sp>
        <p:nvSpPr>
          <p:cNvPr id="7" name="TextBox 6">
            <a:extLst>
              <a:ext uri="{FF2B5EF4-FFF2-40B4-BE49-F238E27FC236}">
                <a16:creationId xmlns:a16="http://schemas.microsoft.com/office/drawing/2014/main" id="{36524A76-6AB0-DF1A-ECFD-BE4333C86434}"/>
              </a:ext>
            </a:extLst>
          </p:cNvPr>
          <p:cNvSpPr txBox="1"/>
          <p:nvPr/>
        </p:nvSpPr>
        <p:spPr>
          <a:xfrm>
            <a:off x="1669208" y="1997013"/>
            <a:ext cx="786562" cy="369332"/>
          </a:xfrm>
          <a:prstGeom prst="rect">
            <a:avLst/>
          </a:prstGeom>
          <a:noFill/>
        </p:spPr>
        <p:txBody>
          <a:bodyPr wrap="none" rtlCol="0">
            <a:spAutoFit/>
          </a:bodyPr>
          <a:lstStyle/>
          <a:p>
            <a:r>
              <a:rPr lang="en-US" b="1" dirty="0"/>
              <a:t>4 days</a:t>
            </a:r>
          </a:p>
        </p:txBody>
      </p:sp>
      <p:sp>
        <p:nvSpPr>
          <p:cNvPr id="12" name="TextBox 11">
            <a:extLst>
              <a:ext uri="{FF2B5EF4-FFF2-40B4-BE49-F238E27FC236}">
                <a16:creationId xmlns:a16="http://schemas.microsoft.com/office/drawing/2014/main" id="{9F12C18A-5139-87C4-11B1-97DC13487382}"/>
              </a:ext>
            </a:extLst>
          </p:cNvPr>
          <p:cNvSpPr txBox="1"/>
          <p:nvPr/>
        </p:nvSpPr>
        <p:spPr>
          <a:xfrm>
            <a:off x="4494785" y="2002762"/>
            <a:ext cx="786562" cy="369332"/>
          </a:xfrm>
          <a:prstGeom prst="rect">
            <a:avLst/>
          </a:prstGeom>
          <a:noFill/>
        </p:spPr>
        <p:txBody>
          <a:bodyPr wrap="none" rtlCol="0">
            <a:spAutoFit/>
          </a:bodyPr>
          <a:lstStyle/>
          <a:p>
            <a:r>
              <a:rPr lang="en-US" b="1" dirty="0"/>
              <a:t>2 days</a:t>
            </a:r>
          </a:p>
        </p:txBody>
      </p:sp>
      <p:sp>
        <p:nvSpPr>
          <p:cNvPr id="13" name="TextBox 12">
            <a:extLst>
              <a:ext uri="{FF2B5EF4-FFF2-40B4-BE49-F238E27FC236}">
                <a16:creationId xmlns:a16="http://schemas.microsoft.com/office/drawing/2014/main" id="{56BDB51E-E83B-261F-AF4B-624669A160D1}"/>
              </a:ext>
            </a:extLst>
          </p:cNvPr>
          <p:cNvSpPr txBox="1"/>
          <p:nvPr/>
        </p:nvSpPr>
        <p:spPr>
          <a:xfrm>
            <a:off x="7171002" y="2000807"/>
            <a:ext cx="1299523" cy="369332"/>
          </a:xfrm>
          <a:prstGeom prst="rect">
            <a:avLst/>
          </a:prstGeom>
          <a:noFill/>
        </p:spPr>
        <p:txBody>
          <a:bodyPr wrap="none" rtlCol="0">
            <a:spAutoFit/>
          </a:bodyPr>
          <a:lstStyle/>
          <a:p>
            <a:r>
              <a:rPr lang="en-US" b="1" dirty="0"/>
              <a:t>CPU: 4 days</a:t>
            </a:r>
          </a:p>
        </p:txBody>
      </p:sp>
      <p:sp>
        <p:nvSpPr>
          <p:cNvPr id="14" name="TextBox 13">
            <a:extLst>
              <a:ext uri="{FF2B5EF4-FFF2-40B4-BE49-F238E27FC236}">
                <a16:creationId xmlns:a16="http://schemas.microsoft.com/office/drawing/2014/main" id="{3B1846EB-AE46-06B1-8BDA-B2955C1EBBC9}"/>
              </a:ext>
            </a:extLst>
          </p:cNvPr>
          <p:cNvSpPr txBox="1"/>
          <p:nvPr/>
        </p:nvSpPr>
        <p:spPr>
          <a:xfrm>
            <a:off x="10265035" y="1993103"/>
            <a:ext cx="903581" cy="369332"/>
          </a:xfrm>
          <a:prstGeom prst="rect">
            <a:avLst/>
          </a:prstGeom>
          <a:noFill/>
        </p:spPr>
        <p:txBody>
          <a:bodyPr wrap="none" rtlCol="0">
            <a:spAutoFit/>
          </a:bodyPr>
          <a:lstStyle/>
          <a:p>
            <a:r>
              <a:rPr lang="en-US" b="1" dirty="0"/>
              <a:t>10 days</a:t>
            </a:r>
          </a:p>
        </p:txBody>
      </p:sp>
      <p:sp>
        <p:nvSpPr>
          <p:cNvPr id="30" name="Rectangle 29">
            <a:extLst>
              <a:ext uri="{FF2B5EF4-FFF2-40B4-BE49-F238E27FC236}">
                <a16:creationId xmlns:a16="http://schemas.microsoft.com/office/drawing/2014/main" id="{74F7C931-B9C8-041B-7D08-9B5F9CEA6DE0}"/>
              </a:ext>
            </a:extLst>
          </p:cNvPr>
          <p:cNvSpPr/>
          <p:nvPr/>
        </p:nvSpPr>
        <p:spPr>
          <a:xfrm>
            <a:off x="290289" y="2821459"/>
            <a:ext cx="3466838" cy="276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0AF52A7-D190-AEAE-7E0A-F816ACFB74B6}"/>
              </a:ext>
            </a:extLst>
          </p:cNvPr>
          <p:cNvSpPr/>
          <p:nvPr/>
        </p:nvSpPr>
        <p:spPr>
          <a:xfrm>
            <a:off x="3765116" y="2821459"/>
            <a:ext cx="3466838" cy="27657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A1E64560-1298-5322-AB83-6FC05DC5175D}"/>
              </a:ext>
            </a:extLst>
          </p:cNvPr>
          <p:cNvSpPr txBox="1"/>
          <p:nvPr/>
        </p:nvSpPr>
        <p:spPr>
          <a:xfrm>
            <a:off x="227942" y="2439794"/>
            <a:ext cx="1540165" cy="369332"/>
          </a:xfrm>
          <a:prstGeom prst="rect">
            <a:avLst/>
          </a:prstGeom>
          <a:noFill/>
        </p:spPr>
        <p:txBody>
          <a:bodyPr wrap="none" rtlCol="0">
            <a:spAutoFit/>
          </a:bodyPr>
          <a:lstStyle/>
          <a:p>
            <a:r>
              <a:rPr lang="en-US" b="1" dirty="0"/>
              <a:t>Auto-Meshing</a:t>
            </a:r>
          </a:p>
        </p:txBody>
      </p:sp>
      <p:sp>
        <p:nvSpPr>
          <p:cNvPr id="34" name="TextBox 33">
            <a:extLst>
              <a:ext uri="{FF2B5EF4-FFF2-40B4-BE49-F238E27FC236}">
                <a16:creationId xmlns:a16="http://schemas.microsoft.com/office/drawing/2014/main" id="{610CDC1D-EF42-4500-B422-7A94155CCE3D}"/>
              </a:ext>
            </a:extLst>
          </p:cNvPr>
          <p:cNvSpPr txBox="1"/>
          <p:nvPr/>
        </p:nvSpPr>
        <p:spPr>
          <a:xfrm>
            <a:off x="1669208" y="2764713"/>
            <a:ext cx="786562" cy="369332"/>
          </a:xfrm>
          <a:prstGeom prst="rect">
            <a:avLst/>
          </a:prstGeom>
          <a:noFill/>
        </p:spPr>
        <p:txBody>
          <a:bodyPr wrap="none" rtlCol="0">
            <a:spAutoFit/>
          </a:bodyPr>
          <a:lstStyle/>
          <a:p>
            <a:r>
              <a:rPr lang="en-US" b="1" dirty="0"/>
              <a:t>4 days</a:t>
            </a:r>
          </a:p>
        </p:txBody>
      </p:sp>
      <p:sp>
        <p:nvSpPr>
          <p:cNvPr id="36" name="TextBox 35">
            <a:extLst>
              <a:ext uri="{FF2B5EF4-FFF2-40B4-BE49-F238E27FC236}">
                <a16:creationId xmlns:a16="http://schemas.microsoft.com/office/drawing/2014/main" id="{7693FF4A-2F5B-225E-58DC-6614DDD3BAFE}"/>
              </a:ext>
            </a:extLst>
          </p:cNvPr>
          <p:cNvSpPr txBox="1"/>
          <p:nvPr/>
        </p:nvSpPr>
        <p:spPr>
          <a:xfrm>
            <a:off x="4848773" y="2768542"/>
            <a:ext cx="1299523" cy="369332"/>
          </a:xfrm>
          <a:prstGeom prst="rect">
            <a:avLst/>
          </a:prstGeom>
          <a:noFill/>
        </p:spPr>
        <p:txBody>
          <a:bodyPr wrap="none" rtlCol="0">
            <a:spAutoFit/>
          </a:bodyPr>
          <a:lstStyle/>
          <a:p>
            <a:r>
              <a:rPr lang="en-US" b="1" dirty="0"/>
              <a:t>CPU: 4 days</a:t>
            </a:r>
          </a:p>
        </p:txBody>
      </p:sp>
      <p:sp>
        <p:nvSpPr>
          <p:cNvPr id="37" name="TextBox 36">
            <a:extLst>
              <a:ext uri="{FF2B5EF4-FFF2-40B4-BE49-F238E27FC236}">
                <a16:creationId xmlns:a16="http://schemas.microsoft.com/office/drawing/2014/main" id="{2C11EDAC-739F-51BB-64E2-C26C6F5848AE}"/>
              </a:ext>
            </a:extLst>
          </p:cNvPr>
          <p:cNvSpPr txBox="1"/>
          <p:nvPr/>
        </p:nvSpPr>
        <p:spPr>
          <a:xfrm>
            <a:off x="10323544" y="2728641"/>
            <a:ext cx="786562" cy="369332"/>
          </a:xfrm>
          <a:prstGeom prst="rect">
            <a:avLst/>
          </a:prstGeom>
          <a:noFill/>
        </p:spPr>
        <p:txBody>
          <a:bodyPr wrap="none" rtlCol="0">
            <a:spAutoFit/>
          </a:bodyPr>
          <a:lstStyle/>
          <a:p>
            <a:r>
              <a:rPr lang="en-US" b="1" dirty="0"/>
              <a:t>8 days</a:t>
            </a:r>
          </a:p>
        </p:txBody>
      </p:sp>
      <p:sp>
        <p:nvSpPr>
          <p:cNvPr id="49" name="TextBox 48">
            <a:extLst>
              <a:ext uri="{FF2B5EF4-FFF2-40B4-BE49-F238E27FC236}">
                <a16:creationId xmlns:a16="http://schemas.microsoft.com/office/drawing/2014/main" id="{69492C53-9912-279B-C550-07BACC9BAEDE}"/>
              </a:ext>
            </a:extLst>
          </p:cNvPr>
          <p:cNvSpPr txBox="1"/>
          <p:nvPr/>
        </p:nvSpPr>
        <p:spPr>
          <a:xfrm>
            <a:off x="227942" y="4733231"/>
            <a:ext cx="5523115" cy="369332"/>
          </a:xfrm>
          <a:prstGeom prst="rect">
            <a:avLst/>
          </a:prstGeom>
          <a:noFill/>
        </p:spPr>
        <p:txBody>
          <a:bodyPr wrap="none" rtlCol="0">
            <a:spAutoFit/>
          </a:bodyPr>
          <a:lstStyle/>
          <a:p>
            <a:r>
              <a:rPr lang="en-US" b="1" dirty="0"/>
              <a:t>Shrink-wrapping (Immersed Boundary) + GPU Execution</a:t>
            </a:r>
          </a:p>
        </p:txBody>
      </p:sp>
      <p:sp>
        <p:nvSpPr>
          <p:cNvPr id="53" name="TextBox 52">
            <a:extLst>
              <a:ext uri="{FF2B5EF4-FFF2-40B4-BE49-F238E27FC236}">
                <a16:creationId xmlns:a16="http://schemas.microsoft.com/office/drawing/2014/main" id="{C14C4153-3894-2FE1-5121-958C7E3E198C}"/>
              </a:ext>
            </a:extLst>
          </p:cNvPr>
          <p:cNvSpPr txBox="1"/>
          <p:nvPr/>
        </p:nvSpPr>
        <p:spPr>
          <a:xfrm>
            <a:off x="10392666" y="4977874"/>
            <a:ext cx="648319" cy="369332"/>
          </a:xfrm>
          <a:prstGeom prst="rect">
            <a:avLst/>
          </a:prstGeom>
          <a:noFill/>
        </p:spPr>
        <p:txBody>
          <a:bodyPr wrap="none" rtlCol="0">
            <a:spAutoFit/>
          </a:bodyPr>
          <a:lstStyle/>
          <a:p>
            <a:r>
              <a:rPr lang="en-US" b="1" dirty="0"/>
              <a:t>8 </a:t>
            </a:r>
            <a:r>
              <a:rPr lang="en-US" b="1" dirty="0" err="1"/>
              <a:t>hrs</a:t>
            </a:r>
            <a:endParaRPr lang="en-US" b="1" dirty="0"/>
          </a:p>
        </p:txBody>
      </p:sp>
      <p:sp>
        <p:nvSpPr>
          <p:cNvPr id="63" name="Rectangle 62">
            <a:extLst>
              <a:ext uri="{FF2B5EF4-FFF2-40B4-BE49-F238E27FC236}">
                <a16:creationId xmlns:a16="http://schemas.microsoft.com/office/drawing/2014/main" id="{0B0DF2B1-F3B0-A87F-4B76-DE2754931D6A}"/>
              </a:ext>
            </a:extLst>
          </p:cNvPr>
          <p:cNvSpPr/>
          <p:nvPr/>
        </p:nvSpPr>
        <p:spPr>
          <a:xfrm>
            <a:off x="287427" y="3591308"/>
            <a:ext cx="401622" cy="27657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27D01A76-F3DB-DB99-5F95-4C43FD7B9E84}"/>
              </a:ext>
            </a:extLst>
          </p:cNvPr>
          <p:cNvSpPr/>
          <p:nvPr/>
        </p:nvSpPr>
        <p:spPr>
          <a:xfrm>
            <a:off x="689049" y="3591308"/>
            <a:ext cx="3466838" cy="27657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188097FC-27CC-858A-4ABD-4F530C7F0CDA}"/>
              </a:ext>
            </a:extLst>
          </p:cNvPr>
          <p:cNvSpPr txBox="1"/>
          <p:nvPr/>
        </p:nvSpPr>
        <p:spPr>
          <a:xfrm>
            <a:off x="227942" y="3204273"/>
            <a:ext cx="2685607" cy="369332"/>
          </a:xfrm>
          <a:prstGeom prst="rect">
            <a:avLst/>
          </a:prstGeom>
          <a:noFill/>
        </p:spPr>
        <p:txBody>
          <a:bodyPr wrap="none" rtlCol="0">
            <a:spAutoFit/>
          </a:bodyPr>
          <a:lstStyle/>
          <a:p>
            <a:r>
              <a:rPr lang="en-US" b="1" dirty="0"/>
              <a:t>Shrink-wrapping (Volume)</a:t>
            </a:r>
          </a:p>
        </p:txBody>
      </p:sp>
      <p:sp>
        <p:nvSpPr>
          <p:cNvPr id="68" name="TextBox 67">
            <a:extLst>
              <a:ext uri="{FF2B5EF4-FFF2-40B4-BE49-F238E27FC236}">
                <a16:creationId xmlns:a16="http://schemas.microsoft.com/office/drawing/2014/main" id="{605EABA1-F915-B020-4CE7-771D751DD698}"/>
              </a:ext>
            </a:extLst>
          </p:cNvPr>
          <p:cNvSpPr txBox="1"/>
          <p:nvPr/>
        </p:nvSpPr>
        <p:spPr>
          <a:xfrm>
            <a:off x="1849036" y="3544929"/>
            <a:ext cx="1299523" cy="369332"/>
          </a:xfrm>
          <a:prstGeom prst="rect">
            <a:avLst/>
          </a:prstGeom>
          <a:noFill/>
        </p:spPr>
        <p:txBody>
          <a:bodyPr wrap="none" rtlCol="0">
            <a:spAutoFit/>
          </a:bodyPr>
          <a:lstStyle/>
          <a:p>
            <a:r>
              <a:rPr lang="en-US" b="1" dirty="0"/>
              <a:t>CPU: 4 days</a:t>
            </a:r>
          </a:p>
        </p:txBody>
      </p:sp>
      <p:sp>
        <p:nvSpPr>
          <p:cNvPr id="69" name="TextBox 68">
            <a:extLst>
              <a:ext uri="{FF2B5EF4-FFF2-40B4-BE49-F238E27FC236}">
                <a16:creationId xmlns:a16="http://schemas.microsoft.com/office/drawing/2014/main" id="{7A054E9C-52E1-B5BE-EF6B-F51809F2DC5E}"/>
              </a:ext>
            </a:extLst>
          </p:cNvPr>
          <p:cNvSpPr txBox="1"/>
          <p:nvPr/>
        </p:nvSpPr>
        <p:spPr>
          <a:xfrm>
            <a:off x="10323544" y="3430452"/>
            <a:ext cx="786562" cy="369332"/>
          </a:xfrm>
          <a:prstGeom prst="rect">
            <a:avLst/>
          </a:prstGeom>
          <a:noFill/>
        </p:spPr>
        <p:txBody>
          <a:bodyPr wrap="none" rtlCol="0">
            <a:spAutoFit/>
          </a:bodyPr>
          <a:lstStyle/>
          <a:p>
            <a:r>
              <a:rPr lang="en-US" b="1" dirty="0"/>
              <a:t>4 days</a:t>
            </a:r>
          </a:p>
        </p:txBody>
      </p:sp>
      <p:sp>
        <p:nvSpPr>
          <p:cNvPr id="70" name="TextBox 69">
            <a:extLst>
              <a:ext uri="{FF2B5EF4-FFF2-40B4-BE49-F238E27FC236}">
                <a16:creationId xmlns:a16="http://schemas.microsoft.com/office/drawing/2014/main" id="{30640BBA-C460-2F91-5D87-5475E181D4E4}"/>
              </a:ext>
            </a:extLst>
          </p:cNvPr>
          <p:cNvSpPr txBox="1"/>
          <p:nvPr/>
        </p:nvSpPr>
        <p:spPr>
          <a:xfrm>
            <a:off x="249230" y="3544929"/>
            <a:ext cx="478016" cy="369332"/>
          </a:xfrm>
          <a:prstGeom prst="rect">
            <a:avLst/>
          </a:prstGeom>
          <a:noFill/>
        </p:spPr>
        <p:txBody>
          <a:bodyPr wrap="none" rtlCol="0">
            <a:spAutoFit/>
          </a:bodyPr>
          <a:lstStyle/>
          <a:p>
            <a:r>
              <a:rPr lang="en-US" b="1" dirty="0"/>
              <a:t>5 h</a:t>
            </a:r>
          </a:p>
        </p:txBody>
      </p:sp>
      <p:sp>
        <p:nvSpPr>
          <p:cNvPr id="79" name="Rectangle 78">
            <a:extLst>
              <a:ext uri="{FF2B5EF4-FFF2-40B4-BE49-F238E27FC236}">
                <a16:creationId xmlns:a16="http://schemas.microsoft.com/office/drawing/2014/main" id="{53857955-60A5-1D8F-95DA-E4BF9207171D}"/>
              </a:ext>
            </a:extLst>
          </p:cNvPr>
          <p:cNvSpPr/>
          <p:nvPr/>
        </p:nvSpPr>
        <p:spPr>
          <a:xfrm>
            <a:off x="291937" y="5107665"/>
            <a:ext cx="246423" cy="27657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47571786-603C-1704-D2AE-CF307F27C23F}"/>
              </a:ext>
            </a:extLst>
          </p:cNvPr>
          <p:cNvSpPr/>
          <p:nvPr/>
        </p:nvSpPr>
        <p:spPr>
          <a:xfrm>
            <a:off x="536963" y="5107665"/>
            <a:ext cx="819889" cy="27657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247571E0-84AD-0B6B-D674-22652AA0176E}"/>
              </a:ext>
            </a:extLst>
          </p:cNvPr>
          <p:cNvSpPr txBox="1"/>
          <p:nvPr/>
        </p:nvSpPr>
        <p:spPr>
          <a:xfrm>
            <a:off x="645899" y="5059653"/>
            <a:ext cx="648319" cy="369332"/>
          </a:xfrm>
          <a:prstGeom prst="rect">
            <a:avLst/>
          </a:prstGeom>
          <a:noFill/>
        </p:spPr>
        <p:txBody>
          <a:bodyPr wrap="none" rtlCol="0">
            <a:spAutoFit/>
          </a:bodyPr>
          <a:lstStyle/>
          <a:p>
            <a:r>
              <a:rPr lang="en-US" b="1" dirty="0"/>
              <a:t>6 </a:t>
            </a:r>
            <a:r>
              <a:rPr lang="en-US" b="1" dirty="0" err="1"/>
              <a:t>hrs</a:t>
            </a:r>
            <a:endParaRPr lang="en-US" b="1" dirty="0"/>
          </a:p>
        </p:txBody>
      </p:sp>
      <p:sp>
        <p:nvSpPr>
          <p:cNvPr id="82" name="TextBox 81">
            <a:extLst>
              <a:ext uri="{FF2B5EF4-FFF2-40B4-BE49-F238E27FC236}">
                <a16:creationId xmlns:a16="http://schemas.microsoft.com/office/drawing/2014/main" id="{FC60C76F-9DEE-644E-A10F-F4FD0C225CB5}"/>
              </a:ext>
            </a:extLst>
          </p:cNvPr>
          <p:cNvSpPr txBox="1"/>
          <p:nvPr/>
        </p:nvSpPr>
        <p:spPr>
          <a:xfrm>
            <a:off x="263572" y="5061286"/>
            <a:ext cx="246423" cy="369332"/>
          </a:xfrm>
          <a:prstGeom prst="rect">
            <a:avLst/>
          </a:prstGeom>
          <a:noFill/>
        </p:spPr>
        <p:txBody>
          <a:bodyPr wrap="square" rtlCol="0">
            <a:spAutoFit/>
          </a:bodyPr>
          <a:lstStyle/>
          <a:p>
            <a:r>
              <a:rPr lang="en-US" b="1" dirty="0"/>
              <a:t>2</a:t>
            </a:r>
          </a:p>
        </p:txBody>
      </p:sp>
      <p:sp>
        <p:nvSpPr>
          <p:cNvPr id="16" name="Rectangle 15">
            <a:extLst>
              <a:ext uri="{FF2B5EF4-FFF2-40B4-BE49-F238E27FC236}">
                <a16:creationId xmlns:a16="http://schemas.microsoft.com/office/drawing/2014/main" id="{5D51D67A-681A-0C98-2087-6343BFB6CBA8}"/>
              </a:ext>
            </a:extLst>
          </p:cNvPr>
          <p:cNvSpPr/>
          <p:nvPr/>
        </p:nvSpPr>
        <p:spPr>
          <a:xfrm>
            <a:off x="295772" y="4346624"/>
            <a:ext cx="401622" cy="27657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A819F85-904D-89E9-C644-169524743084}"/>
              </a:ext>
            </a:extLst>
          </p:cNvPr>
          <p:cNvSpPr/>
          <p:nvPr/>
        </p:nvSpPr>
        <p:spPr>
          <a:xfrm>
            <a:off x="697394" y="4346624"/>
            <a:ext cx="2045806" cy="27657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B536DAC-EE0F-5DE1-6307-5DE6E4415C1B}"/>
              </a:ext>
            </a:extLst>
          </p:cNvPr>
          <p:cNvSpPr txBox="1"/>
          <p:nvPr/>
        </p:nvSpPr>
        <p:spPr>
          <a:xfrm>
            <a:off x="227942" y="3968752"/>
            <a:ext cx="4480265" cy="369332"/>
          </a:xfrm>
          <a:prstGeom prst="rect">
            <a:avLst/>
          </a:prstGeom>
          <a:noFill/>
        </p:spPr>
        <p:txBody>
          <a:bodyPr wrap="none" rtlCol="0">
            <a:spAutoFit/>
          </a:bodyPr>
          <a:lstStyle/>
          <a:p>
            <a:r>
              <a:rPr lang="en-US" b="1" dirty="0"/>
              <a:t>Shrink-wrapping (Volume) + GPU Execution</a:t>
            </a:r>
          </a:p>
        </p:txBody>
      </p:sp>
      <p:sp>
        <p:nvSpPr>
          <p:cNvPr id="20" name="TextBox 19">
            <a:extLst>
              <a:ext uri="{FF2B5EF4-FFF2-40B4-BE49-F238E27FC236}">
                <a16:creationId xmlns:a16="http://schemas.microsoft.com/office/drawing/2014/main" id="{3CBDC00E-2D3E-5E1A-6DDA-F1247E39E119}"/>
              </a:ext>
            </a:extLst>
          </p:cNvPr>
          <p:cNvSpPr txBox="1"/>
          <p:nvPr/>
        </p:nvSpPr>
        <p:spPr>
          <a:xfrm>
            <a:off x="970059" y="4300245"/>
            <a:ext cx="1303947" cy="369332"/>
          </a:xfrm>
          <a:prstGeom prst="rect">
            <a:avLst/>
          </a:prstGeom>
          <a:noFill/>
        </p:spPr>
        <p:txBody>
          <a:bodyPr wrap="none" rtlCol="0">
            <a:spAutoFit/>
          </a:bodyPr>
          <a:lstStyle/>
          <a:p>
            <a:r>
              <a:rPr lang="en-US" b="1" dirty="0"/>
              <a:t>GPU: 20 </a:t>
            </a:r>
            <a:r>
              <a:rPr lang="en-US" b="1" dirty="0" err="1"/>
              <a:t>hrs</a:t>
            </a:r>
            <a:endParaRPr lang="en-US" b="1" dirty="0"/>
          </a:p>
        </p:txBody>
      </p:sp>
      <p:sp>
        <p:nvSpPr>
          <p:cNvPr id="22" name="TextBox 21">
            <a:extLst>
              <a:ext uri="{FF2B5EF4-FFF2-40B4-BE49-F238E27FC236}">
                <a16:creationId xmlns:a16="http://schemas.microsoft.com/office/drawing/2014/main" id="{123221CF-467E-F5DB-8448-BB9DC946DD26}"/>
              </a:ext>
            </a:extLst>
          </p:cNvPr>
          <p:cNvSpPr txBox="1"/>
          <p:nvPr/>
        </p:nvSpPr>
        <p:spPr>
          <a:xfrm>
            <a:off x="10368492" y="4195707"/>
            <a:ext cx="696666" cy="369332"/>
          </a:xfrm>
          <a:prstGeom prst="rect">
            <a:avLst/>
          </a:prstGeom>
          <a:noFill/>
        </p:spPr>
        <p:txBody>
          <a:bodyPr wrap="none" rtlCol="0">
            <a:spAutoFit/>
          </a:bodyPr>
          <a:lstStyle/>
          <a:p>
            <a:r>
              <a:rPr lang="en-US" b="1" dirty="0"/>
              <a:t>1 day</a:t>
            </a:r>
          </a:p>
        </p:txBody>
      </p:sp>
      <p:sp>
        <p:nvSpPr>
          <p:cNvPr id="24" name="TextBox 23">
            <a:extLst>
              <a:ext uri="{FF2B5EF4-FFF2-40B4-BE49-F238E27FC236}">
                <a16:creationId xmlns:a16="http://schemas.microsoft.com/office/drawing/2014/main" id="{915DFCF5-CC62-C3E3-6F2F-8C831DF3B8C2}"/>
              </a:ext>
            </a:extLst>
          </p:cNvPr>
          <p:cNvSpPr txBox="1"/>
          <p:nvPr/>
        </p:nvSpPr>
        <p:spPr>
          <a:xfrm>
            <a:off x="257575" y="4300245"/>
            <a:ext cx="478016" cy="369332"/>
          </a:xfrm>
          <a:prstGeom prst="rect">
            <a:avLst/>
          </a:prstGeom>
          <a:noFill/>
        </p:spPr>
        <p:txBody>
          <a:bodyPr wrap="none" rtlCol="0">
            <a:spAutoFit/>
          </a:bodyPr>
          <a:lstStyle/>
          <a:p>
            <a:r>
              <a:rPr lang="en-US" b="1" dirty="0"/>
              <a:t>5 h</a:t>
            </a:r>
          </a:p>
        </p:txBody>
      </p:sp>
      <p:sp>
        <p:nvSpPr>
          <p:cNvPr id="25" name="TextBox 24">
            <a:extLst>
              <a:ext uri="{FF2B5EF4-FFF2-40B4-BE49-F238E27FC236}">
                <a16:creationId xmlns:a16="http://schemas.microsoft.com/office/drawing/2014/main" id="{EFF221A8-8C63-AC30-564B-18567E52461B}"/>
              </a:ext>
            </a:extLst>
          </p:cNvPr>
          <p:cNvSpPr txBox="1"/>
          <p:nvPr/>
        </p:nvSpPr>
        <p:spPr>
          <a:xfrm>
            <a:off x="227942" y="5497711"/>
            <a:ext cx="8649355" cy="369332"/>
          </a:xfrm>
          <a:prstGeom prst="rect">
            <a:avLst/>
          </a:prstGeom>
          <a:noFill/>
        </p:spPr>
        <p:txBody>
          <a:bodyPr wrap="none" rtlCol="0">
            <a:spAutoFit/>
          </a:bodyPr>
          <a:lstStyle/>
          <a:p>
            <a:r>
              <a:rPr lang="en-US" b="1" dirty="0"/>
              <a:t>Shrink-wrapping (Immersed Boundary) + GPU Execution +  10% chord engineering fidelity</a:t>
            </a:r>
          </a:p>
        </p:txBody>
      </p:sp>
      <p:sp>
        <p:nvSpPr>
          <p:cNvPr id="26" name="TextBox 25">
            <a:extLst>
              <a:ext uri="{FF2B5EF4-FFF2-40B4-BE49-F238E27FC236}">
                <a16:creationId xmlns:a16="http://schemas.microsoft.com/office/drawing/2014/main" id="{8DDC6098-36BB-0D64-5537-A6B1436741F3}"/>
              </a:ext>
            </a:extLst>
          </p:cNvPr>
          <p:cNvSpPr txBox="1"/>
          <p:nvPr/>
        </p:nvSpPr>
        <p:spPr>
          <a:xfrm>
            <a:off x="10392666" y="5741880"/>
            <a:ext cx="648319" cy="369332"/>
          </a:xfrm>
          <a:prstGeom prst="rect">
            <a:avLst/>
          </a:prstGeom>
          <a:noFill/>
        </p:spPr>
        <p:txBody>
          <a:bodyPr wrap="none" rtlCol="0">
            <a:spAutoFit/>
          </a:bodyPr>
          <a:lstStyle/>
          <a:p>
            <a:r>
              <a:rPr lang="en-US" b="1" dirty="0"/>
              <a:t>4 </a:t>
            </a:r>
            <a:r>
              <a:rPr lang="en-US" b="1" dirty="0" err="1"/>
              <a:t>hrs</a:t>
            </a:r>
            <a:endParaRPr lang="en-US" b="1" dirty="0"/>
          </a:p>
        </p:txBody>
      </p:sp>
      <p:sp>
        <p:nvSpPr>
          <p:cNvPr id="27" name="Rectangle 26">
            <a:extLst>
              <a:ext uri="{FF2B5EF4-FFF2-40B4-BE49-F238E27FC236}">
                <a16:creationId xmlns:a16="http://schemas.microsoft.com/office/drawing/2014/main" id="{680D730F-5791-A4FA-95AF-522BF88DE117}"/>
              </a:ext>
            </a:extLst>
          </p:cNvPr>
          <p:cNvSpPr/>
          <p:nvPr/>
        </p:nvSpPr>
        <p:spPr>
          <a:xfrm>
            <a:off x="288024" y="5881503"/>
            <a:ext cx="246423" cy="27657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8D1BDC4-1B91-BF29-C3BE-53B0E09A4DC7}"/>
              </a:ext>
            </a:extLst>
          </p:cNvPr>
          <p:cNvSpPr/>
          <p:nvPr/>
        </p:nvSpPr>
        <p:spPr>
          <a:xfrm>
            <a:off x="533050" y="5881503"/>
            <a:ext cx="293251" cy="27657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B004C843-6F39-197F-9DCA-3400FF7F8DC3}"/>
              </a:ext>
            </a:extLst>
          </p:cNvPr>
          <p:cNvSpPr txBox="1"/>
          <p:nvPr/>
        </p:nvSpPr>
        <p:spPr>
          <a:xfrm>
            <a:off x="544279" y="5829901"/>
            <a:ext cx="301686" cy="369332"/>
          </a:xfrm>
          <a:prstGeom prst="rect">
            <a:avLst/>
          </a:prstGeom>
          <a:noFill/>
        </p:spPr>
        <p:txBody>
          <a:bodyPr wrap="none" rtlCol="0">
            <a:spAutoFit/>
          </a:bodyPr>
          <a:lstStyle/>
          <a:p>
            <a:r>
              <a:rPr lang="en-US" b="1" dirty="0"/>
              <a:t>2</a:t>
            </a:r>
          </a:p>
        </p:txBody>
      </p:sp>
      <p:sp>
        <p:nvSpPr>
          <p:cNvPr id="35" name="TextBox 34">
            <a:extLst>
              <a:ext uri="{FF2B5EF4-FFF2-40B4-BE49-F238E27FC236}">
                <a16:creationId xmlns:a16="http://schemas.microsoft.com/office/drawing/2014/main" id="{E6A50670-815B-1EE1-9FB7-55750F9A2E1D}"/>
              </a:ext>
            </a:extLst>
          </p:cNvPr>
          <p:cNvSpPr txBox="1"/>
          <p:nvPr/>
        </p:nvSpPr>
        <p:spPr>
          <a:xfrm>
            <a:off x="259659" y="5835124"/>
            <a:ext cx="246423" cy="369332"/>
          </a:xfrm>
          <a:prstGeom prst="rect">
            <a:avLst/>
          </a:prstGeom>
          <a:noFill/>
        </p:spPr>
        <p:txBody>
          <a:bodyPr wrap="square" rtlCol="0">
            <a:spAutoFit/>
          </a:bodyPr>
          <a:lstStyle/>
          <a:p>
            <a:r>
              <a:rPr lang="en-US" b="1" dirty="0"/>
              <a:t>2</a:t>
            </a:r>
          </a:p>
        </p:txBody>
      </p:sp>
      <p:sp>
        <p:nvSpPr>
          <p:cNvPr id="38" name="Text Placeholder 6">
            <a:extLst>
              <a:ext uri="{FF2B5EF4-FFF2-40B4-BE49-F238E27FC236}">
                <a16:creationId xmlns:a16="http://schemas.microsoft.com/office/drawing/2014/main" id="{35FE3973-F587-961D-C88B-BD4626A8F4B9}"/>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39603329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D94AF-EE60-0D64-09F4-119A01484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3D9D0B-EBB2-57D4-923E-84515C1AEF37}"/>
              </a:ext>
            </a:extLst>
          </p:cNvPr>
          <p:cNvSpPr>
            <a:spLocks noGrp="1"/>
          </p:cNvSpPr>
          <p:nvPr>
            <p:ph type="title"/>
          </p:nvPr>
        </p:nvSpPr>
        <p:spPr/>
        <p:txBody>
          <a:bodyPr/>
          <a:lstStyle/>
          <a:p>
            <a:r>
              <a:rPr lang="en-US" dirty="0"/>
              <a:t>Conclusions</a:t>
            </a:r>
          </a:p>
        </p:txBody>
      </p:sp>
      <p:sp>
        <p:nvSpPr>
          <p:cNvPr id="4" name="Slide Number Placeholder 3">
            <a:extLst>
              <a:ext uri="{FF2B5EF4-FFF2-40B4-BE49-F238E27FC236}">
                <a16:creationId xmlns:a16="http://schemas.microsoft.com/office/drawing/2014/main" id="{4FCCE612-BD49-310B-54CB-4518DB3E35BD}"/>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31</a:t>
            </a:fld>
            <a:endParaRPr lang="en-US"/>
          </a:p>
        </p:txBody>
      </p:sp>
      <p:sp>
        <p:nvSpPr>
          <p:cNvPr id="5" name="Rectangle 4">
            <a:extLst>
              <a:ext uri="{FF2B5EF4-FFF2-40B4-BE49-F238E27FC236}">
                <a16:creationId xmlns:a16="http://schemas.microsoft.com/office/drawing/2014/main" id="{D84D8126-1917-58E2-1F3E-AF14417755E5}"/>
              </a:ext>
            </a:extLst>
          </p:cNvPr>
          <p:cNvSpPr/>
          <p:nvPr/>
        </p:nvSpPr>
        <p:spPr>
          <a:xfrm>
            <a:off x="290289" y="2063698"/>
            <a:ext cx="3466838" cy="276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71DA46E-E897-C99C-D07B-D3808C69AC98}"/>
              </a:ext>
            </a:extLst>
          </p:cNvPr>
          <p:cNvSpPr txBox="1"/>
          <p:nvPr/>
        </p:nvSpPr>
        <p:spPr>
          <a:xfrm>
            <a:off x="1001232" y="1243637"/>
            <a:ext cx="2205860" cy="369332"/>
          </a:xfrm>
          <a:prstGeom prst="rect">
            <a:avLst/>
          </a:prstGeom>
          <a:noFill/>
        </p:spPr>
        <p:txBody>
          <a:bodyPr wrap="none" rtlCol="0">
            <a:spAutoFit/>
          </a:bodyPr>
          <a:lstStyle/>
          <a:p>
            <a:r>
              <a:rPr lang="en-US" b="1" dirty="0">
                <a:solidFill>
                  <a:srgbClr val="0000FF"/>
                </a:solidFill>
              </a:rPr>
              <a:t>Geometry Processing</a:t>
            </a:r>
          </a:p>
        </p:txBody>
      </p:sp>
      <p:sp>
        <p:nvSpPr>
          <p:cNvPr id="10" name="Rectangle 9">
            <a:extLst>
              <a:ext uri="{FF2B5EF4-FFF2-40B4-BE49-F238E27FC236}">
                <a16:creationId xmlns:a16="http://schemas.microsoft.com/office/drawing/2014/main" id="{66673096-346F-A59E-0CCF-3A551DF7B7AA}"/>
              </a:ext>
            </a:extLst>
          </p:cNvPr>
          <p:cNvSpPr/>
          <p:nvPr/>
        </p:nvSpPr>
        <p:spPr>
          <a:xfrm>
            <a:off x="3765116" y="2063698"/>
            <a:ext cx="2245899" cy="27657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3F33AF9-CCD7-D699-26B1-4003455AE32E}"/>
              </a:ext>
            </a:extLst>
          </p:cNvPr>
          <p:cNvSpPr/>
          <p:nvPr/>
        </p:nvSpPr>
        <p:spPr>
          <a:xfrm>
            <a:off x="6011015" y="2063698"/>
            <a:ext cx="3466838" cy="27657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0F20EA9-A9F7-DAF2-2AEA-B882DE70F01E}"/>
              </a:ext>
            </a:extLst>
          </p:cNvPr>
          <p:cNvSpPr txBox="1"/>
          <p:nvPr/>
        </p:nvSpPr>
        <p:spPr>
          <a:xfrm>
            <a:off x="4093303" y="1263305"/>
            <a:ext cx="1719573" cy="369332"/>
          </a:xfrm>
          <a:prstGeom prst="rect">
            <a:avLst/>
          </a:prstGeom>
          <a:noFill/>
        </p:spPr>
        <p:txBody>
          <a:bodyPr wrap="none" rtlCol="0">
            <a:spAutoFit/>
          </a:bodyPr>
          <a:lstStyle/>
          <a:p>
            <a:r>
              <a:rPr lang="en-US" b="1" dirty="0">
                <a:solidFill>
                  <a:srgbClr val="FF0000"/>
                </a:solidFill>
              </a:rPr>
              <a:t>Grid Generation</a:t>
            </a:r>
          </a:p>
        </p:txBody>
      </p:sp>
      <p:sp>
        <p:nvSpPr>
          <p:cNvPr id="6" name="TextBox 5">
            <a:extLst>
              <a:ext uri="{FF2B5EF4-FFF2-40B4-BE49-F238E27FC236}">
                <a16:creationId xmlns:a16="http://schemas.microsoft.com/office/drawing/2014/main" id="{C84C9787-83C8-8D44-048A-F9E7C57167A9}"/>
              </a:ext>
            </a:extLst>
          </p:cNvPr>
          <p:cNvSpPr txBox="1"/>
          <p:nvPr/>
        </p:nvSpPr>
        <p:spPr>
          <a:xfrm>
            <a:off x="7138595" y="1243637"/>
            <a:ext cx="1211678" cy="369332"/>
          </a:xfrm>
          <a:prstGeom prst="rect">
            <a:avLst/>
          </a:prstGeom>
          <a:noFill/>
        </p:spPr>
        <p:txBody>
          <a:bodyPr wrap="none" rtlCol="0">
            <a:spAutoFit/>
          </a:bodyPr>
          <a:lstStyle/>
          <a:p>
            <a:r>
              <a:rPr lang="en-US" b="1" dirty="0">
                <a:solidFill>
                  <a:schemeClr val="accent6"/>
                </a:solidFill>
              </a:rPr>
              <a:t>Simulation</a:t>
            </a:r>
          </a:p>
        </p:txBody>
      </p:sp>
      <p:cxnSp>
        <p:nvCxnSpPr>
          <p:cNvPr id="19" name="Straight Arrow Connector 18">
            <a:extLst>
              <a:ext uri="{FF2B5EF4-FFF2-40B4-BE49-F238E27FC236}">
                <a16:creationId xmlns:a16="http://schemas.microsoft.com/office/drawing/2014/main" id="{2DCA0372-AF83-0B91-B2EC-06EACB82CB96}"/>
              </a:ext>
            </a:extLst>
          </p:cNvPr>
          <p:cNvCxnSpPr>
            <a:cxnSpLocks/>
          </p:cNvCxnSpPr>
          <p:nvPr/>
        </p:nvCxnSpPr>
        <p:spPr>
          <a:xfrm>
            <a:off x="279897" y="1629687"/>
            <a:ext cx="91875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C881D91-A521-BB8B-C380-2052A05948E8}"/>
              </a:ext>
            </a:extLst>
          </p:cNvPr>
          <p:cNvSpPr txBox="1"/>
          <p:nvPr/>
        </p:nvSpPr>
        <p:spPr>
          <a:xfrm>
            <a:off x="10129036" y="1395602"/>
            <a:ext cx="1175578" cy="369332"/>
          </a:xfrm>
          <a:prstGeom prst="rect">
            <a:avLst/>
          </a:prstGeom>
          <a:noFill/>
        </p:spPr>
        <p:txBody>
          <a:bodyPr wrap="none" rtlCol="0">
            <a:spAutoFit/>
          </a:bodyPr>
          <a:lstStyle/>
          <a:p>
            <a:r>
              <a:rPr lang="en-US" b="1" u="sng" dirty="0"/>
              <a:t>Total Time</a:t>
            </a:r>
          </a:p>
        </p:txBody>
      </p:sp>
      <p:sp>
        <p:nvSpPr>
          <p:cNvPr id="3" name="TextBox 2">
            <a:extLst>
              <a:ext uri="{FF2B5EF4-FFF2-40B4-BE49-F238E27FC236}">
                <a16:creationId xmlns:a16="http://schemas.microsoft.com/office/drawing/2014/main" id="{00966F77-E5B8-FE2F-9844-8A072E5A5086}"/>
              </a:ext>
            </a:extLst>
          </p:cNvPr>
          <p:cNvSpPr txBox="1"/>
          <p:nvPr/>
        </p:nvSpPr>
        <p:spPr>
          <a:xfrm>
            <a:off x="227942" y="1675315"/>
            <a:ext cx="2110578" cy="369332"/>
          </a:xfrm>
          <a:prstGeom prst="rect">
            <a:avLst/>
          </a:prstGeom>
          <a:noFill/>
        </p:spPr>
        <p:txBody>
          <a:bodyPr wrap="none" rtlCol="0">
            <a:spAutoFit/>
          </a:bodyPr>
          <a:lstStyle/>
          <a:p>
            <a:r>
              <a:rPr lang="en-US" b="1" dirty="0"/>
              <a:t>Traditional/Baseline</a:t>
            </a:r>
          </a:p>
        </p:txBody>
      </p:sp>
      <p:sp>
        <p:nvSpPr>
          <p:cNvPr id="7" name="TextBox 6">
            <a:extLst>
              <a:ext uri="{FF2B5EF4-FFF2-40B4-BE49-F238E27FC236}">
                <a16:creationId xmlns:a16="http://schemas.microsoft.com/office/drawing/2014/main" id="{DA244876-C9FE-CBD6-4A8E-70766E553B4C}"/>
              </a:ext>
            </a:extLst>
          </p:cNvPr>
          <p:cNvSpPr txBox="1"/>
          <p:nvPr/>
        </p:nvSpPr>
        <p:spPr>
          <a:xfrm>
            <a:off x="1669208" y="1997013"/>
            <a:ext cx="786562" cy="369332"/>
          </a:xfrm>
          <a:prstGeom prst="rect">
            <a:avLst/>
          </a:prstGeom>
          <a:noFill/>
        </p:spPr>
        <p:txBody>
          <a:bodyPr wrap="none" rtlCol="0">
            <a:spAutoFit/>
          </a:bodyPr>
          <a:lstStyle/>
          <a:p>
            <a:r>
              <a:rPr lang="en-US" b="1" dirty="0"/>
              <a:t>4 days</a:t>
            </a:r>
          </a:p>
        </p:txBody>
      </p:sp>
      <p:sp>
        <p:nvSpPr>
          <p:cNvPr id="12" name="TextBox 11">
            <a:extLst>
              <a:ext uri="{FF2B5EF4-FFF2-40B4-BE49-F238E27FC236}">
                <a16:creationId xmlns:a16="http://schemas.microsoft.com/office/drawing/2014/main" id="{E1F164C1-16DA-7A93-69FF-ABA6DE36AED6}"/>
              </a:ext>
            </a:extLst>
          </p:cNvPr>
          <p:cNvSpPr txBox="1"/>
          <p:nvPr/>
        </p:nvSpPr>
        <p:spPr>
          <a:xfrm>
            <a:off x="4494785" y="2002762"/>
            <a:ext cx="786562" cy="369332"/>
          </a:xfrm>
          <a:prstGeom prst="rect">
            <a:avLst/>
          </a:prstGeom>
          <a:noFill/>
        </p:spPr>
        <p:txBody>
          <a:bodyPr wrap="none" rtlCol="0">
            <a:spAutoFit/>
          </a:bodyPr>
          <a:lstStyle/>
          <a:p>
            <a:r>
              <a:rPr lang="en-US" b="1" dirty="0"/>
              <a:t>2 days</a:t>
            </a:r>
          </a:p>
        </p:txBody>
      </p:sp>
      <p:sp>
        <p:nvSpPr>
          <p:cNvPr id="13" name="TextBox 12">
            <a:extLst>
              <a:ext uri="{FF2B5EF4-FFF2-40B4-BE49-F238E27FC236}">
                <a16:creationId xmlns:a16="http://schemas.microsoft.com/office/drawing/2014/main" id="{5EB99C8A-E6B9-1255-F4CB-BA3527837AF4}"/>
              </a:ext>
            </a:extLst>
          </p:cNvPr>
          <p:cNvSpPr txBox="1"/>
          <p:nvPr/>
        </p:nvSpPr>
        <p:spPr>
          <a:xfrm>
            <a:off x="7171002" y="2000807"/>
            <a:ext cx="1299523" cy="369332"/>
          </a:xfrm>
          <a:prstGeom prst="rect">
            <a:avLst/>
          </a:prstGeom>
          <a:noFill/>
        </p:spPr>
        <p:txBody>
          <a:bodyPr wrap="none" rtlCol="0">
            <a:spAutoFit/>
          </a:bodyPr>
          <a:lstStyle/>
          <a:p>
            <a:r>
              <a:rPr lang="en-US" b="1" dirty="0"/>
              <a:t>CPU: 4 days</a:t>
            </a:r>
          </a:p>
        </p:txBody>
      </p:sp>
      <p:sp>
        <p:nvSpPr>
          <p:cNvPr id="14" name="TextBox 13">
            <a:extLst>
              <a:ext uri="{FF2B5EF4-FFF2-40B4-BE49-F238E27FC236}">
                <a16:creationId xmlns:a16="http://schemas.microsoft.com/office/drawing/2014/main" id="{AB67C3EA-EDBB-D15D-7331-75EBE7D1ED0E}"/>
              </a:ext>
            </a:extLst>
          </p:cNvPr>
          <p:cNvSpPr txBox="1"/>
          <p:nvPr/>
        </p:nvSpPr>
        <p:spPr>
          <a:xfrm>
            <a:off x="10265035" y="1993103"/>
            <a:ext cx="903581" cy="369332"/>
          </a:xfrm>
          <a:prstGeom prst="rect">
            <a:avLst/>
          </a:prstGeom>
          <a:noFill/>
        </p:spPr>
        <p:txBody>
          <a:bodyPr wrap="none" rtlCol="0">
            <a:spAutoFit/>
          </a:bodyPr>
          <a:lstStyle/>
          <a:p>
            <a:r>
              <a:rPr lang="en-US" b="1" dirty="0"/>
              <a:t>10 days</a:t>
            </a:r>
          </a:p>
        </p:txBody>
      </p:sp>
      <p:sp>
        <p:nvSpPr>
          <p:cNvPr id="30" name="Rectangle 29">
            <a:extLst>
              <a:ext uri="{FF2B5EF4-FFF2-40B4-BE49-F238E27FC236}">
                <a16:creationId xmlns:a16="http://schemas.microsoft.com/office/drawing/2014/main" id="{4DA2A919-1756-F38A-34A8-E5338631A3F7}"/>
              </a:ext>
            </a:extLst>
          </p:cNvPr>
          <p:cNvSpPr/>
          <p:nvPr/>
        </p:nvSpPr>
        <p:spPr>
          <a:xfrm>
            <a:off x="290289" y="2821459"/>
            <a:ext cx="3466838" cy="276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563A2EF-21F0-C76C-504A-739AD07694D0}"/>
              </a:ext>
            </a:extLst>
          </p:cNvPr>
          <p:cNvSpPr/>
          <p:nvPr/>
        </p:nvSpPr>
        <p:spPr>
          <a:xfrm>
            <a:off x="3765116" y="2821459"/>
            <a:ext cx="3466838" cy="27657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4FD4CA6-1C6F-F87B-1B75-7E7D5D07C703}"/>
              </a:ext>
            </a:extLst>
          </p:cNvPr>
          <p:cNvSpPr txBox="1"/>
          <p:nvPr/>
        </p:nvSpPr>
        <p:spPr>
          <a:xfrm>
            <a:off x="227942" y="2439794"/>
            <a:ext cx="1540165" cy="369332"/>
          </a:xfrm>
          <a:prstGeom prst="rect">
            <a:avLst/>
          </a:prstGeom>
          <a:noFill/>
        </p:spPr>
        <p:txBody>
          <a:bodyPr wrap="none" rtlCol="0">
            <a:spAutoFit/>
          </a:bodyPr>
          <a:lstStyle/>
          <a:p>
            <a:r>
              <a:rPr lang="en-US" b="1" dirty="0"/>
              <a:t>Auto-Meshing</a:t>
            </a:r>
          </a:p>
        </p:txBody>
      </p:sp>
      <p:sp>
        <p:nvSpPr>
          <p:cNvPr id="34" name="TextBox 33">
            <a:extLst>
              <a:ext uri="{FF2B5EF4-FFF2-40B4-BE49-F238E27FC236}">
                <a16:creationId xmlns:a16="http://schemas.microsoft.com/office/drawing/2014/main" id="{B1969DE8-54E6-E3E1-0F57-885B93441348}"/>
              </a:ext>
            </a:extLst>
          </p:cNvPr>
          <p:cNvSpPr txBox="1"/>
          <p:nvPr/>
        </p:nvSpPr>
        <p:spPr>
          <a:xfrm>
            <a:off x="1669208" y="2764713"/>
            <a:ext cx="786562" cy="369332"/>
          </a:xfrm>
          <a:prstGeom prst="rect">
            <a:avLst/>
          </a:prstGeom>
          <a:noFill/>
        </p:spPr>
        <p:txBody>
          <a:bodyPr wrap="none" rtlCol="0">
            <a:spAutoFit/>
          </a:bodyPr>
          <a:lstStyle/>
          <a:p>
            <a:r>
              <a:rPr lang="en-US" b="1" dirty="0"/>
              <a:t>4 days</a:t>
            </a:r>
          </a:p>
        </p:txBody>
      </p:sp>
      <p:sp>
        <p:nvSpPr>
          <p:cNvPr id="36" name="TextBox 35">
            <a:extLst>
              <a:ext uri="{FF2B5EF4-FFF2-40B4-BE49-F238E27FC236}">
                <a16:creationId xmlns:a16="http://schemas.microsoft.com/office/drawing/2014/main" id="{A399BDD8-3882-8018-1E76-425322BFF9D3}"/>
              </a:ext>
            </a:extLst>
          </p:cNvPr>
          <p:cNvSpPr txBox="1"/>
          <p:nvPr/>
        </p:nvSpPr>
        <p:spPr>
          <a:xfrm>
            <a:off x="4848773" y="2768542"/>
            <a:ext cx="1299523" cy="369332"/>
          </a:xfrm>
          <a:prstGeom prst="rect">
            <a:avLst/>
          </a:prstGeom>
          <a:noFill/>
        </p:spPr>
        <p:txBody>
          <a:bodyPr wrap="none" rtlCol="0">
            <a:spAutoFit/>
          </a:bodyPr>
          <a:lstStyle/>
          <a:p>
            <a:r>
              <a:rPr lang="en-US" b="1" dirty="0"/>
              <a:t>CPU: 4 days</a:t>
            </a:r>
          </a:p>
        </p:txBody>
      </p:sp>
      <p:sp>
        <p:nvSpPr>
          <p:cNvPr id="37" name="TextBox 36">
            <a:extLst>
              <a:ext uri="{FF2B5EF4-FFF2-40B4-BE49-F238E27FC236}">
                <a16:creationId xmlns:a16="http://schemas.microsoft.com/office/drawing/2014/main" id="{2FBD4CF1-7DD4-FE74-7DD5-EE82BE2EDE52}"/>
              </a:ext>
            </a:extLst>
          </p:cNvPr>
          <p:cNvSpPr txBox="1"/>
          <p:nvPr/>
        </p:nvSpPr>
        <p:spPr>
          <a:xfrm>
            <a:off x="10323544" y="2728641"/>
            <a:ext cx="786562" cy="369332"/>
          </a:xfrm>
          <a:prstGeom prst="rect">
            <a:avLst/>
          </a:prstGeom>
          <a:noFill/>
        </p:spPr>
        <p:txBody>
          <a:bodyPr wrap="none" rtlCol="0">
            <a:spAutoFit/>
          </a:bodyPr>
          <a:lstStyle/>
          <a:p>
            <a:r>
              <a:rPr lang="en-US" b="1" dirty="0"/>
              <a:t>8 days</a:t>
            </a:r>
          </a:p>
        </p:txBody>
      </p:sp>
      <p:sp>
        <p:nvSpPr>
          <p:cNvPr id="49" name="TextBox 48">
            <a:extLst>
              <a:ext uri="{FF2B5EF4-FFF2-40B4-BE49-F238E27FC236}">
                <a16:creationId xmlns:a16="http://schemas.microsoft.com/office/drawing/2014/main" id="{00293D30-B9F4-5EFF-7720-EC4E753B0CF9}"/>
              </a:ext>
            </a:extLst>
          </p:cNvPr>
          <p:cNvSpPr txBox="1"/>
          <p:nvPr/>
        </p:nvSpPr>
        <p:spPr>
          <a:xfrm>
            <a:off x="227942" y="4733231"/>
            <a:ext cx="5523115" cy="369332"/>
          </a:xfrm>
          <a:prstGeom prst="rect">
            <a:avLst/>
          </a:prstGeom>
          <a:noFill/>
        </p:spPr>
        <p:txBody>
          <a:bodyPr wrap="none" rtlCol="0">
            <a:spAutoFit/>
          </a:bodyPr>
          <a:lstStyle/>
          <a:p>
            <a:r>
              <a:rPr lang="en-US" b="1" dirty="0"/>
              <a:t>Shrink-wrapping (Immersed Boundary) + GPU Execution</a:t>
            </a:r>
          </a:p>
        </p:txBody>
      </p:sp>
      <p:sp>
        <p:nvSpPr>
          <p:cNvPr id="53" name="TextBox 52">
            <a:extLst>
              <a:ext uri="{FF2B5EF4-FFF2-40B4-BE49-F238E27FC236}">
                <a16:creationId xmlns:a16="http://schemas.microsoft.com/office/drawing/2014/main" id="{59C438AF-B4D8-5B65-2E6C-315AA30751E1}"/>
              </a:ext>
            </a:extLst>
          </p:cNvPr>
          <p:cNvSpPr txBox="1"/>
          <p:nvPr/>
        </p:nvSpPr>
        <p:spPr>
          <a:xfrm>
            <a:off x="10392666" y="4977874"/>
            <a:ext cx="648319" cy="369332"/>
          </a:xfrm>
          <a:prstGeom prst="rect">
            <a:avLst/>
          </a:prstGeom>
          <a:noFill/>
        </p:spPr>
        <p:txBody>
          <a:bodyPr wrap="none" rtlCol="0">
            <a:spAutoFit/>
          </a:bodyPr>
          <a:lstStyle/>
          <a:p>
            <a:r>
              <a:rPr lang="en-US" b="1" dirty="0"/>
              <a:t>8 </a:t>
            </a:r>
            <a:r>
              <a:rPr lang="en-US" b="1" dirty="0" err="1"/>
              <a:t>hrs</a:t>
            </a:r>
            <a:endParaRPr lang="en-US" b="1" dirty="0"/>
          </a:p>
        </p:txBody>
      </p:sp>
      <p:sp>
        <p:nvSpPr>
          <p:cNvPr id="63" name="Rectangle 62">
            <a:extLst>
              <a:ext uri="{FF2B5EF4-FFF2-40B4-BE49-F238E27FC236}">
                <a16:creationId xmlns:a16="http://schemas.microsoft.com/office/drawing/2014/main" id="{A54EDE31-BD86-A650-6F9A-192E04422FE6}"/>
              </a:ext>
            </a:extLst>
          </p:cNvPr>
          <p:cNvSpPr/>
          <p:nvPr/>
        </p:nvSpPr>
        <p:spPr>
          <a:xfrm>
            <a:off x="287427" y="3591308"/>
            <a:ext cx="401622" cy="27657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4418591B-9D43-3F2B-409B-CA48F637DBAC}"/>
              </a:ext>
            </a:extLst>
          </p:cNvPr>
          <p:cNvSpPr/>
          <p:nvPr/>
        </p:nvSpPr>
        <p:spPr>
          <a:xfrm>
            <a:off x="689049" y="3591308"/>
            <a:ext cx="3466838" cy="27657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0883562E-3CED-0543-79C9-20DCF872E2BD}"/>
              </a:ext>
            </a:extLst>
          </p:cNvPr>
          <p:cNvSpPr txBox="1"/>
          <p:nvPr/>
        </p:nvSpPr>
        <p:spPr>
          <a:xfrm>
            <a:off x="227942" y="3204273"/>
            <a:ext cx="2685607" cy="369332"/>
          </a:xfrm>
          <a:prstGeom prst="rect">
            <a:avLst/>
          </a:prstGeom>
          <a:noFill/>
        </p:spPr>
        <p:txBody>
          <a:bodyPr wrap="none" rtlCol="0">
            <a:spAutoFit/>
          </a:bodyPr>
          <a:lstStyle/>
          <a:p>
            <a:r>
              <a:rPr lang="en-US" b="1" dirty="0"/>
              <a:t>Shrink-wrapping (Volume)</a:t>
            </a:r>
          </a:p>
        </p:txBody>
      </p:sp>
      <p:sp>
        <p:nvSpPr>
          <p:cNvPr id="68" name="TextBox 67">
            <a:extLst>
              <a:ext uri="{FF2B5EF4-FFF2-40B4-BE49-F238E27FC236}">
                <a16:creationId xmlns:a16="http://schemas.microsoft.com/office/drawing/2014/main" id="{61DF03E5-E77E-06A5-A0AD-3FC313AF6A00}"/>
              </a:ext>
            </a:extLst>
          </p:cNvPr>
          <p:cNvSpPr txBox="1"/>
          <p:nvPr/>
        </p:nvSpPr>
        <p:spPr>
          <a:xfrm>
            <a:off x="1849036" y="3544929"/>
            <a:ext cx="1299523" cy="369332"/>
          </a:xfrm>
          <a:prstGeom prst="rect">
            <a:avLst/>
          </a:prstGeom>
          <a:noFill/>
        </p:spPr>
        <p:txBody>
          <a:bodyPr wrap="none" rtlCol="0">
            <a:spAutoFit/>
          </a:bodyPr>
          <a:lstStyle/>
          <a:p>
            <a:r>
              <a:rPr lang="en-US" b="1" dirty="0"/>
              <a:t>CPU: 4 days</a:t>
            </a:r>
          </a:p>
        </p:txBody>
      </p:sp>
      <p:sp>
        <p:nvSpPr>
          <p:cNvPr id="69" name="TextBox 68">
            <a:extLst>
              <a:ext uri="{FF2B5EF4-FFF2-40B4-BE49-F238E27FC236}">
                <a16:creationId xmlns:a16="http://schemas.microsoft.com/office/drawing/2014/main" id="{51FBD092-9F0C-0DB5-9ABF-5CD1645EF52F}"/>
              </a:ext>
            </a:extLst>
          </p:cNvPr>
          <p:cNvSpPr txBox="1"/>
          <p:nvPr/>
        </p:nvSpPr>
        <p:spPr>
          <a:xfrm>
            <a:off x="10323544" y="3430452"/>
            <a:ext cx="786562" cy="369332"/>
          </a:xfrm>
          <a:prstGeom prst="rect">
            <a:avLst/>
          </a:prstGeom>
          <a:noFill/>
        </p:spPr>
        <p:txBody>
          <a:bodyPr wrap="none" rtlCol="0">
            <a:spAutoFit/>
          </a:bodyPr>
          <a:lstStyle/>
          <a:p>
            <a:r>
              <a:rPr lang="en-US" b="1" dirty="0"/>
              <a:t>4 days</a:t>
            </a:r>
          </a:p>
        </p:txBody>
      </p:sp>
      <p:sp>
        <p:nvSpPr>
          <p:cNvPr id="70" name="TextBox 69">
            <a:extLst>
              <a:ext uri="{FF2B5EF4-FFF2-40B4-BE49-F238E27FC236}">
                <a16:creationId xmlns:a16="http://schemas.microsoft.com/office/drawing/2014/main" id="{99E5AAD8-56E5-5B5E-811F-803BF29649AF}"/>
              </a:ext>
            </a:extLst>
          </p:cNvPr>
          <p:cNvSpPr txBox="1"/>
          <p:nvPr/>
        </p:nvSpPr>
        <p:spPr>
          <a:xfrm>
            <a:off x="249230" y="3544929"/>
            <a:ext cx="478016" cy="369332"/>
          </a:xfrm>
          <a:prstGeom prst="rect">
            <a:avLst/>
          </a:prstGeom>
          <a:noFill/>
        </p:spPr>
        <p:txBody>
          <a:bodyPr wrap="none" rtlCol="0">
            <a:spAutoFit/>
          </a:bodyPr>
          <a:lstStyle/>
          <a:p>
            <a:r>
              <a:rPr lang="en-US" b="1" dirty="0"/>
              <a:t>5 h</a:t>
            </a:r>
          </a:p>
        </p:txBody>
      </p:sp>
      <p:sp>
        <p:nvSpPr>
          <p:cNvPr id="79" name="Rectangle 78">
            <a:extLst>
              <a:ext uri="{FF2B5EF4-FFF2-40B4-BE49-F238E27FC236}">
                <a16:creationId xmlns:a16="http://schemas.microsoft.com/office/drawing/2014/main" id="{6914ED40-18D2-2F2B-C0BE-340987ADAE8C}"/>
              </a:ext>
            </a:extLst>
          </p:cNvPr>
          <p:cNvSpPr/>
          <p:nvPr/>
        </p:nvSpPr>
        <p:spPr>
          <a:xfrm>
            <a:off x="291937" y="5107665"/>
            <a:ext cx="246423" cy="27657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214539D4-8555-4309-71B1-F04A1A636F7D}"/>
              </a:ext>
            </a:extLst>
          </p:cNvPr>
          <p:cNvSpPr/>
          <p:nvPr/>
        </p:nvSpPr>
        <p:spPr>
          <a:xfrm>
            <a:off x="536963" y="5107665"/>
            <a:ext cx="819889" cy="27657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E8FC8BB3-E48F-FA35-60AC-ECA463A02315}"/>
              </a:ext>
            </a:extLst>
          </p:cNvPr>
          <p:cNvSpPr txBox="1"/>
          <p:nvPr/>
        </p:nvSpPr>
        <p:spPr>
          <a:xfrm>
            <a:off x="645899" y="5059653"/>
            <a:ext cx="648319" cy="369332"/>
          </a:xfrm>
          <a:prstGeom prst="rect">
            <a:avLst/>
          </a:prstGeom>
          <a:noFill/>
        </p:spPr>
        <p:txBody>
          <a:bodyPr wrap="none" rtlCol="0">
            <a:spAutoFit/>
          </a:bodyPr>
          <a:lstStyle/>
          <a:p>
            <a:r>
              <a:rPr lang="en-US" b="1" dirty="0"/>
              <a:t>6 </a:t>
            </a:r>
            <a:r>
              <a:rPr lang="en-US" b="1" dirty="0" err="1"/>
              <a:t>hrs</a:t>
            </a:r>
            <a:endParaRPr lang="en-US" b="1" dirty="0"/>
          </a:p>
        </p:txBody>
      </p:sp>
      <p:sp>
        <p:nvSpPr>
          <p:cNvPr id="82" name="TextBox 81">
            <a:extLst>
              <a:ext uri="{FF2B5EF4-FFF2-40B4-BE49-F238E27FC236}">
                <a16:creationId xmlns:a16="http://schemas.microsoft.com/office/drawing/2014/main" id="{C00C8DCE-3FBF-0C9B-CF1B-1C05E9C38A87}"/>
              </a:ext>
            </a:extLst>
          </p:cNvPr>
          <p:cNvSpPr txBox="1"/>
          <p:nvPr/>
        </p:nvSpPr>
        <p:spPr>
          <a:xfrm>
            <a:off x="263572" y="5061286"/>
            <a:ext cx="246423" cy="369332"/>
          </a:xfrm>
          <a:prstGeom prst="rect">
            <a:avLst/>
          </a:prstGeom>
          <a:noFill/>
        </p:spPr>
        <p:txBody>
          <a:bodyPr wrap="square" rtlCol="0">
            <a:spAutoFit/>
          </a:bodyPr>
          <a:lstStyle/>
          <a:p>
            <a:r>
              <a:rPr lang="en-US" b="1" dirty="0"/>
              <a:t>2</a:t>
            </a:r>
          </a:p>
        </p:txBody>
      </p:sp>
      <p:sp>
        <p:nvSpPr>
          <p:cNvPr id="16" name="Rectangle 15">
            <a:extLst>
              <a:ext uri="{FF2B5EF4-FFF2-40B4-BE49-F238E27FC236}">
                <a16:creationId xmlns:a16="http://schemas.microsoft.com/office/drawing/2014/main" id="{FB60A84E-41CD-1FBC-3C02-E88213ED4AC5}"/>
              </a:ext>
            </a:extLst>
          </p:cNvPr>
          <p:cNvSpPr/>
          <p:nvPr/>
        </p:nvSpPr>
        <p:spPr>
          <a:xfrm>
            <a:off x="295772" y="4346624"/>
            <a:ext cx="401622" cy="27657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6F30F4-1EA7-2D4C-2343-5280F974D04F}"/>
              </a:ext>
            </a:extLst>
          </p:cNvPr>
          <p:cNvSpPr/>
          <p:nvPr/>
        </p:nvSpPr>
        <p:spPr>
          <a:xfrm>
            <a:off x="697394" y="4346624"/>
            <a:ext cx="2045806" cy="27657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0FB7634-3EA8-C510-021E-C5DFD94EB435}"/>
              </a:ext>
            </a:extLst>
          </p:cNvPr>
          <p:cNvSpPr txBox="1"/>
          <p:nvPr/>
        </p:nvSpPr>
        <p:spPr>
          <a:xfrm>
            <a:off x="227942" y="3968752"/>
            <a:ext cx="4480265" cy="369332"/>
          </a:xfrm>
          <a:prstGeom prst="rect">
            <a:avLst/>
          </a:prstGeom>
          <a:noFill/>
        </p:spPr>
        <p:txBody>
          <a:bodyPr wrap="none" rtlCol="0">
            <a:spAutoFit/>
          </a:bodyPr>
          <a:lstStyle/>
          <a:p>
            <a:r>
              <a:rPr lang="en-US" b="1" dirty="0"/>
              <a:t>Shrink-wrapping (Volume) + GPU Execution</a:t>
            </a:r>
          </a:p>
        </p:txBody>
      </p:sp>
      <p:sp>
        <p:nvSpPr>
          <p:cNvPr id="20" name="TextBox 19">
            <a:extLst>
              <a:ext uri="{FF2B5EF4-FFF2-40B4-BE49-F238E27FC236}">
                <a16:creationId xmlns:a16="http://schemas.microsoft.com/office/drawing/2014/main" id="{5B7FC394-9D85-4915-5DE0-783043A24ABC}"/>
              </a:ext>
            </a:extLst>
          </p:cNvPr>
          <p:cNvSpPr txBox="1"/>
          <p:nvPr/>
        </p:nvSpPr>
        <p:spPr>
          <a:xfrm>
            <a:off x="970059" y="4300245"/>
            <a:ext cx="1303947" cy="369332"/>
          </a:xfrm>
          <a:prstGeom prst="rect">
            <a:avLst/>
          </a:prstGeom>
          <a:noFill/>
        </p:spPr>
        <p:txBody>
          <a:bodyPr wrap="none" rtlCol="0">
            <a:spAutoFit/>
          </a:bodyPr>
          <a:lstStyle/>
          <a:p>
            <a:r>
              <a:rPr lang="en-US" b="1" dirty="0"/>
              <a:t>GPU: 20 </a:t>
            </a:r>
            <a:r>
              <a:rPr lang="en-US" b="1" dirty="0" err="1"/>
              <a:t>hrs</a:t>
            </a:r>
            <a:endParaRPr lang="en-US" b="1" dirty="0"/>
          </a:p>
        </p:txBody>
      </p:sp>
      <p:sp>
        <p:nvSpPr>
          <p:cNvPr id="22" name="TextBox 21">
            <a:extLst>
              <a:ext uri="{FF2B5EF4-FFF2-40B4-BE49-F238E27FC236}">
                <a16:creationId xmlns:a16="http://schemas.microsoft.com/office/drawing/2014/main" id="{068640F2-1248-58EA-0446-39BA4C4ADCA2}"/>
              </a:ext>
            </a:extLst>
          </p:cNvPr>
          <p:cNvSpPr txBox="1"/>
          <p:nvPr/>
        </p:nvSpPr>
        <p:spPr>
          <a:xfrm>
            <a:off x="10368492" y="4195707"/>
            <a:ext cx="696666" cy="369332"/>
          </a:xfrm>
          <a:prstGeom prst="rect">
            <a:avLst/>
          </a:prstGeom>
          <a:noFill/>
        </p:spPr>
        <p:txBody>
          <a:bodyPr wrap="none" rtlCol="0">
            <a:spAutoFit/>
          </a:bodyPr>
          <a:lstStyle/>
          <a:p>
            <a:r>
              <a:rPr lang="en-US" b="1" dirty="0"/>
              <a:t>1 day</a:t>
            </a:r>
          </a:p>
        </p:txBody>
      </p:sp>
      <p:sp>
        <p:nvSpPr>
          <p:cNvPr id="24" name="TextBox 23">
            <a:extLst>
              <a:ext uri="{FF2B5EF4-FFF2-40B4-BE49-F238E27FC236}">
                <a16:creationId xmlns:a16="http://schemas.microsoft.com/office/drawing/2014/main" id="{84E644D3-5E82-1462-C940-41BC54C5F61D}"/>
              </a:ext>
            </a:extLst>
          </p:cNvPr>
          <p:cNvSpPr txBox="1"/>
          <p:nvPr/>
        </p:nvSpPr>
        <p:spPr>
          <a:xfrm>
            <a:off x="257575" y="4300245"/>
            <a:ext cx="478016" cy="369332"/>
          </a:xfrm>
          <a:prstGeom prst="rect">
            <a:avLst/>
          </a:prstGeom>
          <a:noFill/>
        </p:spPr>
        <p:txBody>
          <a:bodyPr wrap="none" rtlCol="0">
            <a:spAutoFit/>
          </a:bodyPr>
          <a:lstStyle/>
          <a:p>
            <a:r>
              <a:rPr lang="en-US" b="1" dirty="0"/>
              <a:t>5 h</a:t>
            </a:r>
          </a:p>
        </p:txBody>
      </p:sp>
      <p:sp>
        <p:nvSpPr>
          <p:cNvPr id="25" name="TextBox 24">
            <a:extLst>
              <a:ext uri="{FF2B5EF4-FFF2-40B4-BE49-F238E27FC236}">
                <a16:creationId xmlns:a16="http://schemas.microsoft.com/office/drawing/2014/main" id="{3FA09C9F-6044-0B52-A79D-498B9965D34A}"/>
              </a:ext>
            </a:extLst>
          </p:cNvPr>
          <p:cNvSpPr txBox="1"/>
          <p:nvPr/>
        </p:nvSpPr>
        <p:spPr>
          <a:xfrm>
            <a:off x="227942" y="5497711"/>
            <a:ext cx="8649355" cy="369332"/>
          </a:xfrm>
          <a:prstGeom prst="rect">
            <a:avLst/>
          </a:prstGeom>
          <a:noFill/>
        </p:spPr>
        <p:txBody>
          <a:bodyPr wrap="none" rtlCol="0">
            <a:spAutoFit/>
          </a:bodyPr>
          <a:lstStyle/>
          <a:p>
            <a:r>
              <a:rPr lang="en-US" b="1" dirty="0"/>
              <a:t>Shrink-wrapping (Immersed Boundary) + GPU Execution +  10% chord engineering fidelity</a:t>
            </a:r>
          </a:p>
        </p:txBody>
      </p:sp>
      <p:sp>
        <p:nvSpPr>
          <p:cNvPr id="26" name="TextBox 25">
            <a:extLst>
              <a:ext uri="{FF2B5EF4-FFF2-40B4-BE49-F238E27FC236}">
                <a16:creationId xmlns:a16="http://schemas.microsoft.com/office/drawing/2014/main" id="{19D51B71-2678-EC93-8A07-A10C8E3115BF}"/>
              </a:ext>
            </a:extLst>
          </p:cNvPr>
          <p:cNvSpPr txBox="1"/>
          <p:nvPr/>
        </p:nvSpPr>
        <p:spPr>
          <a:xfrm>
            <a:off x="10392666" y="5741880"/>
            <a:ext cx="648319" cy="369332"/>
          </a:xfrm>
          <a:prstGeom prst="rect">
            <a:avLst/>
          </a:prstGeom>
          <a:noFill/>
        </p:spPr>
        <p:txBody>
          <a:bodyPr wrap="none" rtlCol="0">
            <a:spAutoFit/>
          </a:bodyPr>
          <a:lstStyle/>
          <a:p>
            <a:r>
              <a:rPr lang="en-US" b="1" dirty="0"/>
              <a:t>4 </a:t>
            </a:r>
            <a:r>
              <a:rPr lang="en-US" b="1" dirty="0" err="1"/>
              <a:t>hrs</a:t>
            </a:r>
            <a:endParaRPr lang="en-US" b="1" dirty="0"/>
          </a:p>
        </p:txBody>
      </p:sp>
      <p:sp>
        <p:nvSpPr>
          <p:cNvPr id="27" name="Rectangle 26">
            <a:extLst>
              <a:ext uri="{FF2B5EF4-FFF2-40B4-BE49-F238E27FC236}">
                <a16:creationId xmlns:a16="http://schemas.microsoft.com/office/drawing/2014/main" id="{8878E887-BC01-5C88-6E8E-8C18A7D39849}"/>
              </a:ext>
            </a:extLst>
          </p:cNvPr>
          <p:cNvSpPr/>
          <p:nvPr/>
        </p:nvSpPr>
        <p:spPr>
          <a:xfrm>
            <a:off x="288024" y="5881503"/>
            <a:ext cx="246423" cy="27657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E539BCF-1F79-C841-7446-192EB9726F47}"/>
              </a:ext>
            </a:extLst>
          </p:cNvPr>
          <p:cNvSpPr/>
          <p:nvPr/>
        </p:nvSpPr>
        <p:spPr>
          <a:xfrm>
            <a:off x="533050" y="5881503"/>
            <a:ext cx="293251" cy="27657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62D8D6A3-E1EB-C057-7F18-F784590421F5}"/>
              </a:ext>
            </a:extLst>
          </p:cNvPr>
          <p:cNvSpPr txBox="1"/>
          <p:nvPr/>
        </p:nvSpPr>
        <p:spPr>
          <a:xfrm>
            <a:off x="544279" y="5829901"/>
            <a:ext cx="301686" cy="369332"/>
          </a:xfrm>
          <a:prstGeom prst="rect">
            <a:avLst/>
          </a:prstGeom>
          <a:noFill/>
        </p:spPr>
        <p:txBody>
          <a:bodyPr wrap="none" rtlCol="0">
            <a:spAutoFit/>
          </a:bodyPr>
          <a:lstStyle/>
          <a:p>
            <a:r>
              <a:rPr lang="en-US" b="1" dirty="0"/>
              <a:t>2</a:t>
            </a:r>
          </a:p>
        </p:txBody>
      </p:sp>
      <p:sp>
        <p:nvSpPr>
          <p:cNvPr id="35" name="TextBox 34">
            <a:extLst>
              <a:ext uri="{FF2B5EF4-FFF2-40B4-BE49-F238E27FC236}">
                <a16:creationId xmlns:a16="http://schemas.microsoft.com/office/drawing/2014/main" id="{593A49E2-E62F-DD59-E759-D185467558CA}"/>
              </a:ext>
            </a:extLst>
          </p:cNvPr>
          <p:cNvSpPr txBox="1"/>
          <p:nvPr/>
        </p:nvSpPr>
        <p:spPr>
          <a:xfrm>
            <a:off x="259659" y="5835124"/>
            <a:ext cx="246423" cy="369332"/>
          </a:xfrm>
          <a:prstGeom prst="rect">
            <a:avLst/>
          </a:prstGeom>
          <a:noFill/>
        </p:spPr>
        <p:txBody>
          <a:bodyPr wrap="square" rtlCol="0">
            <a:spAutoFit/>
          </a:bodyPr>
          <a:lstStyle/>
          <a:p>
            <a:r>
              <a:rPr lang="en-US" b="1" dirty="0"/>
              <a:t>2</a:t>
            </a:r>
          </a:p>
        </p:txBody>
      </p:sp>
      <p:sp>
        <p:nvSpPr>
          <p:cNvPr id="15" name="TextBox 14">
            <a:extLst>
              <a:ext uri="{FF2B5EF4-FFF2-40B4-BE49-F238E27FC236}">
                <a16:creationId xmlns:a16="http://schemas.microsoft.com/office/drawing/2014/main" id="{61FEE9A2-63EE-ED1E-8469-993FE8431F8B}"/>
              </a:ext>
            </a:extLst>
          </p:cNvPr>
          <p:cNvSpPr txBox="1"/>
          <p:nvPr/>
        </p:nvSpPr>
        <p:spPr>
          <a:xfrm>
            <a:off x="913598" y="3552861"/>
            <a:ext cx="10364804" cy="461665"/>
          </a:xfrm>
          <a:prstGeom prst="rect">
            <a:avLst/>
          </a:prstGeom>
          <a:solidFill>
            <a:schemeClr val="bg1"/>
          </a:solidFill>
          <a:ln w="25400">
            <a:solidFill>
              <a:schemeClr val="tx1"/>
            </a:solidFill>
          </a:ln>
        </p:spPr>
        <p:txBody>
          <a:bodyPr wrap="square" rtlCol="0">
            <a:spAutoFit/>
          </a:bodyPr>
          <a:lstStyle/>
          <a:p>
            <a:pPr algn="ctr"/>
            <a:r>
              <a:rPr lang="en-US" sz="2400" b="1" dirty="0"/>
              <a:t>Saved time in the overall workflow and predicted comparable results</a:t>
            </a:r>
          </a:p>
        </p:txBody>
      </p:sp>
      <p:sp>
        <p:nvSpPr>
          <p:cNvPr id="39" name="Text Placeholder 6">
            <a:extLst>
              <a:ext uri="{FF2B5EF4-FFF2-40B4-BE49-F238E27FC236}">
                <a16:creationId xmlns:a16="http://schemas.microsoft.com/office/drawing/2014/main" id="{21168103-28BE-1E4C-D754-791EB052063C}"/>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23348214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Acknowledgements</a:t>
            </a:r>
          </a:p>
        </p:txBody>
      </p:sp>
      <p:sp>
        <p:nvSpPr>
          <p:cNvPr id="4" name="Slide Number Placeholder 3"/>
          <p:cNvSpPr>
            <a:spLocks noGrp="1"/>
          </p:cNvSpPr>
          <p:nvPr>
            <p:ph type="sldNum" sz="quarter" idx="4294967295"/>
          </p:nvPr>
        </p:nvSpPr>
        <p:spPr>
          <a:xfrm>
            <a:off x="11827822" y="6492875"/>
            <a:ext cx="364177" cy="365125"/>
          </a:xfrm>
        </p:spPr>
        <p:txBody>
          <a:bodyPr/>
          <a:lstStyle/>
          <a:p>
            <a:fld id="{0CC6EB08-C5DF-41C5-8641-59CC91753336}" type="slidenum">
              <a:rPr lang="en-US" smtClean="0">
                <a:latin typeface="Arial" panose="020B0604020202020204" pitchFamily="34" charset="0"/>
                <a:cs typeface="Arial" panose="020B0604020202020204" pitchFamily="34" charset="0"/>
              </a:rPr>
              <a:t>32</a:t>
            </a:fld>
            <a:endParaRPr lang="en-US" dirty="0">
              <a:latin typeface="Arial" panose="020B0604020202020204" pitchFamily="34" charset="0"/>
              <a:cs typeface="Arial" panose="020B0604020202020204" pitchFamily="34" charset="0"/>
            </a:endParaRPr>
          </a:p>
        </p:txBody>
      </p:sp>
      <p:sp>
        <p:nvSpPr>
          <p:cNvPr id="5" name="Content Placeholder 2"/>
          <p:cNvSpPr txBox="1">
            <a:spLocks/>
          </p:cNvSpPr>
          <p:nvPr/>
        </p:nvSpPr>
        <p:spPr>
          <a:xfrm>
            <a:off x="425532" y="2395383"/>
            <a:ext cx="11340935" cy="2067233"/>
          </a:xfrm>
          <a:prstGeom prst="rect">
            <a:avLst/>
          </a:prstGeom>
        </p:spPr>
        <p:txBody>
          <a:bodyPr vert="horz" wrap="square" lIns="91440" tIns="45720" rIns="91440" bIns="45720" rtlCol="0">
            <a:spAutoFit/>
          </a:bodyPr>
          <a:lstStyle>
            <a:lvl1pPr marL="342900" indent="-342900" algn="l" defTabSz="914400" rtl="0" eaLnBrk="1" latinLnBrk="0" hangingPunct="1">
              <a:spcBef>
                <a:spcPts val="1000"/>
              </a:spcBef>
              <a:buClr>
                <a:srgbClr val="C00000"/>
              </a:buClr>
              <a:buSzPct val="112000"/>
              <a:buFont typeface="Wingdings 2" pitchFamily="18" charset="2"/>
              <a:buChar char=""/>
              <a:defRPr sz="2400" b="1" kern="1200">
                <a:solidFill>
                  <a:schemeClr val="tx1"/>
                </a:solidFill>
                <a:latin typeface="Arial" pitchFamily="34" charset="0"/>
                <a:ea typeface="+mn-ea"/>
                <a:cs typeface="Arial" pitchFamily="34" charset="0"/>
              </a:defRPr>
            </a:lvl1pPr>
            <a:lvl2pPr marL="684213" indent="-342900" algn="l" defTabSz="914400" rtl="0" eaLnBrk="1" latinLnBrk="0" hangingPunct="1">
              <a:spcBef>
                <a:spcPts val="600"/>
              </a:spcBef>
              <a:buClr>
                <a:schemeClr val="tx1">
                  <a:lumMod val="75000"/>
                  <a:lumOff val="25000"/>
                </a:schemeClr>
              </a:buClr>
              <a:buSzPct val="120000"/>
              <a:buFont typeface="Arial" pitchFamily="34" charset="0"/>
              <a:buChar char="–"/>
              <a:defRPr sz="1800" b="0" kern="1200">
                <a:solidFill>
                  <a:schemeClr val="tx1"/>
                </a:solidFill>
                <a:latin typeface="Arial" pitchFamily="34" charset="0"/>
                <a:ea typeface="+mn-ea"/>
                <a:cs typeface="Arial" pitchFamily="34" charset="0"/>
              </a:defRPr>
            </a:lvl2pPr>
            <a:lvl3pPr marL="1030288" indent="-346075" algn="l" defTabSz="914400" rtl="0" eaLnBrk="1" latinLnBrk="0" hangingPunct="1">
              <a:spcBef>
                <a:spcPct val="20000"/>
              </a:spcBef>
              <a:buClr>
                <a:srgbClr val="CF5152"/>
              </a:buClr>
              <a:buSzPct val="85000"/>
              <a:buFont typeface="Wingdings 2" pitchFamily="18" charset="2"/>
              <a:buChar char=""/>
              <a:defRPr sz="1600" kern="1200">
                <a:solidFill>
                  <a:schemeClr val="tx1"/>
                </a:solidFill>
                <a:latin typeface="Arial" pitchFamily="34" charset="0"/>
                <a:ea typeface="+mn-ea"/>
                <a:cs typeface="Arial" pitchFamily="34" charset="0"/>
              </a:defRPr>
            </a:lvl3pPr>
            <a:lvl4pPr marL="1376363" indent="-346075" algn="l" defTabSz="914400" rtl="0" eaLnBrk="1" latinLnBrk="0" hangingPunct="1">
              <a:spcBef>
                <a:spcPct val="20000"/>
              </a:spcBef>
              <a:buClr>
                <a:schemeClr val="tx1">
                  <a:lumMod val="65000"/>
                  <a:lumOff val="35000"/>
                </a:schemeClr>
              </a:buClr>
              <a:buSzPct val="120000"/>
              <a:buFont typeface="Arial" pitchFamily="34" charset="0"/>
              <a:buChar char="–"/>
              <a:defRPr sz="14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000" dirty="0"/>
              <a:t>Material presented is a product of the CREATE (Computational Research and Engineering for Acquisition Tools and Environments) element of the U.S. Department of Defense HPC Modernization Program. In addition, the authors would like to acknowledge the support of the supercomputing resources provided by the HPCMP. </a:t>
            </a:r>
          </a:p>
          <a:p>
            <a:pPr marL="0" indent="0" algn="ctr">
              <a:buNone/>
            </a:pPr>
            <a:r>
              <a:rPr lang="en-US" sz="2000" dirty="0"/>
              <a:t>The authors would also like to acknowledge the contributions of Dr. Robert Narducci who simplified the CAD model used in this effort.</a:t>
            </a:r>
          </a:p>
        </p:txBody>
      </p:sp>
      <p:sp>
        <p:nvSpPr>
          <p:cNvPr id="8" name="Text Placeholder 6">
            <a:extLst>
              <a:ext uri="{FF2B5EF4-FFF2-40B4-BE49-F238E27FC236}">
                <a16:creationId xmlns:a16="http://schemas.microsoft.com/office/drawing/2014/main" id="{20DEFFB8-6D2C-AF27-26C0-7EB542323FA0}"/>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38494145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35D5A-41EC-EAF3-E6D4-0DFC29C60C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7422DD0-BCB9-C51D-11C4-C1D570A1C733}"/>
              </a:ext>
            </a:extLst>
          </p:cNvPr>
          <p:cNvSpPr>
            <a:spLocks noGrp="1"/>
          </p:cNvSpPr>
          <p:nvPr>
            <p:ph type="title"/>
          </p:nvPr>
        </p:nvSpPr>
        <p:spPr/>
        <p:txBody>
          <a:bodyPr/>
          <a:lstStyle/>
          <a:p>
            <a:r>
              <a:rPr lang="en-US" dirty="0"/>
              <a:t>Isolated Rotor in Hover</a:t>
            </a:r>
          </a:p>
        </p:txBody>
      </p:sp>
      <p:sp>
        <p:nvSpPr>
          <p:cNvPr id="6" name="Text Placeholder 5">
            <a:extLst>
              <a:ext uri="{FF2B5EF4-FFF2-40B4-BE49-F238E27FC236}">
                <a16:creationId xmlns:a16="http://schemas.microsoft.com/office/drawing/2014/main" id="{3A1AEBEE-B953-D9D7-43A0-2FD8E1A88FF6}"/>
              </a:ext>
            </a:extLst>
          </p:cNvPr>
          <p:cNvSpPr>
            <a:spLocks noGrp="1"/>
          </p:cNvSpPr>
          <p:nvPr>
            <p:ph type="body" idx="1"/>
          </p:nvPr>
        </p:nvSpPr>
        <p:spPr/>
        <p:txBody>
          <a:bodyPr/>
          <a:lstStyle/>
          <a:p>
            <a:r>
              <a:rPr lang="en-US" dirty="0"/>
              <a:t>Results</a:t>
            </a:r>
          </a:p>
        </p:txBody>
      </p:sp>
      <p:sp>
        <p:nvSpPr>
          <p:cNvPr id="4" name="Slide Number Placeholder 3">
            <a:extLst>
              <a:ext uri="{FF2B5EF4-FFF2-40B4-BE49-F238E27FC236}">
                <a16:creationId xmlns:a16="http://schemas.microsoft.com/office/drawing/2014/main" id="{29824AF3-6847-B00F-600C-9EB73111370D}"/>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33</a:t>
            </a:fld>
            <a:endParaRPr lang="en-US"/>
          </a:p>
        </p:txBody>
      </p:sp>
      <p:sp>
        <p:nvSpPr>
          <p:cNvPr id="7" name="Text Placeholder 6">
            <a:extLst>
              <a:ext uri="{FF2B5EF4-FFF2-40B4-BE49-F238E27FC236}">
                <a16:creationId xmlns:a16="http://schemas.microsoft.com/office/drawing/2014/main" id="{46096607-BC70-3B44-F0EB-6DB39DEFF596}"/>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39195011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9BDCDCE-F0EB-4680-BC68-C4C91C73AE49}"/>
              </a:ext>
            </a:extLst>
          </p:cNvPr>
          <p:cNvSpPr>
            <a:spLocks noGrp="1"/>
          </p:cNvSpPr>
          <p:nvPr>
            <p:ph type="title"/>
          </p:nvPr>
        </p:nvSpPr>
        <p:spPr/>
        <p:txBody>
          <a:bodyPr/>
          <a:lstStyle/>
          <a:p>
            <a:r>
              <a:rPr lang="en-US" dirty="0"/>
              <a:t>Setup and Wake Geometry</a:t>
            </a:r>
          </a:p>
        </p:txBody>
      </p:sp>
      <p:sp>
        <p:nvSpPr>
          <p:cNvPr id="4" name="Slide Number Placeholder 3">
            <a:extLst>
              <a:ext uri="{FF2B5EF4-FFF2-40B4-BE49-F238E27FC236}">
                <a16:creationId xmlns:a16="http://schemas.microsoft.com/office/drawing/2014/main" id="{876CC2C1-A329-C7E4-8DC9-928FD6452982}"/>
              </a:ext>
            </a:extLst>
          </p:cNvPr>
          <p:cNvSpPr>
            <a:spLocks noGrp="1"/>
          </p:cNvSpPr>
          <p:nvPr>
            <p:ph type="sldNum" sz="quarter" idx="11"/>
          </p:nvPr>
        </p:nvSpPr>
        <p:spPr/>
        <p:txBody>
          <a:bodyPr/>
          <a:lstStyle/>
          <a:p>
            <a:fld id="{0AB53790-719C-4748-B51D-E976E207180C}" type="slidenum">
              <a:rPr lang="en-US" smtClean="0"/>
              <a:t>34</a:t>
            </a:fld>
            <a:endParaRPr lang="en-US"/>
          </a:p>
        </p:txBody>
      </p:sp>
      <p:pic>
        <p:nvPicPr>
          <p:cNvPr id="7" name="Picture 6">
            <a:extLst>
              <a:ext uri="{FF2B5EF4-FFF2-40B4-BE49-F238E27FC236}">
                <a16:creationId xmlns:a16="http://schemas.microsoft.com/office/drawing/2014/main" id="{771005F7-3F1B-BE62-88CC-795AAA1FBF3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83581" y="1216094"/>
            <a:ext cx="10444975" cy="2379722"/>
          </a:xfrm>
          <a:prstGeom prst="rect">
            <a:avLst/>
          </a:prstGeom>
          <a:noFill/>
          <a:ln>
            <a:noFill/>
          </a:ln>
        </p:spPr>
      </p:pic>
      <p:pic>
        <p:nvPicPr>
          <p:cNvPr id="9" name="Picture 8">
            <a:extLst>
              <a:ext uri="{FF2B5EF4-FFF2-40B4-BE49-F238E27FC236}">
                <a16:creationId xmlns:a16="http://schemas.microsoft.com/office/drawing/2014/main" id="{0F17FAC1-0C57-0321-880A-4B7B332966B6}"/>
              </a:ext>
            </a:extLst>
          </p:cNvPr>
          <p:cNvPicPr>
            <a:picLocks noChangeAspect="1"/>
          </p:cNvPicPr>
          <p:nvPr/>
        </p:nvPicPr>
        <p:blipFill rotWithShape="1">
          <a:blip r:embed="rId4">
            <a:extLst>
              <a:ext uri="{28A0092B-C50C-407E-A947-70E740481C1C}">
                <a14:useLocalDpi xmlns:a14="http://schemas.microsoft.com/office/drawing/2010/main" val="0"/>
              </a:ext>
            </a:extLst>
          </a:blip>
          <a:srcRect t="7741"/>
          <a:stretch>
            <a:fillRect/>
          </a:stretch>
        </p:blipFill>
        <p:spPr bwMode="auto">
          <a:xfrm>
            <a:off x="1083581" y="3913397"/>
            <a:ext cx="10442448" cy="2195078"/>
          </a:xfrm>
          <a:prstGeom prst="rect">
            <a:avLst/>
          </a:prstGeom>
          <a:noFill/>
          <a:ln>
            <a:no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F7C18F05-6F54-252D-538B-A7ED802EECED}"/>
              </a:ext>
            </a:extLst>
          </p:cNvPr>
          <p:cNvSpPr txBox="1"/>
          <p:nvPr/>
        </p:nvSpPr>
        <p:spPr>
          <a:xfrm rot="16200000">
            <a:off x="-163785" y="2150409"/>
            <a:ext cx="1976005" cy="461665"/>
          </a:xfrm>
          <a:prstGeom prst="rect">
            <a:avLst/>
          </a:prstGeom>
          <a:noFill/>
          <a:ln w="25400">
            <a:noFill/>
          </a:ln>
        </p:spPr>
        <p:txBody>
          <a:bodyPr wrap="square" rtlCol="0">
            <a:spAutoFit/>
          </a:bodyPr>
          <a:lstStyle/>
          <a:p>
            <a:pPr algn="ctr"/>
            <a:r>
              <a:rPr lang="en-US" sz="2400" b="1" dirty="0"/>
              <a:t>5% Chord</a:t>
            </a:r>
          </a:p>
        </p:txBody>
      </p:sp>
      <p:sp>
        <p:nvSpPr>
          <p:cNvPr id="3" name="TextBox 2">
            <a:extLst>
              <a:ext uri="{FF2B5EF4-FFF2-40B4-BE49-F238E27FC236}">
                <a16:creationId xmlns:a16="http://schemas.microsoft.com/office/drawing/2014/main" id="{10C3ECD6-399D-062F-AA6D-D52706F67A73}"/>
              </a:ext>
            </a:extLst>
          </p:cNvPr>
          <p:cNvSpPr txBox="1"/>
          <p:nvPr/>
        </p:nvSpPr>
        <p:spPr>
          <a:xfrm rot="16200000">
            <a:off x="-163785" y="4780103"/>
            <a:ext cx="1976005" cy="461665"/>
          </a:xfrm>
          <a:prstGeom prst="rect">
            <a:avLst/>
          </a:prstGeom>
          <a:noFill/>
          <a:ln w="25400">
            <a:noFill/>
          </a:ln>
        </p:spPr>
        <p:txBody>
          <a:bodyPr wrap="square" rtlCol="0">
            <a:spAutoFit/>
          </a:bodyPr>
          <a:lstStyle/>
          <a:p>
            <a:pPr algn="ctr"/>
            <a:r>
              <a:rPr lang="en-US" sz="2400" b="1" dirty="0"/>
              <a:t>2.5% Chord</a:t>
            </a:r>
          </a:p>
        </p:txBody>
      </p:sp>
      <p:sp>
        <p:nvSpPr>
          <p:cNvPr id="11" name="Text Placeholder 6">
            <a:extLst>
              <a:ext uri="{FF2B5EF4-FFF2-40B4-BE49-F238E27FC236}">
                <a16:creationId xmlns:a16="http://schemas.microsoft.com/office/drawing/2014/main" id="{95CFA348-69FC-9DA3-9D37-5934DBD23EEA}"/>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3385887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C4AB8-B324-FAC3-0262-62EB97D1E037}"/>
              </a:ext>
            </a:extLst>
          </p:cNvPr>
          <p:cNvSpPr>
            <a:spLocks noGrp="1"/>
          </p:cNvSpPr>
          <p:nvPr>
            <p:ph type="title"/>
          </p:nvPr>
        </p:nvSpPr>
        <p:spPr/>
        <p:txBody>
          <a:bodyPr/>
          <a:lstStyle/>
          <a:p>
            <a:r>
              <a:rPr lang="en-US" dirty="0"/>
              <a:t>Coefficient Forces and Moments</a:t>
            </a:r>
          </a:p>
        </p:txBody>
      </p:sp>
      <p:sp>
        <p:nvSpPr>
          <p:cNvPr id="3" name="Slide Number Placeholder 2">
            <a:extLst>
              <a:ext uri="{FF2B5EF4-FFF2-40B4-BE49-F238E27FC236}">
                <a16:creationId xmlns:a16="http://schemas.microsoft.com/office/drawing/2014/main" id="{2CE22667-3F37-D48F-68D3-E09AFFEDA5AC}"/>
              </a:ext>
            </a:extLst>
          </p:cNvPr>
          <p:cNvSpPr>
            <a:spLocks noGrp="1"/>
          </p:cNvSpPr>
          <p:nvPr>
            <p:ph type="sldNum" sz="quarter" idx="11"/>
          </p:nvPr>
        </p:nvSpPr>
        <p:spPr/>
        <p:txBody>
          <a:bodyPr/>
          <a:lstStyle/>
          <a:p>
            <a:fld id="{0AB53790-719C-4748-B51D-E976E207180C}" type="slidenum">
              <a:rPr lang="en-US" smtClean="0"/>
              <a:t>35</a:t>
            </a:fld>
            <a:endParaRPr lang="en-US"/>
          </a:p>
        </p:txBody>
      </p:sp>
      <p:pic>
        <p:nvPicPr>
          <p:cNvPr id="4" name="Picture 3">
            <a:extLst>
              <a:ext uri="{FF2B5EF4-FFF2-40B4-BE49-F238E27FC236}">
                <a16:creationId xmlns:a16="http://schemas.microsoft.com/office/drawing/2014/main" id="{AEEC3920-1933-42FB-A8B3-91834F7C95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90041" y="1107289"/>
            <a:ext cx="9611916" cy="2743200"/>
          </a:xfrm>
          <a:prstGeom prst="rect">
            <a:avLst/>
          </a:prstGeom>
          <a:noFill/>
          <a:ln>
            <a:noFill/>
          </a:ln>
        </p:spPr>
      </p:pic>
      <p:pic>
        <p:nvPicPr>
          <p:cNvPr id="5" name="Picture 4">
            <a:extLst>
              <a:ext uri="{FF2B5EF4-FFF2-40B4-BE49-F238E27FC236}">
                <a16:creationId xmlns:a16="http://schemas.microsoft.com/office/drawing/2014/main" id="{DDB89038-1AF5-4093-D956-E5B1EACB35A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695297" y="3850489"/>
            <a:ext cx="4801403" cy="2743200"/>
          </a:xfrm>
          <a:prstGeom prst="rect">
            <a:avLst/>
          </a:prstGeom>
          <a:noFill/>
          <a:ln>
            <a:noFill/>
          </a:ln>
        </p:spPr>
      </p:pic>
      <p:sp>
        <p:nvSpPr>
          <p:cNvPr id="9" name="Text Placeholder 6">
            <a:extLst>
              <a:ext uri="{FF2B5EF4-FFF2-40B4-BE49-F238E27FC236}">
                <a16:creationId xmlns:a16="http://schemas.microsoft.com/office/drawing/2014/main" id="{D82502EF-36DF-1DDC-4B17-7BF6DB52B00B}"/>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3973136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151EA-04EE-AF1C-85E4-F4FBCD8242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3810EE-194D-2141-889A-A19361CA4E9E}"/>
              </a:ext>
            </a:extLst>
          </p:cNvPr>
          <p:cNvSpPr>
            <a:spLocks noGrp="1"/>
          </p:cNvSpPr>
          <p:nvPr>
            <p:ph type="title"/>
          </p:nvPr>
        </p:nvSpPr>
        <p:spPr/>
        <p:txBody>
          <a:bodyPr/>
          <a:lstStyle/>
          <a:p>
            <a:r>
              <a:rPr lang="en-US" dirty="0"/>
              <a:t>Full Vehicle Hover</a:t>
            </a:r>
          </a:p>
        </p:txBody>
      </p:sp>
      <p:sp>
        <p:nvSpPr>
          <p:cNvPr id="6" name="Text Placeholder 5">
            <a:extLst>
              <a:ext uri="{FF2B5EF4-FFF2-40B4-BE49-F238E27FC236}">
                <a16:creationId xmlns:a16="http://schemas.microsoft.com/office/drawing/2014/main" id="{976ED63B-6D6F-7F9D-FA38-D007CD444370}"/>
              </a:ext>
            </a:extLst>
          </p:cNvPr>
          <p:cNvSpPr>
            <a:spLocks noGrp="1"/>
          </p:cNvSpPr>
          <p:nvPr>
            <p:ph type="body" idx="1"/>
          </p:nvPr>
        </p:nvSpPr>
        <p:spPr/>
        <p:txBody>
          <a:bodyPr/>
          <a:lstStyle/>
          <a:p>
            <a:r>
              <a:rPr lang="en-US" dirty="0"/>
              <a:t>Results</a:t>
            </a:r>
          </a:p>
        </p:txBody>
      </p:sp>
      <p:sp>
        <p:nvSpPr>
          <p:cNvPr id="4" name="Slide Number Placeholder 3">
            <a:extLst>
              <a:ext uri="{FF2B5EF4-FFF2-40B4-BE49-F238E27FC236}">
                <a16:creationId xmlns:a16="http://schemas.microsoft.com/office/drawing/2014/main" id="{A4B76FA5-5D58-7303-39DA-FED2AC3CED89}"/>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36</a:t>
            </a:fld>
            <a:endParaRPr lang="en-US"/>
          </a:p>
        </p:txBody>
      </p:sp>
      <p:sp>
        <p:nvSpPr>
          <p:cNvPr id="7" name="Text Placeholder 6">
            <a:extLst>
              <a:ext uri="{FF2B5EF4-FFF2-40B4-BE49-F238E27FC236}">
                <a16:creationId xmlns:a16="http://schemas.microsoft.com/office/drawing/2014/main" id="{4BB6AA02-D054-00D3-6123-558E6BA5392F}"/>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2680282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C7EA5-0B58-0D8F-F742-7893DA68D920}"/>
              </a:ext>
            </a:extLst>
          </p:cNvPr>
          <p:cNvSpPr>
            <a:spLocks noGrp="1"/>
          </p:cNvSpPr>
          <p:nvPr>
            <p:ph type="title"/>
          </p:nvPr>
        </p:nvSpPr>
        <p:spPr/>
        <p:txBody>
          <a:bodyPr/>
          <a:lstStyle/>
          <a:p>
            <a:r>
              <a:rPr lang="en-US" dirty="0"/>
              <a:t>Full Vehicle Vertical Force</a:t>
            </a:r>
          </a:p>
        </p:txBody>
      </p:sp>
      <p:sp>
        <p:nvSpPr>
          <p:cNvPr id="3" name="Slide Number Placeholder 2">
            <a:extLst>
              <a:ext uri="{FF2B5EF4-FFF2-40B4-BE49-F238E27FC236}">
                <a16:creationId xmlns:a16="http://schemas.microsoft.com/office/drawing/2014/main" id="{B6538269-B15C-5DC5-C10F-CBE553A01C5B}"/>
              </a:ext>
            </a:extLst>
          </p:cNvPr>
          <p:cNvSpPr>
            <a:spLocks noGrp="1"/>
          </p:cNvSpPr>
          <p:nvPr>
            <p:ph type="sldNum" sz="quarter" idx="11"/>
          </p:nvPr>
        </p:nvSpPr>
        <p:spPr/>
        <p:txBody>
          <a:bodyPr/>
          <a:lstStyle/>
          <a:p>
            <a:fld id="{0AB53790-719C-4748-B51D-E976E207180C}" type="slidenum">
              <a:rPr lang="en-US" smtClean="0"/>
              <a:t>37</a:t>
            </a:fld>
            <a:endParaRPr lang="en-US"/>
          </a:p>
        </p:txBody>
      </p:sp>
      <p:pic>
        <p:nvPicPr>
          <p:cNvPr id="4" name="Picture 3">
            <a:extLst>
              <a:ext uri="{FF2B5EF4-FFF2-40B4-BE49-F238E27FC236}">
                <a16:creationId xmlns:a16="http://schemas.microsoft.com/office/drawing/2014/main" id="{B277EC4D-A761-9CD7-C873-712F4E50E14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1438" y="1844103"/>
            <a:ext cx="9266062" cy="3428926"/>
          </a:xfrm>
          <a:prstGeom prst="rect">
            <a:avLst/>
          </a:prstGeom>
          <a:noFill/>
          <a:ln>
            <a:noFill/>
          </a:ln>
        </p:spPr>
      </p:pic>
      <p:sp>
        <p:nvSpPr>
          <p:cNvPr id="5" name="TextBox 4">
            <a:extLst>
              <a:ext uri="{FF2B5EF4-FFF2-40B4-BE49-F238E27FC236}">
                <a16:creationId xmlns:a16="http://schemas.microsoft.com/office/drawing/2014/main" id="{D23493F1-9A9D-04B2-4ABA-0DE257CA45DA}"/>
              </a:ext>
            </a:extLst>
          </p:cNvPr>
          <p:cNvSpPr txBox="1"/>
          <p:nvPr/>
        </p:nvSpPr>
        <p:spPr>
          <a:xfrm>
            <a:off x="7595693" y="1277281"/>
            <a:ext cx="2993018" cy="461665"/>
          </a:xfrm>
          <a:prstGeom prst="rect">
            <a:avLst/>
          </a:prstGeom>
          <a:noFill/>
          <a:ln w="25400">
            <a:noFill/>
          </a:ln>
        </p:spPr>
        <p:txBody>
          <a:bodyPr wrap="square" rtlCol="0">
            <a:spAutoFit/>
          </a:bodyPr>
          <a:lstStyle/>
          <a:p>
            <a:pPr algn="ctr"/>
            <a:r>
              <a:rPr lang="en-US" sz="2400" b="1" dirty="0"/>
              <a:t>&lt; 5% Error</a:t>
            </a:r>
          </a:p>
        </p:txBody>
      </p:sp>
      <p:sp>
        <p:nvSpPr>
          <p:cNvPr id="6" name="Right Brace 5">
            <a:extLst>
              <a:ext uri="{FF2B5EF4-FFF2-40B4-BE49-F238E27FC236}">
                <a16:creationId xmlns:a16="http://schemas.microsoft.com/office/drawing/2014/main" id="{834D41A9-D3AD-3E07-4ABA-960558910364}"/>
              </a:ext>
            </a:extLst>
          </p:cNvPr>
          <p:cNvSpPr/>
          <p:nvPr/>
        </p:nvSpPr>
        <p:spPr>
          <a:xfrm rot="16200000">
            <a:off x="8941312" y="777888"/>
            <a:ext cx="285379" cy="2137719"/>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 Placeholder 6">
            <a:extLst>
              <a:ext uri="{FF2B5EF4-FFF2-40B4-BE49-F238E27FC236}">
                <a16:creationId xmlns:a16="http://schemas.microsoft.com/office/drawing/2014/main" id="{87B9913C-2937-7C69-DFA0-670B0A00F264}"/>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599166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C3C9B-F71E-7A7C-45BF-E98CF6905897}"/>
              </a:ext>
            </a:extLst>
          </p:cNvPr>
          <p:cNvSpPr>
            <a:spLocks noGrp="1"/>
          </p:cNvSpPr>
          <p:nvPr>
            <p:ph type="title"/>
          </p:nvPr>
        </p:nvSpPr>
        <p:spPr/>
        <p:txBody>
          <a:bodyPr/>
          <a:lstStyle/>
          <a:p>
            <a:r>
              <a:rPr lang="en-US" dirty="0"/>
              <a:t>Isolated Fuselage: Integrated Forces and Moments</a:t>
            </a:r>
          </a:p>
        </p:txBody>
      </p:sp>
      <p:sp>
        <p:nvSpPr>
          <p:cNvPr id="4" name="Slide Number Placeholder 3">
            <a:extLst>
              <a:ext uri="{FF2B5EF4-FFF2-40B4-BE49-F238E27FC236}">
                <a16:creationId xmlns:a16="http://schemas.microsoft.com/office/drawing/2014/main" id="{4524C1F2-B9B0-EF44-A1B3-55A8E2DABE85}"/>
              </a:ext>
            </a:extLst>
          </p:cNvPr>
          <p:cNvSpPr>
            <a:spLocks noGrp="1"/>
          </p:cNvSpPr>
          <p:nvPr>
            <p:ph type="sldNum" sz="quarter" idx="4294967295"/>
          </p:nvPr>
        </p:nvSpPr>
        <p:spPr>
          <a:xfrm>
            <a:off x="11488947" y="6492876"/>
            <a:ext cx="70305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53790-719C-4748-B51D-E976E207180C}" type="slidenum">
              <a:rPr lang="en-US" smtClean="0"/>
              <a:pPr/>
              <a:t>38</a:t>
            </a:fld>
            <a:endParaRPr lang="en-US"/>
          </a:p>
        </p:txBody>
      </p:sp>
      <p:grpSp>
        <p:nvGrpSpPr>
          <p:cNvPr id="5" name="Group 4">
            <a:extLst>
              <a:ext uri="{FF2B5EF4-FFF2-40B4-BE49-F238E27FC236}">
                <a16:creationId xmlns:a16="http://schemas.microsoft.com/office/drawing/2014/main" id="{D150FE3A-C049-8EA8-B30A-600227BD69F5}"/>
              </a:ext>
            </a:extLst>
          </p:cNvPr>
          <p:cNvGrpSpPr/>
          <p:nvPr/>
        </p:nvGrpSpPr>
        <p:grpSpPr>
          <a:xfrm>
            <a:off x="1090531" y="1254158"/>
            <a:ext cx="10010938" cy="5094042"/>
            <a:chOff x="869115" y="637470"/>
            <a:chExt cx="10010938" cy="5094042"/>
          </a:xfrm>
        </p:grpSpPr>
        <p:pic>
          <p:nvPicPr>
            <p:cNvPr id="6" name="Picture 5">
              <a:extLst>
                <a:ext uri="{FF2B5EF4-FFF2-40B4-BE49-F238E27FC236}">
                  <a16:creationId xmlns:a16="http://schemas.microsoft.com/office/drawing/2014/main" id="{C5F60450-6C09-54C5-0EC4-CA34A18B6E06}"/>
                </a:ext>
              </a:extLst>
            </p:cNvPr>
            <p:cNvPicPr>
              <a:picLocks noChangeAspect="1"/>
            </p:cNvPicPr>
            <p:nvPr/>
          </p:nvPicPr>
          <p:blipFill>
            <a:blip r:embed="rId2"/>
            <a:stretch>
              <a:fillRect/>
            </a:stretch>
          </p:blipFill>
          <p:spPr>
            <a:xfrm>
              <a:off x="869115" y="3170970"/>
              <a:ext cx="4480948" cy="2560542"/>
            </a:xfrm>
            <a:prstGeom prst="rect">
              <a:avLst/>
            </a:prstGeom>
          </p:spPr>
        </p:pic>
        <p:pic>
          <p:nvPicPr>
            <p:cNvPr id="7" name="Picture 6">
              <a:extLst>
                <a:ext uri="{FF2B5EF4-FFF2-40B4-BE49-F238E27FC236}">
                  <a16:creationId xmlns:a16="http://schemas.microsoft.com/office/drawing/2014/main" id="{3534626E-4FFD-1F03-1611-67FFDA13BE9A}"/>
                </a:ext>
              </a:extLst>
            </p:cNvPr>
            <p:cNvPicPr>
              <a:picLocks noChangeAspect="1"/>
            </p:cNvPicPr>
            <p:nvPr/>
          </p:nvPicPr>
          <p:blipFill>
            <a:blip r:embed="rId3"/>
            <a:stretch>
              <a:fillRect/>
            </a:stretch>
          </p:blipFill>
          <p:spPr>
            <a:xfrm>
              <a:off x="4187771" y="3170970"/>
              <a:ext cx="4480948" cy="2560542"/>
            </a:xfrm>
            <a:prstGeom prst="rect">
              <a:avLst/>
            </a:prstGeom>
          </p:spPr>
        </p:pic>
        <p:pic>
          <p:nvPicPr>
            <p:cNvPr id="8" name="Picture 7">
              <a:extLst>
                <a:ext uri="{FF2B5EF4-FFF2-40B4-BE49-F238E27FC236}">
                  <a16:creationId xmlns:a16="http://schemas.microsoft.com/office/drawing/2014/main" id="{12BC25F8-5EDA-D74D-0672-9299599D8C11}"/>
                </a:ext>
              </a:extLst>
            </p:cNvPr>
            <p:cNvPicPr>
              <a:picLocks noChangeAspect="1"/>
            </p:cNvPicPr>
            <p:nvPr/>
          </p:nvPicPr>
          <p:blipFill>
            <a:blip r:embed="rId4"/>
            <a:stretch>
              <a:fillRect/>
            </a:stretch>
          </p:blipFill>
          <p:spPr>
            <a:xfrm>
              <a:off x="869115" y="637470"/>
              <a:ext cx="4480948" cy="2560542"/>
            </a:xfrm>
            <a:prstGeom prst="rect">
              <a:avLst/>
            </a:prstGeom>
          </p:spPr>
        </p:pic>
        <p:pic>
          <p:nvPicPr>
            <p:cNvPr id="9" name="Picture 8">
              <a:extLst>
                <a:ext uri="{FF2B5EF4-FFF2-40B4-BE49-F238E27FC236}">
                  <a16:creationId xmlns:a16="http://schemas.microsoft.com/office/drawing/2014/main" id="{D23EC1FA-4DD0-D70B-ADCF-8420F86C019C}"/>
                </a:ext>
              </a:extLst>
            </p:cNvPr>
            <p:cNvPicPr>
              <a:picLocks noChangeAspect="1"/>
            </p:cNvPicPr>
            <p:nvPr/>
          </p:nvPicPr>
          <p:blipFill>
            <a:blip r:embed="rId5"/>
            <a:srcRect r="25245"/>
            <a:stretch>
              <a:fillRect/>
            </a:stretch>
          </p:blipFill>
          <p:spPr>
            <a:xfrm>
              <a:off x="7530320" y="3170970"/>
              <a:ext cx="3349733" cy="2560542"/>
            </a:xfrm>
            <a:prstGeom prst="rect">
              <a:avLst/>
            </a:prstGeom>
          </p:spPr>
        </p:pic>
        <p:pic>
          <p:nvPicPr>
            <p:cNvPr id="10" name="Picture 9">
              <a:extLst>
                <a:ext uri="{FF2B5EF4-FFF2-40B4-BE49-F238E27FC236}">
                  <a16:creationId xmlns:a16="http://schemas.microsoft.com/office/drawing/2014/main" id="{ACE480D3-9120-AA5D-CBF8-F152C65BA01E}"/>
                </a:ext>
              </a:extLst>
            </p:cNvPr>
            <p:cNvPicPr>
              <a:picLocks noChangeAspect="1"/>
            </p:cNvPicPr>
            <p:nvPr/>
          </p:nvPicPr>
          <p:blipFill>
            <a:blip r:embed="rId6"/>
            <a:stretch>
              <a:fillRect/>
            </a:stretch>
          </p:blipFill>
          <p:spPr>
            <a:xfrm>
              <a:off x="4187771" y="637470"/>
              <a:ext cx="4480948" cy="2560542"/>
            </a:xfrm>
            <a:prstGeom prst="rect">
              <a:avLst/>
            </a:prstGeom>
          </p:spPr>
        </p:pic>
        <p:pic>
          <p:nvPicPr>
            <p:cNvPr id="11" name="Picture 10">
              <a:extLst>
                <a:ext uri="{FF2B5EF4-FFF2-40B4-BE49-F238E27FC236}">
                  <a16:creationId xmlns:a16="http://schemas.microsoft.com/office/drawing/2014/main" id="{11BBB212-91A1-190A-AE19-108E3C28C144}"/>
                </a:ext>
              </a:extLst>
            </p:cNvPr>
            <p:cNvPicPr>
              <a:picLocks noChangeAspect="1"/>
            </p:cNvPicPr>
            <p:nvPr/>
          </p:nvPicPr>
          <p:blipFill>
            <a:blip r:embed="rId7"/>
            <a:srcRect r="25245"/>
            <a:stretch>
              <a:fillRect/>
            </a:stretch>
          </p:blipFill>
          <p:spPr>
            <a:xfrm>
              <a:off x="7530320" y="637470"/>
              <a:ext cx="3349733" cy="2560542"/>
            </a:xfrm>
            <a:prstGeom prst="rect">
              <a:avLst/>
            </a:prstGeom>
          </p:spPr>
        </p:pic>
        <p:pic>
          <p:nvPicPr>
            <p:cNvPr id="12" name="Picture 11">
              <a:extLst>
                <a:ext uri="{FF2B5EF4-FFF2-40B4-BE49-F238E27FC236}">
                  <a16:creationId xmlns:a16="http://schemas.microsoft.com/office/drawing/2014/main" id="{2219A722-4566-3354-F6EE-CA4BE0EE326A}"/>
                </a:ext>
              </a:extLst>
            </p:cNvPr>
            <p:cNvPicPr>
              <a:picLocks noChangeAspect="1"/>
            </p:cNvPicPr>
            <p:nvPr/>
          </p:nvPicPr>
          <p:blipFill>
            <a:blip r:embed="rId5"/>
            <a:srcRect l="74805" t="32769" r="1601" b="32264"/>
            <a:stretch>
              <a:fillRect/>
            </a:stretch>
          </p:blipFill>
          <p:spPr>
            <a:xfrm>
              <a:off x="8248650" y="815461"/>
              <a:ext cx="876299" cy="742092"/>
            </a:xfrm>
            <a:prstGeom prst="rect">
              <a:avLst/>
            </a:prstGeom>
          </p:spPr>
        </p:pic>
      </p:grpSp>
      <p:sp>
        <p:nvSpPr>
          <p:cNvPr id="15" name="Text Placeholder 6">
            <a:extLst>
              <a:ext uri="{FF2B5EF4-FFF2-40B4-BE49-F238E27FC236}">
                <a16:creationId xmlns:a16="http://schemas.microsoft.com/office/drawing/2014/main" id="{2B88B3AA-DA73-1779-C4FC-0DEB31F53F56}"/>
              </a:ext>
            </a:extLst>
          </p:cNvPr>
          <p:cNvSpPr txBox="1">
            <a:spLocks/>
          </p:cNvSpPr>
          <p:nvPr/>
        </p:nvSpPr>
        <p:spPr>
          <a:xfrm>
            <a:off x="3115574" y="-28382"/>
            <a:ext cx="5960852" cy="261610"/>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303030"/>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t>Distribution Statement A. Approved for public release: distribution is unlimited.</a:t>
            </a:r>
          </a:p>
        </p:txBody>
      </p:sp>
    </p:spTree>
    <p:extLst>
      <p:ext uri="{BB962C8B-B14F-4D97-AF65-F5344CB8AC3E}">
        <p14:creationId xmlns:p14="http://schemas.microsoft.com/office/powerpoint/2010/main" val="3302394753"/>
      </p:ext>
    </p:extLst>
  </p:cSld>
  <p:clrMapOvr>
    <a:masterClrMapping/>
  </p:clrMapOvr>
</p:sld>
</file>

<file path=ppt/theme/theme1.xml><?xml version="1.0" encoding="utf-8"?>
<a:theme xmlns:a="http://schemas.openxmlformats.org/drawingml/2006/main" name="Master_Non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ster_Dist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aster_Dist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aster_Dist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34af72ce-cc13-4953-b9ba-4cca0e04b883}" enabled="1" method="Standard" siteId="{102d0191-eeae-4761-b1cb-1a83e86ef445}" contentBits="0" removed="0"/>
</clbl:labelList>
</file>

<file path=docProps/app.xml><?xml version="1.0" encoding="utf-8"?>
<Properties xmlns="http://schemas.openxmlformats.org/officeDocument/2006/extended-properties" xmlns:vt="http://schemas.openxmlformats.org/officeDocument/2006/docPropsVTypes">
  <TotalTime>3819</TotalTime>
  <Words>1753</Words>
  <Application>Microsoft Office PowerPoint</Application>
  <PresentationFormat>Widescreen</PresentationFormat>
  <Paragraphs>357</Paragraphs>
  <Slides>38</Slides>
  <Notes>34</Notes>
  <HiddenSlides>0</HiddenSlides>
  <MMClips>1</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38</vt:i4>
      </vt:variant>
    </vt:vector>
  </HeadingPairs>
  <TitlesOfParts>
    <vt:vector size="47" baseType="lpstr">
      <vt:lpstr>Arial</vt:lpstr>
      <vt:lpstr>Calibri</vt:lpstr>
      <vt:lpstr>Times New Roman</vt:lpstr>
      <vt:lpstr>Wingdings</vt:lpstr>
      <vt:lpstr>Wingdings 2</vt:lpstr>
      <vt:lpstr>Master_None</vt:lpstr>
      <vt:lpstr>Master_DistA</vt:lpstr>
      <vt:lpstr>Master_DistC</vt:lpstr>
      <vt:lpstr>Master_DistD</vt:lpstr>
      <vt:lpstr>Enhanced Engineering Workflows in the HPCMP CREATETM Ecosystem Demonstrated on the SUI Endurance UAV </vt:lpstr>
      <vt:lpstr>PowerPoint Presentation</vt:lpstr>
      <vt:lpstr>Generic Engineering Workflow</vt:lpstr>
      <vt:lpstr>Toolset for the Current Investigation</vt:lpstr>
      <vt:lpstr>Toolset for the Current Investigation</vt:lpstr>
      <vt:lpstr>Specific Features Demonstrated</vt:lpstr>
      <vt:lpstr>SUI Endurance Quadcopter</vt:lpstr>
      <vt:lpstr>Methodology: Raw CAD</vt:lpstr>
      <vt:lpstr>Capstone Methodology: Shrink-Wrapping</vt:lpstr>
      <vt:lpstr>Methodology: Traditional Path, CAD Simplification</vt:lpstr>
      <vt:lpstr>Methodology: Trade-off</vt:lpstr>
      <vt:lpstr>Methodology: Outer Surface</vt:lpstr>
      <vt:lpstr>Helios Methodology: Auto-Meshing</vt:lpstr>
      <vt:lpstr>Methodology: Auto-Meshing (Fuselage)</vt:lpstr>
      <vt:lpstr>Methodology: Auto-Meshing (Blades)</vt:lpstr>
      <vt:lpstr>Methodology: Auto-Meshing (Blades)</vt:lpstr>
      <vt:lpstr>Methodology: Helios 12.5 GPU Beta</vt:lpstr>
      <vt:lpstr>Methodology: Helios 12.5 GPU Beta</vt:lpstr>
      <vt:lpstr>Baseline Computational Setup</vt:lpstr>
      <vt:lpstr>Baseline Computational Setup</vt:lpstr>
      <vt:lpstr>Full Vehicle Forward Flight</vt:lpstr>
      <vt:lpstr>Full Vehicle Integrated Forces and Moments</vt:lpstr>
      <vt:lpstr>Full Vehicle Pitching Moment Time-History</vt:lpstr>
      <vt:lpstr>Auto-Mesh Assessment</vt:lpstr>
      <vt:lpstr>Isolated Fuselage</vt:lpstr>
      <vt:lpstr>Integrated Forces and Moments</vt:lpstr>
      <vt:lpstr>Shrink Wrap Geometry Delta</vt:lpstr>
      <vt:lpstr>Shrink Wrap Assessment</vt:lpstr>
      <vt:lpstr>Helios Computational Metrics</vt:lpstr>
      <vt:lpstr>Total Workflow Time Savings</vt:lpstr>
      <vt:lpstr>Conclusions</vt:lpstr>
      <vt:lpstr>Acknowledgements</vt:lpstr>
      <vt:lpstr>Isolated Rotor in Hover</vt:lpstr>
      <vt:lpstr>Setup and Wake Geometry</vt:lpstr>
      <vt:lpstr>Coefficient Forces and Moments</vt:lpstr>
      <vt:lpstr>Full Vehicle Hover</vt:lpstr>
      <vt:lpstr>Full Vehicle Vertical Force</vt:lpstr>
      <vt:lpstr>Isolated Fuselage: Integrated Forces and Moments</vt:lpstr>
    </vt:vector>
  </TitlesOfParts>
  <Company>HPCMO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lpowell</dc:creator>
  <cp:lastModifiedBy>Abras, Jennifer N CTR (USA)</cp:lastModifiedBy>
  <cp:revision>132</cp:revision>
  <dcterms:created xsi:type="dcterms:W3CDTF">2011-09-30T11:42:14Z</dcterms:created>
  <dcterms:modified xsi:type="dcterms:W3CDTF">2026-09-17T17:46:33Z</dcterms:modified>
</cp:coreProperties>
</file>