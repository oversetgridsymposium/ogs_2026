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38"/>
  </p:notesMasterIdLst>
  <p:sldIdLst>
    <p:sldId id="500" r:id="rId5"/>
    <p:sldId id="519" r:id="rId6"/>
    <p:sldId id="937" r:id="rId7"/>
    <p:sldId id="970" r:id="rId8"/>
    <p:sldId id="965" r:id="rId9"/>
    <p:sldId id="941" r:id="rId10"/>
    <p:sldId id="963" r:id="rId11"/>
    <p:sldId id="934" r:id="rId12"/>
    <p:sldId id="945" r:id="rId13"/>
    <p:sldId id="969" r:id="rId14"/>
    <p:sldId id="935" r:id="rId15"/>
    <p:sldId id="1005" r:id="rId16"/>
    <p:sldId id="977" r:id="rId17"/>
    <p:sldId id="980" r:id="rId18"/>
    <p:sldId id="1000" r:id="rId19"/>
    <p:sldId id="999" r:id="rId20"/>
    <p:sldId id="984" r:id="rId21"/>
    <p:sldId id="1001" r:id="rId22"/>
    <p:sldId id="1002" r:id="rId23"/>
    <p:sldId id="1003" r:id="rId24"/>
    <p:sldId id="1004" r:id="rId25"/>
    <p:sldId id="985" r:id="rId26"/>
    <p:sldId id="986" r:id="rId27"/>
    <p:sldId id="994" r:id="rId28"/>
    <p:sldId id="996" r:id="rId29"/>
    <p:sldId id="997" r:id="rId30"/>
    <p:sldId id="998" r:id="rId31"/>
    <p:sldId id="936" r:id="rId32"/>
    <p:sldId id="948" r:id="rId33"/>
    <p:sldId id="966" r:id="rId34"/>
    <p:sldId id="967" r:id="rId35"/>
    <p:sldId id="988" r:id="rId36"/>
    <p:sldId id="990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285"/>
    <p:restoredTop sz="94425"/>
  </p:normalViewPr>
  <p:slideViewPr>
    <p:cSldViewPr snapToGrid="0" snapToObjects="1">
      <p:cViewPr>
        <p:scale>
          <a:sx n="80" d="100"/>
          <a:sy n="80" d="100"/>
        </p:scale>
        <p:origin x="184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137319-7C07-3843-8A82-8EBA5E387DF8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2CE26F-9229-A44C-A22A-434AA57F0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365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CE26F-9229-A44C-A22A-434AA57F0F4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4967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CE26F-9229-A44C-A22A-434AA57F0F4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0785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32067-89C0-9FF5-21C2-97D7A835D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00A16A-85E3-E93B-1999-2A8CC1DFB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D949F5-312D-C4D7-F4B3-0E7A0A54A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6F779-166E-E51E-8AAB-AA18EC0E7D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CE26F-9229-A44C-A22A-434AA57F0F4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01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actuality the maximum cell size near the blade tips is about 2.5% of the tip chord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CE26F-9229-A44C-A22A-434AA57F0F4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370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D4787-4BFF-A69D-E1F9-7528AEA9D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28A2F7-4A25-8C50-FEB3-1BDF885A99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4C838D-7523-346B-9520-AA6C693C04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A0875-05A9-B902-2AAB-FBE8EA4B4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CE26F-9229-A44C-A22A-434AA57F0F4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2019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CE26F-9229-A44C-A22A-434AA57F0F4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0385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alpha = 45 versions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CE26F-9229-A44C-A22A-434AA57F0F4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9620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423EC-E99C-3BD4-A799-92057D717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868A04-3948-B63B-B840-91DB3DFCB2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6103DE-A2B9-4DAD-25E1-B4386C960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we weren’t able to get any converged 60 degree solutions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AF7F7-90CF-8048-E98D-4FEBB9D85D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CE26F-9229-A44C-A22A-434AA57F0F4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5145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experimental trend first, then talk to CFD comparison. Mention early stall and that it’s not doing well at predicting </a:t>
            </a:r>
            <a:r>
              <a:rPr lang="en-US" dirty="0" err="1"/>
              <a:t>Clmax</a:t>
            </a:r>
            <a:r>
              <a:rPr lang="en-US" dirty="0"/>
              <a:t> (angle or magnitude)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CE26F-9229-A44C-A22A-434AA57F0F4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8468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Medium mesh had poorer convergence than the coarse mesh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CE26F-9229-A44C-A22A-434AA57F0F4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4975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CE26F-9229-A44C-A22A-434AA57F0F4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5716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CE26F-9229-A44C-A22A-434AA57F0F4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053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URANS here is unadapted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CE26F-9229-A44C-A22A-434AA57F0F4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1844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Try to get vorticity magnitude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CE26F-9229-A44C-A22A-434AA57F0F4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030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3149600" y="6198395"/>
            <a:ext cx="5700184" cy="3889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/>
            </a:lvl1pPr>
          </a:lstStyle>
          <a:p>
            <a:r>
              <a:rPr lang="en-US"/>
              <a:t>CUI//SP-PROPIN + Boeing Proprietary </a:t>
            </a:r>
            <a:endParaRPr lang="en-US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1277600" y="6392864"/>
            <a:ext cx="550333" cy="3889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70B7EB-FC9C-4400-93CE-515C1DC1A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181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1277600" y="6392864"/>
            <a:ext cx="550333" cy="388937"/>
          </a:xfrm>
          <a:prstGeom prst="rect">
            <a:avLst/>
          </a:prstGeom>
        </p:spPr>
        <p:txBody>
          <a:bodyPr anchor="ctr" anchorCtr="1"/>
          <a:lstStyle>
            <a:lvl1pPr>
              <a:defRPr/>
            </a:lvl1pPr>
          </a:lstStyle>
          <a:p>
            <a:pPr>
              <a:defRPr/>
            </a:pPr>
            <a:fld id="{A1EAA665-7F94-4630-9CCF-1DF7E39660B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3149600" y="6392864"/>
            <a:ext cx="5700184" cy="3889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/>
            </a:lvl1pPr>
          </a:lstStyle>
          <a:p>
            <a:r>
              <a:rPr lang="en-US"/>
              <a:t>CUI//SP-PROPIN + Boeing Proprietary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658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1277600" y="6392864"/>
            <a:ext cx="550333" cy="3889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C639F6-DE5E-4451-A9FA-77097BC499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3149600" y="6392864"/>
            <a:ext cx="5700184" cy="3889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/>
            </a:lvl1pPr>
          </a:lstStyle>
          <a:p>
            <a:r>
              <a:rPr lang="en-US"/>
              <a:t>CUI//SP-PROPIN + Boeing Proprietary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604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4114800"/>
            <a:ext cx="5683251" cy="21478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4114800"/>
            <a:ext cx="5685367" cy="21478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1277600" y="6392864"/>
            <a:ext cx="550333" cy="3889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4DB6A8-818C-40F9-BA61-ABD8BBBF9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3149600" y="6392864"/>
            <a:ext cx="5700184" cy="3889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/>
            </a:lvl1pPr>
          </a:lstStyle>
          <a:p>
            <a:r>
              <a:rPr lang="en-US"/>
              <a:t>CUI//SP-PROPIN + Boeing Proprietary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708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1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1277600" y="6392864"/>
            <a:ext cx="550333" cy="3889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5DA372-490A-4D59-9D5B-9051633FA8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3149600" y="6392864"/>
            <a:ext cx="5700184" cy="3889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/>
            </a:lvl1pPr>
          </a:lstStyle>
          <a:p>
            <a:r>
              <a:rPr lang="en-US"/>
              <a:t>CUI//SP-PROPIN + Boeing Proprietary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196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1277600" y="6392864"/>
            <a:ext cx="550333" cy="3889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3BF328-4444-4B2A-8DAD-1B131CCF6C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3149600" y="6392864"/>
            <a:ext cx="5700184" cy="3889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/>
            </a:lvl1pPr>
          </a:lstStyle>
          <a:p>
            <a:r>
              <a:rPr lang="en-US"/>
              <a:t>CUI//SP-PROPIN + Boeing Proprietary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899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1277600" y="6392864"/>
            <a:ext cx="550333" cy="3889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0664ED-1680-44E1-A5E5-C88ECA6E85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3149600" y="6392864"/>
            <a:ext cx="5700184" cy="3889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/>
            </a:lvl1pPr>
          </a:lstStyle>
          <a:p>
            <a:r>
              <a:rPr lang="en-US"/>
              <a:t>CUI//SP-PROPIN + Boeing Proprietary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164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1277600" y="6392864"/>
            <a:ext cx="550333" cy="3889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1DA65E-FCC7-4B97-B7D3-D84D6A18C3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3149600" y="6392864"/>
            <a:ext cx="5700184" cy="3889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/>
            </a:lvl1pPr>
          </a:lstStyle>
          <a:p>
            <a:r>
              <a:rPr lang="en-US"/>
              <a:t>CUI//SP-PROPIN + Boeing Proprietary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12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1277600" y="6392864"/>
            <a:ext cx="550333" cy="3889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61D37A-51A3-44FC-8F29-545D03B870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3149600" y="6392864"/>
            <a:ext cx="5700184" cy="3889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/>
            </a:lvl1pPr>
          </a:lstStyle>
          <a:p>
            <a:r>
              <a:rPr lang="en-US"/>
              <a:t>CUI//SP-PROPIN + Boeing Proprietary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045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266700"/>
            <a:ext cx="2895600" cy="59959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266700"/>
            <a:ext cx="8483600" cy="59959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1277600" y="6392864"/>
            <a:ext cx="550333" cy="3889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C9F08A-DB82-4DDD-BCAE-64DA363A4F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3149600" y="6392864"/>
            <a:ext cx="5700184" cy="3889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/>
            </a:lvl1pPr>
          </a:lstStyle>
          <a:p>
            <a:r>
              <a:rPr lang="en-US"/>
              <a:t>CUI//SP-PROPIN + Boeing Proprietary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61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917" y="266700"/>
            <a:ext cx="11580283" cy="6223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04801" y="4114800"/>
            <a:ext cx="11571817" cy="2147888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n-US" noProof="0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1277600" y="6392864"/>
            <a:ext cx="550333" cy="3889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CD2743-00CA-41A5-86A1-7FDAEF0F87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3149600" y="6392864"/>
            <a:ext cx="5700184" cy="3889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/>
            </a:lvl1pPr>
          </a:lstStyle>
          <a:p>
            <a:r>
              <a:rPr lang="en-US"/>
              <a:t>CUI//SP-PROPIN + Boeing Proprietary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800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917" y="266700"/>
            <a:ext cx="11580283" cy="6223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4114800"/>
            <a:ext cx="5683251" cy="2147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4114800"/>
            <a:ext cx="5685367" cy="2147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1277600" y="6392864"/>
            <a:ext cx="550333" cy="3889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BD5A24-CB0F-4A1B-8FBE-D2DB5DB22A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3149600" y="6392864"/>
            <a:ext cx="5700184" cy="3889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/>
            </a:lvl1pPr>
          </a:lstStyle>
          <a:p>
            <a:r>
              <a:rPr lang="en-US"/>
              <a:t>CUI//SP-PROPIN + Boeing Proprietary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830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306917" y="266700"/>
            <a:ext cx="11580283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82" tIns="50941" rIns="101882" bIns="5094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Rectangle 1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1" y="1219200"/>
            <a:ext cx="11571817" cy="504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82" tIns="50941" rIns="101882" bIns="509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 bwMode="auto">
          <a:xfrm>
            <a:off x="304800" y="889000"/>
            <a:ext cx="10363200" cy="1588"/>
          </a:xfrm>
          <a:prstGeom prst="line">
            <a:avLst/>
          </a:prstGeom>
          <a:solidFill>
            <a:schemeClr val="accent1"/>
          </a:solidFill>
          <a:ln w="38100" cap="flat" cmpd="sng" algn="ctr">
            <a:gradFill flip="none" rotWithShape="1">
              <a:gsLst>
                <a:gs pos="0">
                  <a:srgbClr val="800000"/>
                </a:gs>
                <a:gs pos="100000">
                  <a:prstClr val="white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3149600" y="6392864"/>
            <a:ext cx="5700184" cy="388937"/>
          </a:xfrm>
          <a:prstGeom prst="rect">
            <a:avLst/>
          </a:prstGeom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lvl1pPr algn="ctr">
              <a:defRPr b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CUI//SP-PROPIN + Boeing Proprietary </a:t>
            </a:r>
            <a:endParaRPr lang="en-US" dirty="0"/>
          </a:p>
        </p:txBody>
      </p:sp>
      <p:sp>
        <p:nvSpPr>
          <p:cNvPr id="9" name="Rectangle 1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1277600" y="6392864"/>
            <a:ext cx="550333" cy="388937"/>
          </a:xfrm>
          <a:prstGeom prst="rect">
            <a:avLst/>
          </a:prstGeom>
        </p:spPr>
        <p:txBody>
          <a:bodyPr anchor="ctr" anchorCtr="1"/>
          <a:lstStyle>
            <a:lvl1pPr>
              <a:defRPr b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A1EAA665-7F94-4630-9CCF-1DF7E39660B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" name="Picture 13" descr="NASA insigniaCMYK"/>
          <p:cNvPicPr preferRelativeResize="0">
            <a:picLocks noChangeAspect="1"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11100894" y="266700"/>
            <a:ext cx="777875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9173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Helvetica" pitchFamily="-108" charset="0"/>
          <a:ea typeface="ＭＳ Ｐゴシック" pitchFamily="-108" charset="-128"/>
          <a:cs typeface="ＭＳ Ｐゴシック" pitchFamily="-108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Helvetica" pitchFamily="-108" charset="0"/>
          <a:ea typeface="ＭＳ Ｐゴシック" pitchFamily="-108" charset="-128"/>
          <a:cs typeface="ＭＳ Ｐゴシック" pitchFamily="-108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Helvetica" pitchFamily="-108" charset="0"/>
          <a:ea typeface="ＭＳ Ｐゴシック" pitchFamily="-108" charset="-128"/>
          <a:cs typeface="ＭＳ Ｐゴシック" pitchFamily="-108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Helvetica" pitchFamily="-108" charset="0"/>
          <a:ea typeface="ＭＳ Ｐゴシック" pitchFamily="-108" charset="-128"/>
          <a:cs typeface="ＭＳ Ｐゴシック" pitchFamily="-108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Helvetica" pitchFamily="-108" charset="0"/>
          <a:ea typeface="ＭＳ Ｐゴシック" pitchFamily="-108" charset="-128"/>
          <a:cs typeface="ＭＳ Ｐゴシック" pitchFamily="-108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Helvetica" pitchFamily="-108" charset="0"/>
          <a:ea typeface="ＭＳ Ｐゴシック" pitchFamily="-108" charset="-128"/>
          <a:cs typeface="ＭＳ Ｐゴシック" pitchFamily="-108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Helvetica" pitchFamily="-108" charset="0"/>
          <a:ea typeface="ＭＳ Ｐゴシック" pitchFamily="-108" charset="-128"/>
          <a:cs typeface="ＭＳ Ｐゴシック" pitchFamily="-108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Helvetica" pitchFamily="-108" charset="0"/>
          <a:ea typeface="ＭＳ Ｐゴシック" pitchFamily="-108" charset="-128"/>
          <a:cs typeface="ＭＳ Ｐゴシック" pitchFamily="-108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ヒラギノ角ゴ Pro W3" pitchFamily="-108" charset="-128"/>
          <a:cs typeface="ヒラギノ角ゴ Pro W3" pitchFamily="-108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ヒラギノ角ゴ Pro W3" pitchFamily="-108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6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0605" y="2130426"/>
            <a:ext cx="7630789" cy="1470025"/>
          </a:xfrm>
        </p:spPr>
        <p:txBody>
          <a:bodyPr/>
          <a:lstStyle/>
          <a:p>
            <a:pPr algn="ctr"/>
            <a:r>
              <a:rPr lang="en-US" dirty="0"/>
              <a:t>Computational Results for the Tiltwing Test Rig using Overflow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99" y="3600451"/>
            <a:ext cx="8534400" cy="1752600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rial"/>
                <a:ea typeface="DejaVu Sans"/>
                <a:cs typeface="DejaVu Sans"/>
              </a:rPr>
              <a:t>James C. Jensen, Marie F. Denison, and Andrew M. Chuen</a:t>
            </a:r>
          </a:p>
          <a:p>
            <a:r>
              <a:rPr lang="en-US" i="1" dirty="0">
                <a:solidFill>
                  <a:srgbClr val="000000"/>
                </a:solidFill>
              </a:rPr>
              <a:t>17</a:t>
            </a:r>
            <a:r>
              <a:rPr lang="en-US" i="1" baseline="30000" dirty="0">
                <a:solidFill>
                  <a:srgbClr val="000000"/>
                </a:solidFill>
              </a:rPr>
              <a:t>th</a:t>
            </a:r>
            <a:r>
              <a:rPr lang="en-US" i="1" dirty="0">
                <a:solidFill>
                  <a:srgbClr val="000000"/>
                </a:solidFill>
              </a:rPr>
              <a:t> Overset Grid Symposium– Penn State University, PA – September 21-24, 2026</a:t>
            </a:r>
          </a:p>
          <a:p>
            <a:endParaRPr lang="en-US" dirty="0">
              <a:solidFill>
                <a:srgbClr val="000000"/>
              </a:solidFill>
              <a:latin typeface="Arial"/>
              <a:ea typeface="DejaVu Sans"/>
              <a:cs typeface="DejaVu Sans"/>
            </a:endParaRPr>
          </a:p>
          <a:p>
            <a:r>
              <a:rPr lang="en-US" dirty="0">
                <a:solidFill>
                  <a:srgbClr val="000000"/>
                </a:solidFill>
                <a:latin typeface="Arial"/>
                <a:ea typeface="DejaVu Sans"/>
                <a:cs typeface="DejaVu Sans"/>
              </a:rPr>
              <a:t>NASA Ames Research Center</a:t>
            </a:r>
            <a:br>
              <a:rPr lang="en-US" dirty="0">
                <a:solidFill>
                  <a:srgbClr val="000000"/>
                </a:solidFill>
                <a:latin typeface="Arial"/>
                <a:ea typeface="DejaVu Sans"/>
                <a:cs typeface="DejaVu Sans"/>
              </a:rPr>
            </a:br>
            <a:r>
              <a:rPr lang="en-US" dirty="0">
                <a:solidFill>
                  <a:srgbClr val="000000"/>
                </a:solidFill>
                <a:latin typeface="Arial"/>
                <a:ea typeface="DejaVu Sans"/>
                <a:cs typeface="DejaVu Sans"/>
              </a:rPr>
              <a:t>Moffett Field, CA</a:t>
            </a:r>
          </a:p>
          <a:p>
            <a:endParaRPr lang="en-US" sz="1800" dirty="0">
              <a:solidFill>
                <a:srgbClr val="000000"/>
              </a:solidFill>
              <a:latin typeface="Arial"/>
              <a:ea typeface="DejaVu Sans"/>
              <a:cs typeface="DejaVu San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2D5BEA-A889-DBB3-7B59-107D2EDD00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70B7EB-FC9C-4400-93CE-515C1DC1ADA2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858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C687F-9933-2555-FDEF-44E08240C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CB3CF-ACB5-1AFD-5AB8-9F311B08B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7" y="266700"/>
            <a:ext cx="11580284" cy="622300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D93DB-B1B1-5A88-6D24-1BCEF5A564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EAA665-7F94-4630-9CCF-1DF7E39660B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8DC8CD-99E1-B4DF-4AF1-BD7B2BA75D7D}"/>
              </a:ext>
            </a:extLst>
          </p:cNvPr>
          <p:cNvSpPr txBox="1"/>
          <p:nvPr/>
        </p:nvSpPr>
        <p:spPr>
          <a:xfrm>
            <a:off x="306917" y="1112219"/>
            <a:ext cx="11142961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b="1" dirty="0"/>
              <a:t>Background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solidFill>
                  <a:schemeClr val="bg2"/>
                </a:solidFill>
              </a:rPr>
              <a:t>Automated Mesh Generation with EPOGS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/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solidFill>
                  <a:schemeClr val="bg2"/>
                </a:solidFill>
              </a:rPr>
              <a:t>Computational Methodology</a:t>
            </a:r>
          </a:p>
          <a:p>
            <a:endParaRPr lang="en-US" sz="2000" dirty="0">
              <a:solidFill>
                <a:schemeClr val="bg2"/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solidFill>
                  <a:schemeClr val="bg2"/>
                </a:solidFill>
              </a:rPr>
              <a:t>Post-Test CFD Results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RANS with Rotor Disk Model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Adaption and URANS with Rotor Disk Model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DDES with Resolved Blades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/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solidFill>
                  <a:schemeClr val="bg2"/>
                </a:solidFill>
              </a:rPr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1198667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6AEC7-8C81-E7B5-F15D-9B5C5BFEE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947A6-BA57-B145-C612-2D9A600D7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7" y="266700"/>
            <a:ext cx="11580284" cy="622300"/>
          </a:xfrm>
        </p:spPr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7A49C-78D4-D4DA-36D0-CE7E7E2724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EAA665-7F94-4630-9CCF-1DF7E39660B7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764111-C712-1247-9812-CDF058B19AE8}"/>
              </a:ext>
            </a:extLst>
          </p:cNvPr>
          <p:cNvSpPr txBox="1"/>
          <p:nvPr/>
        </p:nvSpPr>
        <p:spPr>
          <a:xfrm>
            <a:off x="303951" y="1035904"/>
            <a:ext cx="579204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Tiltwing Concept Vehicle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Designed under NASA’s Revolutionary Vertical Lift Technologies project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Tiltwing Test Rig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Scale model of half the span of the wing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Experiment conducted at NASA Langley’s 14- by 22-foot Subsonic Tunnel from 05/25 - 06/25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Experiment only used 2 nacelles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2ft diameter proprotors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" name="Picture 2" descr="A picture containing plane, aircraft, airplane, dark&#10;&#10;AI-generated content may be incorrect.">
            <a:extLst>
              <a:ext uri="{FF2B5EF4-FFF2-40B4-BE49-F238E27FC236}">
                <a16:creationId xmlns:a16="http://schemas.microsoft.com/office/drawing/2014/main" id="{F4CF6289-A2F1-05A4-86BE-6949BC951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6311" y="3951726"/>
            <a:ext cx="4741818" cy="2286000"/>
          </a:xfrm>
          <a:prstGeom prst="rect">
            <a:avLst/>
          </a:prstGeom>
        </p:spPr>
      </p:pic>
      <p:pic>
        <p:nvPicPr>
          <p:cNvPr id="5" name="Picture 4" descr="A picture containing plane, airplane, windmill, single&#10;&#10;AI-generated content may be incorrect.">
            <a:extLst>
              <a:ext uri="{FF2B5EF4-FFF2-40B4-BE49-F238E27FC236}">
                <a16:creationId xmlns:a16="http://schemas.microsoft.com/office/drawing/2014/main" id="{F3C2F669-23A2-6DE3-E9DB-544A32AED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868332"/>
            <a:ext cx="4745736" cy="24766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A09B99-A071-C9A9-FA54-90BCB6E6233C}"/>
              </a:ext>
            </a:extLst>
          </p:cNvPr>
          <p:cNvSpPr txBox="1"/>
          <p:nvPr/>
        </p:nvSpPr>
        <p:spPr>
          <a:xfrm>
            <a:off x="1416311" y="6268770"/>
            <a:ext cx="4679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Tiltwing Concept Vehicle in Hover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1B7C2-48AF-7113-61AE-827CA633A363}"/>
              </a:ext>
            </a:extLst>
          </p:cNvPr>
          <p:cNvSpPr txBox="1"/>
          <p:nvPr/>
        </p:nvSpPr>
        <p:spPr>
          <a:xfrm>
            <a:off x="6185445" y="6304949"/>
            <a:ext cx="46562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Tiltwing Concept Vehicle in Cruise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5E414C-B9BE-415A-8902-2753D56008B2}"/>
              </a:ext>
            </a:extLst>
          </p:cNvPr>
          <p:cNvSpPr txBox="1"/>
          <p:nvPr/>
        </p:nvSpPr>
        <p:spPr>
          <a:xfrm>
            <a:off x="6442374" y="3610640"/>
            <a:ext cx="48352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Tiltwing Test Rig Computational Geometry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93993D7-A0A2-E64E-F79E-350B6566384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721" t="5891" r="9926" b="7352"/>
          <a:stretch>
            <a:fillRect/>
          </a:stretch>
        </p:blipFill>
        <p:spPr>
          <a:xfrm>
            <a:off x="6185445" y="1129340"/>
            <a:ext cx="5283031" cy="247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671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FA841-5B76-C743-2E82-3CCD82FB1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CD700-BDCB-FABB-A3C9-D0DA4F1F5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7" y="266700"/>
            <a:ext cx="11580284" cy="622300"/>
          </a:xfrm>
        </p:spPr>
        <p:txBody>
          <a:bodyPr/>
          <a:lstStyle/>
          <a:p>
            <a:r>
              <a:rPr lang="en-US" dirty="0"/>
              <a:t>Wind Tunnel Test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99C1A-972B-C0CB-8673-55BCB4B377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EAA665-7F94-4630-9CCF-1DF7E39660B7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2F7D444-503E-A48F-3628-E11EF824E614}"/>
                  </a:ext>
                </a:extLst>
              </p:cNvPr>
              <p:cNvSpPr txBox="1"/>
              <p:nvPr/>
            </p:nvSpPr>
            <p:spPr>
              <a:xfrm>
                <a:off x="306887" y="1245901"/>
                <a:ext cx="4727178" cy="46166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sz="2000" dirty="0"/>
                  <a:t>Geometry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Clean wing or wing with 60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dirty="0"/>
                  <a:t> flap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With/without rotors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With/without nacelles</a:t>
                </a:r>
              </a:p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sz="2000" dirty="0"/>
                  <a:t>Conditions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20, 40, and 60 knots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Angle of attack sweeps from -5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dirty="0"/>
                  <a:t> to 90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US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Up to 4000RPM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Collective of 15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dirty="0"/>
                  <a:t> to 30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Total of over 2400 data points</a:t>
                </a:r>
              </a:p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sz="2000" dirty="0"/>
                  <a:t>CFD Goals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Assess the accuracy of different simulation methods against the experimental data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Comparisons of loads</a:t>
                </a: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2F7D444-503E-A48F-3628-E11EF824E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887" y="1245901"/>
                <a:ext cx="4727178" cy="4616648"/>
              </a:xfrm>
              <a:prstGeom prst="rect">
                <a:avLst/>
              </a:prstGeom>
              <a:blipFill>
                <a:blip r:embed="rId3"/>
                <a:stretch>
                  <a:fillRect l="-1072" t="-548" b="-1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08F5FBF0-72EB-BE97-F9FA-1D3BBBE694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932" t="5833" r="12699" b="52756"/>
          <a:stretch>
            <a:fillRect/>
          </a:stretch>
        </p:blipFill>
        <p:spPr>
          <a:xfrm>
            <a:off x="5031129" y="3941843"/>
            <a:ext cx="6043613" cy="28399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4BD83C-2B0E-5F8B-B6BA-F6059422C5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932" t="55118" r="12699" b="2707"/>
          <a:stretch>
            <a:fillRect/>
          </a:stretch>
        </p:blipFill>
        <p:spPr>
          <a:xfrm>
            <a:off x="5031129" y="983189"/>
            <a:ext cx="6043613" cy="28923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D30892-F2F3-DBAE-336A-C517CBD98929}"/>
              </a:ext>
            </a:extLst>
          </p:cNvPr>
          <p:cNvSpPr txBox="1"/>
          <p:nvPr/>
        </p:nvSpPr>
        <p:spPr>
          <a:xfrm>
            <a:off x="4686298" y="2804251"/>
            <a:ext cx="48352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Clean Wing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75FB2B6-C43B-BCA4-2D2A-4182760AFD4D}"/>
                  </a:ext>
                </a:extLst>
              </p:cNvPr>
              <p:cNvSpPr txBox="1"/>
              <p:nvPr/>
            </p:nvSpPr>
            <p:spPr>
              <a:xfrm>
                <a:off x="4852986" y="6167767"/>
                <a:ext cx="483522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Wing With 60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1600" dirty="0"/>
                  <a:t> Flaps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75FB2B6-C43B-BCA4-2D2A-4182760AF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2986" y="6167767"/>
                <a:ext cx="4835226" cy="338554"/>
              </a:xfrm>
              <a:prstGeom prst="rect">
                <a:avLst/>
              </a:prstGeom>
              <a:blipFill>
                <a:blip r:embed="rId5"/>
                <a:stretch>
                  <a:fillRect t="-3571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1138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EA379-2B39-B615-5984-99B41E27B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85765-1256-83F9-86F9-CFB60BC3B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7" y="266700"/>
            <a:ext cx="11580284" cy="622300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EB1F1-5AE2-0913-D4F4-CAF657594C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EAA665-7F94-4630-9CCF-1DF7E39660B7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BC568D-8EFE-44B0-C65C-C437696B33D9}"/>
              </a:ext>
            </a:extLst>
          </p:cNvPr>
          <p:cNvSpPr txBox="1"/>
          <p:nvPr/>
        </p:nvSpPr>
        <p:spPr>
          <a:xfrm>
            <a:off x="306917" y="1112219"/>
            <a:ext cx="11142961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solidFill>
                  <a:schemeClr val="bg2"/>
                </a:solidFill>
              </a:rPr>
              <a:t>Background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/>
              <a:t>Automated Mesh Generation with EPOGS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/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solidFill>
                  <a:schemeClr val="bg2"/>
                </a:solidFill>
              </a:rPr>
              <a:t>Computational Methodology</a:t>
            </a:r>
          </a:p>
          <a:p>
            <a:endParaRPr lang="en-US" sz="2000" dirty="0">
              <a:solidFill>
                <a:schemeClr val="bg2"/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solidFill>
                  <a:schemeClr val="bg2"/>
                </a:solidFill>
              </a:rPr>
              <a:t>Post-Test CFD Results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RANS with Rotor Disk Model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Adaption and URANS with Rotor Disk Model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DDES with Resolved Blades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/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solidFill>
                  <a:schemeClr val="bg2"/>
                </a:solidFill>
              </a:rPr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3380257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E3DC8-8CDF-1D58-D1BA-674BFAEC8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D418D-4C4F-A8F9-F93A-1F9D87999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7" y="266700"/>
            <a:ext cx="11580284" cy="622300"/>
          </a:xfrm>
        </p:spPr>
        <p:txBody>
          <a:bodyPr/>
          <a:lstStyle/>
          <a:p>
            <a:r>
              <a:rPr lang="en-US" dirty="0"/>
              <a:t>Mesh Generation using EPOGS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824E6-F688-B15B-6555-F705FB5BF0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EAA665-7F94-4630-9CCF-1DF7E39660B7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5795A4-0159-0669-2F82-ED03CAA4F2F2}"/>
              </a:ext>
            </a:extLst>
          </p:cNvPr>
          <p:cNvSpPr txBox="1"/>
          <p:nvPr/>
        </p:nvSpPr>
        <p:spPr>
          <a:xfrm>
            <a:off x="306917" y="911665"/>
            <a:ext cx="1158028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How EPOGS works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Generates automated structured, overset meshes, and connectivity files starting from a </a:t>
            </a:r>
            <a:r>
              <a:rPr lang="en-US" dirty="0" err="1"/>
              <a:t>BRep</a:t>
            </a:r>
            <a:r>
              <a:rPr lang="en-US" dirty="0"/>
              <a:t> solid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Uses a relatively simple set of global inputs to control the meshes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Generating the TWTR meshes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Used two bodies: one for the wing, nacelles, and mount, and one for the blade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Used EPOGS’ ”combine” function to generate the final geometry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Limited maximum cell size to 10% the local tip chord with a maximum stretching ratio of 1.2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Actuator zone meshes were manually generated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7300E9-E679-8E00-8FA1-9DCC0EB1A0BA}"/>
              </a:ext>
            </a:extLst>
          </p:cNvPr>
          <p:cNvSpPr txBox="1"/>
          <p:nvPr/>
        </p:nvSpPr>
        <p:spPr>
          <a:xfrm>
            <a:off x="3684410" y="6377316"/>
            <a:ext cx="4823180" cy="338554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r>
              <a:rPr lang="en-US" sz="1600" b="1" dirty="0"/>
              <a:t>See AIAA 2024-4305 for more details on EPOGS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B8C56E-CB04-5D78-3B5C-1D265CCF7B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855" b="20209"/>
          <a:stretch>
            <a:fillRect/>
          </a:stretch>
        </p:blipFill>
        <p:spPr>
          <a:xfrm>
            <a:off x="6941251" y="3281545"/>
            <a:ext cx="4943832" cy="23698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C7B094-5190-845A-9B0B-D1F4E3DCC2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3113" b="34729"/>
          <a:stretch>
            <a:fillRect/>
          </a:stretch>
        </p:blipFill>
        <p:spPr>
          <a:xfrm rot="5400000">
            <a:off x="4420859" y="4351904"/>
            <a:ext cx="2743200" cy="8821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F7D7A5-E76B-FF1C-2D72-1BE7F775E28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834" b="18508"/>
          <a:stretch>
            <a:fillRect/>
          </a:stretch>
        </p:blipFill>
        <p:spPr>
          <a:xfrm>
            <a:off x="275108" y="3322505"/>
            <a:ext cx="4368560" cy="30867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FEB85EA-9845-8E29-2932-E1F7F91FF8FD}"/>
              </a:ext>
            </a:extLst>
          </p:cNvPr>
          <p:cNvSpPr txBox="1"/>
          <p:nvPr/>
        </p:nvSpPr>
        <p:spPr>
          <a:xfrm>
            <a:off x="4686300" y="4300538"/>
            <a:ext cx="60007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+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044E12-692D-4647-6810-7420DAE0F78A}"/>
              </a:ext>
            </a:extLst>
          </p:cNvPr>
          <p:cNvSpPr txBox="1"/>
          <p:nvPr/>
        </p:nvSpPr>
        <p:spPr>
          <a:xfrm>
            <a:off x="6339058" y="4300537"/>
            <a:ext cx="60007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2745782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2DDCF-4759-8F15-0B03-7D7BB71D1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16F0BF9D-5B4E-5950-90C5-B441384ABD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94"/>
          <a:stretch>
            <a:fillRect/>
          </a:stretch>
        </p:blipFill>
        <p:spPr>
          <a:xfrm>
            <a:off x="8687854" y="3245734"/>
            <a:ext cx="2589746" cy="2743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37B4DE-3A75-B352-37F5-8E43749BF8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11" t="17117" r="11671" b="3976"/>
          <a:stretch>
            <a:fillRect/>
          </a:stretch>
        </p:blipFill>
        <p:spPr>
          <a:xfrm>
            <a:off x="306918" y="1121227"/>
            <a:ext cx="2743200" cy="28815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73C6FAA-C74F-D21D-6976-1CDB42C02C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212" t="17117" r="11672" b="3976"/>
          <a:stretch>
            <a:fillRect/>
          </a:stretch>
        </p:blipFill>
        <p:spPr>
          <a:xfrm>
            <a:off x="3271995" y="1121227"/>
            <a:ext cx="2743200" cy="28815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4BA731-698C-3821-EF3B-65CEBC244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7" y="266700"/>
            <a:ext cx="11580284" cy="622300"/>
          </a:xfrm>
        </p:spPr>
        <p:txBody>
          <a:bodyPr/>
          <a:lstStyle/>
          <a:p>
            <a:r>
              <a:rPr lang="en-US" dirty="0"/>
              <a:t>Example Surface Meshes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27258-DD93-35A8-59AC-ED6DB8010C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EAA665-7F94-4630-9CCF-1DF7E39660B7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EA563C-3E60-A765-9790-4A66AC3237CB}"/>
              </a:ext>
            </a:extLst>
          </p:cNvPr>
          <p:cNvSpPr txBox="1"/>
          <p:nvPr/>
        </p:nvSpPr>
        <p:spPr>
          <a:xfrm>
            <a:off x="306918" y="4002813"/>
            <a:ext cx="2743200" cy="36933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 defTabSz="457200">
              <a:defRPr/>
            </a:pPr>
            <a:r>
              <a:rPr lang="en-US" dirty="0"/>
              <a:t>Proprotor Blade Grids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BEC6DF-B7ED-DC48-BD22-11387CA0EB4D}"/>
              </a:ext>
            </a:extLst>
          </p:cNvPr>
          <p:cNvSpPr txBox="1"/>
          <p:nvPr/>
        </p:nvSpPr>
        <p:spPr>
          <a:xfrm>
            <a:off x="3271994" y="4050374"/>
            <a:ext cx="2824005" cy="36933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 defTabSz="457200">
              <a:defRPr/>
            </a:pPr>
            <a:r>
              <a:rPr lang="en-US" dirty="0"/>
              <a:t>Actuator Disk Grid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0443C2-FE61-93A9-E115-6595398C3AAA}"/>
              </a:ext>
            </a:extLst>
          </p:cNvPr>
          <p:cNvSpPr txBox="1"/>
          <p:nvPr/>
        </p:nvSpPr>
        <p:spPr>
          <a:xfrm>
            <a:off x="7907574" y="5990215"/>
            <a:ext cx="4296866" cy="36933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 defTabSz="457200">
              <a:defRPr/>
            </a:pPr>
            <a:r>
              <a:rPr lang="en-US" dirty="0"/>
              <a:t>Inboard Nacelle and Blades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987D3A6-1C1A-87E2-F0C1-12AA8D8AAA4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9724" r="33136" b="3889"/>
          <a:stretch>
            <a:fillRect/>
          </a:stretch>
        </p:blipFill>
        <p:spPr>
          <a:xfrm rot="16200000">
            <a:off x="7078640" y="923108"/>
            <a:ext cx="1060063" cy="27432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0A27BB-BE90-6155-D801-48A7E3E894F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9375" b="25877"/>
          <a:stretch>
            <a:fillRect/>
          </a:stretch>
        </p:blipFill>
        <p:spPr>
          <a:xfrm>
            <a:off x="8950585" y="1142517"/>
            <a:ext cx="2743200" cy="122754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10CA1EE-2E45-CBB4-381B-263A704476F3}"/>
              </a:ext>
            </a:extLst>
          </p:cNvPr>
          <p:cNvSpPr txBox="1"/>
          <p:nvPr/>
        </p:nvSpPr>
        <p:spPr>
          <a:xfrm>
            <a:off x="6237070" y="2944638"/>
            <a:ext cx="2743200" cy="36933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 defTabSz="457200">
              <a:defRPr/>
            </a:pPr>
            <a:r>
              <a:rPr lang="en-US" dirty="0"/>
              <a:t>Blade Tip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161947-26A8-344A-120E-5D2C6BC17D6E}"/>
              </a:ext>
            </a:extLst>
          </p:cNvPr>
          <p:cNvSpPr txBox="1"/>
          <p:nvPr/>
        </p:nvSpPr>
        <p:spPr>
          <a:xfrm>
            <a:off x="8950584" y="2489340"/>
            <a:ext cx="2783602" cy="36933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 defTabSz="457200">
              <a:defRPr/>
            </a:pPr>
            <a:r>
              <a:rPr lang="en-US" dirty="0"/>
              <a:t>Wing Tip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38C0831-FBB0-C3FA-BF43-95C0D54058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986650"/>
              </p:ext>
            </p:extLst>
          </p:nvPr>
        </p:nvGraphicFramePr>
        <p:xfrm>
          <a:off x="306918" y="4878489"/>
          <a:ext cx="7931940" cy="1376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82985">
                  <a:extLst>
                    <a:ext uri="{9D8B030D-6E8A-4147-A177-3AD203B41FA5}">
                      <a16:colId xmlns:a16="http://schemas.microsoft.com/office/drawing/2014/main" val="1065093274"/>
                    </a:ext>
                  </a:extLst>
                </a:gridCol>
                <a:gridCol w="1982985">
                  <a:extLst>
                    <a:ext uri="{9D8B030D-6E8A-4147-A177-3AD203B41FA5}">
                      <a16:colId xmlns:a16="http://schemas.microsoft.com/office/drawing/2014/main" val="1906578162"/>
                    </a:ext>
                  </a:extLst>
                </a:gridCol>
                <a:gridCol w="1982985">
                  <a:extLst>
                    <a:ext uri="{9D8B030D-6E8A-4147-A177-3AD203B41FA5}">
                      <a16:colId xmlns:a16="http://schemas.microsoft.com/office/drawing/2014/main" val="2822936641"/>
                    </a:ext>
                  </a:extLst>
                </a:gridCol>
                <a:gridCol w="1982985">
                  <a:extLst>
                    <a:ext uri="{9D8B030D-6E8A-4147-A177-3AD203B41FA5}">
                      <a16:colId xmlns:a16="http://schemas.microsoft.com/office/drawing/2014/main" val="3882952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Points (millions)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Near-Body Grids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Off-Body Grids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0381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Actuator Disk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369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Blade Resolved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480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422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50816-EE94-2CAA-A2A1-B561209BB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0FB86-B1F7-D65C-BB46-89C340CCA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7" y="266700"/>
            <a:ext cx="11580284" cy="622300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F0AA2-98CE-11A6-E96A-CEB3CC56E5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EAA665-7F94-4630-9CCF-1DF7E39660B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0BF5A1-8C5F-EC10-A513-58613CC0C4F3}"/>
              </a:ext>
            </a:extLst>
          </p:cNvPr>
          <p:cNvSpPr txBox="1"/>
          <p:nvPr/>
        </p:nvSpPr>
        <p:spPr>
          <a:xfrm>
            <a:off x="306917" y="1112219"/>
            <a:ext cx="11142961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solidFill>
                  <a:schemeClr val="bg2"/>
                </a:solidFill>
              </a:rPr>
              <a:t>Background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solidFill>
                  <a:schemeClr val="bg2"/>
                </a:solidFill>
              </a:rPr>
              <a:t>Automated Mesh Generation with EPOGS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/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/>
              <a:t>Computational Methodology</a:t>
            </a:r>
          </a:p>
          <a:p>
            <a:endParaRPr lang="en-US" sz="2000" dirty="0">
              <a:solidFill>
                <a:schemeClr val="bg2"/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solidFill>
                  <a:schemeClr val="bg2"/>
                </a:solidFill>
              </a:rPr>
              <a:t>Post-Test CFD Results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RANS with Rotor Disk Model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Adaption and URANS with Rotor Disk Model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DDES with Resolved Blades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/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solidFill>
                  <a:schemeClr val="bg2"/>
                </a:solidFill>
              </a:rPr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1879037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A1460-D6B1-59F6-2611-E1E15F9AA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CC017-2C4C-8CCA-4501-6BA3F615D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7" y="266700"/>
            <a:ext cx="11580284" cy="622300"/>
          </a:xfrm>
        </p:spPr>
        <p:txBody>
          <a:bodyPr/>
          <a:lstStyle/>
          <a:p>
            <a:r>
              <a:rPr lang="en-US" dirty="0"/>
              <a:t>Computational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813C5-15D8-D752-EB7F-5542F4B8C4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EAA665-7F94-4630-9CCF-1DF7E39660B7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35E2EEF-7575-E2B0-E573-652FCD8066E3}"/>
                  </a:ext>
                </a:extLst>
              </p:cNvPr>
              <p:cNvSpPr txBox="1"/>
              <p:nvPr/>
            </p:nvSpPr>
            <p:spPr>
              <a:xfrm>
                <a:off x="306917" y="1024723"/>
                <a:ext cx="11580284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sz="2000" dirty="0"/>
                  <a:t>Overflow Version 2.5</a:t>
                </a:r>
              </a:p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sz="2000" dirty="0"/>
                  <a:t>RANS/URANS with Rotor Disk Model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Numerical Scheme: Global Linear Solve (GLS), Roe upwind scheme, WENO, Improved SSOR, SA-RC-QCR 2013 turbulence model with Low-Mach preconditioning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Rotor Disk model used to represent blades, based on provided C81 airfoil tables and thrust</a:t>
                </a:r>
              </a:p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sz="2000" dirty="0"/>
                  <a:t>DDES with Resolved Blades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Numerical Scheme: GLS, Roe upwind scheme, WENO, Improved SSOR, DDES with SA-RC-QCR 2013 turbulence model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Physical timestep: 0.25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dirty="0"/>
                  <a:t> per iteration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Target sub-iteration convergence of 2 orders of magnitude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Multi-stage startup process, following Overflow user manual suggestions</a:t>
                </a:r>
              </a:p>
              <a:p>
                <a:pPr marL="1257300" lvl="2" indent="-342900">
                  <a:buFont typeface="Wingdings" pitchFamily="2" charset="2"/>
                  <a:buChar char="§"/>
                </a:pPr>
                <a:r>
                  <a:rPr lang="en-US" dirty="0"/>
                  <a:t>1 rev at final DT, 16 revs at coarse DT, remaining revs at final DT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Needed to use NQT = 102 instead of 104 for numerical stability</a:t>
                </a: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35E2EEF-7575-E2B0-E573-652FCD806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17" y="1024723"/>
                <a:ext cx="11580284" cy="3785652"/>
              </a:xfrm>
              <a:prstGeom prst="rect">
                <a:avLst/>
              </a:prstGeom>
              <a:blipFill>
                <a:blip r:embed="rId3"/>
                <a:stretch>
                  <a:fillRect l="-438" t="-669" r="-110" b="-1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594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0E4A4-14B1-6EEC-92C9-B5E62757F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Residual Convergence Plots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4FC9D-E3AF-84C5-78EC-AC74EE8D8A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EAA665-7F94-4630-9CCF-1DF7E39660B7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A4943E-6133-03DB-6652-D29675230F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89" t="8333" r="8253" b="3889"/>
          <a:stretch>
            <a:fillRect/>
          </a:stretch>
        </p:blipFill>
        <p:spPr>
          <a:xfrm>
            <a:off x="6169695" y="1083891"/>
            <a:ext cx="5498120" cy="4846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5106BA-3DBB-E670-C8A7-2D9AA79FE6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89" t="10625" r="8253" b="3889"/>
          <a:stretch>
            <a:fillRect/>
          </a:stretch>
        </p:blipFill>
        <p:spPr>
          <a:xfrm>
            <a:off x="524185" y="1083891"/>
            <a:ext cx="5645510" cy="48463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E28DDDF-E74D-B901-CC4E-502B2880520C}"/>
              </a:ext>
            </a:extLst>
          </p:cNvPr>
          <p:cNvSpPr txBox="1"/>
          <p:nvPr/>
        </p:nvSpPr>
        <p:spPr>
          <a:xfrm>
            <a:off x="2071251" y="1147020"/>
            <a:ext cx="2824005" cy="36933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 defTabSz="457200">
              <a:defRPr/>
            </a:pPr>
            <a:r>
              <a:rPr lang="en-US" dirty="0"/>
              <a:t>RANS With Rotor Disk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5B266A-F615-3D61-EF0F-8A681A9D86EF}"/>
              </a:ext>
            </a:extLst>
          </p:cNvPr>
          <p:cNvSpPr txBox="1"/>
          <p:nvPr/>
        </p:nvSpPr>
        <p:spPr>
          <a:xfrm>
            <a:off x="7227173" y="1147020"/>
            <a:ext cx="3850402" cy="36933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 defTabSz="457200">
              <a:defRPr/>
            </a:pPr>
            <a:r>
              <a:rPr lang="en-US" dirty="0"/>
              <a:t>DDES With Resolved Blades</a:t>
            </a:r>
          </a:p>
        </p:txBody>
      </p:sp>
    </p:spTree>
    <p:extLst>
      <p:ext uri="{BB962C8B-B14F-4D97-AF65-F5344CB8AC3E}">
        <p14:creationId xmlns:p14="http://schemas.microsoft.com/office/powerpoint/2010/main" val="2232928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44A33-DA41-84C3-E8AB-FE8651FF1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F8349-303E-BF40-E9CD-E19429546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7" y="266700"/>
            <a:ext cx="11580284" cy="622300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C3519-FEA5-E02C-C65B-2DAD781753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EAA665-7F94-4630-9CCF-1DF7E39660B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C89C35-3BBC-EB35-5F0A-7C036A590344}"/>
              </a:ext>
            </a:extLst>
          </p:cNvPr>
          <p:cNvSpPr txBox="1"/>
          <p:nvPr/>
        </p:nvSpPr>
        <p:spPr>
          <a:xfrm>
            <a:off x="306917" y="1112219"/>
            <a:ext cx="11142961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solidFill>
                  <a:schemeClr val="bg2"/>
                </a:solidFill>
              </a:rPr>
              <a:t>Background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solidFill>
                  <a:schemeClr val="bg2"/>
                </a:solidFill>
              </a:rPr>
              <a:t>Automated Mesh Generation with EPOGS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/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solidFill>
                  <a:schemeClr val="bg2"/>
                </a:solidFill>
              </a:rPr>
              <a:t>Computational Methodology</a:t>
            </a:r>
          </a:p>
          <a:p>
            <a:endParaRPr lang="en-US" sz="2000" dirty="0">
              <a:solidFill>
                <a:schemeClr val="bg2"/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/>
              <a:t>Post-Test CFD Results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RANS with Rotor Disk Model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Adaption and URANS with Rotor Disk Model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DDES with Resolved Blades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/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solidFill>
                  <a:schemeClr val="bg2"/>
                </a:solidFill>
              </a:rPr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1100173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C3B3A-EC08-874C-604F-E2E13D847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FF483F-A097-B894-717F-92D23B58D9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97" b="2070"/>
          <a:stretch>
            <a:fillRect/>
          </a:stretch>
        </p:blipFill>
        <p:spPr>
          <a:xfrm>
            <a:off x="2651522" y="3429000"/>
            <a:ext cx="5962385" cy="26324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E305B8-6DB3-D581-8C61-D27DFEC1F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7" y="266700"/>
            <a:ext cx="11580284" cy="622300"/>
          </a:xfrm>
        </p:spPr>
        <p:txBody>
          <a:bodyPr/>
          <a:lstStyle/>
          <a:p>
            <a:r>
              <a:rPr lang="en-US" dirty="0"/>
              <a:t>RANS With Rotor Disk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9C538F-3202-BC41-C633-20B3EFA6EF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EAA665-7F94-4630-9CCF-1DF7E39660B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2EF590-D0D8-340A-9126-691B235B6359}"/>
              </a:ext>
            </a:extLst>
          </p:cNvPr>
          <p:cNvSpPr txBox="1"/>
          <p:nvPr/>
        </p:nvSpPr>
        <p:spPr>
          <a:xfrm>
            <a:off x="306917" y="1050153"/>
            <a:ext cx="1065159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Motivation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RANS is significantly cheaper than blade resolved runs ~19x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Pre-test result showed reasonable agreement with blade resolved simulations*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Assess the accuracy of using the Rotor disk model and identify potential improvements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Method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Compare Overflow results against experimental data across a series of different studies that were performed during the wind tunnel test</a:t>
            </a:r>
          </a:p>
          <a:p>
            <a:pPr marL="1257300" lvl="2" indent="-342900">
              <a:buFont typeface="Wingdings" pitchFamily="2" charset="2"/>
              <a:buChar char="§"/>
            </a:pPr>
            <a:r>
              <a:rPr lang="en-US" dirty="0"/>
              <a:t>Variation of the free stream velocity </a:t>
            </a:r>
          </a:p>
          <a:p>
            <a:pPr marL="1257300" lvl="2" indent="-342900">
              <a:buFont typeface="Wingdings" pitchFamily="2" charset="2"/>
              <a:buChar char="§"/>
            </a:pPr>
            <a:r>
              <a:rPr lang="en-US" dirty="0"/>
              <a:t>Variation of the collective  (via modifying thrust input)</a:t>
            </a:r>
          </a:p>
          <a:p>
            <a:pPr marL="1257300" lvl="2" indent="-342900">
              <a:buFont typeface="Wingdings" pitchFamily="2" charset="2"/>
              <a:buChar char="§"/>
            </a:pPr>
            <a:r>
              <a:rPr lang="en-US" dirty="0"/>
              <a:t>Hysteresis </a:t>
            </a:r>
          </a:p>
          <a:p>
            <a:pPr marL="1257300" lvl="2" indent="-342900">
              <a:buFont typeface="Wingdings" pitchFamily="2" charset="2"/>
              <a:buChar char="§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9D6A69-3373-A077-08EE-9A6AA97ABCD8}"/>
              </a:ext>
            </a:extLst>
          </p:cNvPr>
          <p:cNvSpPr txBox="1"/>
          <p:nvPr/>
        </p:nvSpPr>
        <p:spPr>
          <a:xfrm>
            <a:off x="3684410" y="6377316"/>
            <a:ext cx="4431534" cy="338554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r>
              <a:rPr lang="en-US" sz="1600" b="1" dirty="0"/>
              <a:t>*AIAA 2025-3384 for details on pre-test CFD</a:t>
            </a:r>
          </a:p>
        </p:txBody>
      </p:sp>
    </p:spTree>
    <p:extLst>
      <p:ext uri="{BB962C8B-B14F-4D97-AF65-F5344CB8AC3E}">
        <p14:creationId xmlns:p14="http://schemas.microsoft.com/office/powerpoint/2010/main" val="1581595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BF5B4-1BC8-FC6C-086E-D4D970C6D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D3B07-78ED-DFCB-53C7-292F5BD5D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7" y="266700"/>
            <a:ext cx="11580284" cy="622300"/>
          </a:xfrm>
        </p:spPr>
        <p:txBody>
          <a:bodyPr/>
          <a:lstStyle/>
          <a:p>
            <a:r>
              <a:rPr lang="en-US" dirty="0"/>
              <a:t>Free Stream Variation Study – Lift and Drag Comparisons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DC96D-C8EF-9B1A-78F3-0A7FAB856B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EAA665-7F94-4630-9CCF-1DF7E39660B7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B5845F7-C6F1-B71A-2E2B-81C0E278A37C}"/>
                  </a:ext>
                </a:extLst>
              </p:cNvPr>
              <p:cNvSpPr txBox="1"/>
              <p:nvPr/>
            </p:nvSpPr>
            <p:spPr>
              <a:xfrm>
                <a:off x="306917" y="889000"/>
                <a:ext cx="10651596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sz="2000" dirty="0"/>
                  <a:t>Conditions: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20, 40, and 60 knots, collective = 27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sz="2000" dirty="0"/>
                  <a:t>20 knot case is under-predicting lift across alpha sweep, while 40 and 60 knot cases are over-predicting lift until they stall</a:t>
                </a:r>
              </a:p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sz="2000" dirty="0"/>
                  <a:t>Drag is over predicted across almost all cases</a:t>
                </a:r>
              </a:p>
              <a:p>
                <a:pPr marL="342900" indent="-342900">
                  <a:buFont typeface="Wingdings" pitchFamily="2" charset="2"/>
                  <a:buChar char="Ø"/>
                </a:pPr>
                <a:endParaRPr lang="en-US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B5845F7-C6F1-B71A-2E2B-81C0E278A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17" y="889000"/>
                <a:ext cx="10651596" cy="2554545"/>
              </a:xfrm>
              <a:prstGeom prst="rect">
                <a:avLst/>
              </a:prstGeom>
              <a:blipFill>
                <a:blip r:embed="rId3"/>
                <a:stretch>
                  <a:fillRect l="-476" t="-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E7E49A02-1932-A835-A99E-0101F51655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57" t="7548" r="7182" b="2408"/>
          <a:stretch>
            <a:fillRect/>
          </a:stretch>
        </p:blipFill>
        <p:spPr>
          <a:xfrm>
            <a:off x="611495" y="2209801"/>
            <a:ext cx="5083458" cy="4572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A7EF4D-EFA3-E628-B033-45D86796EC8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857" t="10068" r="7182" b="2408"/>
          <a:stretch>
            <a:fillRect/>
          </a:stretch>
        </p:blipFill>
        <p:spPr>
          <a:xfrm>
            <a:off x="5868863" y="2209801"/>
            <a:ext cx="5229821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550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DC3F7-68A7-3FFE-BA35-1755BF8DF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B9503-B74C-4868-442C-225FDDAF3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7" y="266700"/>
            <a:ext cx="11580284" cy="622300"/>
          </a:xfrm>
        </p:spPr>
        <p:txBody>
          <a:bodyPr/>
          <a:lstStyle/>
          <a:p>
            <a:r>
              <a:rPr lang="en-US" dirty="0"/>
              <a:t>Collective Variation Study – Lift and Drag Comparisons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21B0C-991E-BEE3-FDB2-A024FBDD0A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EAA665-7F94-4630-9CCF-1DF7E39660B7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D056EB3-2842-389A-8C75-A8DD36C9B1A5}"/>
                  </a:ext>
                </a:extLst>
              </p:cNvPr>
              <p:cNvSpPr txBox="1"/>
              <p:nvPr/>
            </p:nvSpPr>
            <p:spPr>
              <a:xfrm>
                <a:off x="306917" y="1050153"/>
                <a:ext cx="10651596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sz="2000" dirty="0"/>
                  <a:t>Conditions: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40 knots, collective = 23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000" dirty="0"/>
                  <a:t> and 27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000" dirty="0"/>
                  <a:t>, Re = 2.41e6</a:t>
                </a:r>
              </a:p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sz="2000" dirty="0"/>
                  <a:t>Lift slightly over-predicted in linear regime but is severely under-predicted post-stall</a:t>
                </a:r>
              </a:p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sz="2000" dirty="0"/>
                  <a:t>Drag is over predicted until very high angles of attack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D056EB3-2842-389A-8C75-A8DD36C9B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17" y="1050153"/>
                <a:ext cx="10651596" cy="1323439"/>
              </a:xfrm>
              <a:prstGeom prst="rect">
                <a:avLst/>
              </a:prstGeom>
              <a:blipFill>
                <a:blip r:embed="rId2"/>
                <a:stretch>
                  <a:fillRect l="-476" t="-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E759C47-5F73-4FED-8E7A-699C5F0AA1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10" t="9122" r="8222" b="3889"/>
          <a:stretch>
            <a:fillRect/>
          </a:stretch>
        </p:blipFill>
        <p:spPr>
          <a:xfrm>
            <a:off x="597091" y="2019300"/>
            <a:ext cx="5274320" cy="4572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328173-5DB8-6E0B-F315-D7923DF254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10" t="9122" r="8222" b="3889"/>
          <a:stretch>
            <a:fillRect/>
          </a:stretch>
        </p:blipFill>
        <p:spPr>
          <a:xfrm>
            <a:off x="5871411" y="2019300"/>
            <a:ext cx="527432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73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D65A8-021A-A917-D40D-6F4459B94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3787A11-BCF9-7611-C2DA-3ECC1137C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0609" y="2553750"/>
            <a:ext cx="5496026" cy="411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9AE27B-A10E-92D6-25BC-CB2507F4D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Hysteresis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E46658-5B64-FA15-EB67-3AFFF015BF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4616" y="967549"/>
                <a:ext cx="11551857" cy="1586201"/>
              </a:xfrm>
            </p:spPr>
            <p:txBody>
              <a:bodyPr/>
              <a:lstStyle/>
              <a:p>
                <a:pPr>
                  <a:buFont typeface="Wingdings" pitchFamily="2" charset="2"/>
                  <a:buChar char="Ø"/>
                </a:pPr>
                <a:r>
                  <a:rPr lang="en-US" dirty="0"/>
                  <a:t>Wing-only configuration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dirty="0"/>
                  <a:t>Conditions: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40 knots, Re=2.3M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dirty="0"/>
                  <a:t>Hysteresis observed in the experiment. AOA was increased at few minutes intervals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dirty="0"/>
                  <a:t>“Warm start” RANS simulations (restarted from prior AOA) differ from cold starts for ⍺ =17-23°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E46658-5B64-FA15-EB67-3AFFF015BF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4616" y="967549"/>
                <a:ext cx="11551857" cy="1586201"/>
              </a:xfrm>
              <a:blipFill>
                <a:blip r:embed="rId3"/>
                <a:stretch>
                  <a:fillRect l="-330" t="-2381"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6DA70-A7BF-8891-DCF5-A47C716E7B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EAA665-7F94-4630-9CCF-1DF7E39660B7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2CA66CB-39B4-33D3-5DD9-1AA961B9B7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616" y="2553750"/>
            <a:ext cx="5495993" cy="4114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2E248F-0511-5247-5358-7D601C0C8FC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297" b="2070"/>
          <a:stretch>
            <a:fillRect/>
          </a:stretch>
        </p:blipFill>
        <p:spPr>
          <a:xfrm>
            <a:off x="8181474" y="594358"/>
            <a:ext cx="2552621" cy="112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417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1E4F8-3E4F-08C8-BC9A-D1BF7E75A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78911B8-E41D-2FE8-2327-AB19694EC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755" y="2476500"/>
            <a:ext cx="5438273" cy="411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D6F318-CE46-0025-6683-0FD794452E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495" y="2476500"/>
            <a:ext cx="5473505" cy="411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4F3171-6E33-BEBE-867E-02577BADA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181" y="266700"/>
            <a:ext cx="11632019" cy="622300"/>
          </a:xfrm>
        </p:spPr>
        <p:txBody>
          <a:bodyPr/>
          <a:lstStyle/>
          <a:p>
            <a:r>
              <a:rPr lang="en-US" dirty="0"/>
              <a:t>Manual Mesh Refinement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B42C76-B016-5654-9FB2-571DD8BDA6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2720" y="1010087"/>
                <a:ext cx="11484480" cy="1938472"/>
              </a:xfrm>
            </p:spPr>
            <p:txBody>
              <a:bodyPr/>
              <a:lstStyle/>
              <a:p>
                <a:pPr>
                  <a:buFont typeface="Wingdings" pitchFamily="2" charset="2"/>
                  <a:buChar char="Ø"/>
                </a:pPr>
                <a:r>
                  <a:rPr lang="en-US" dirty="0"/>
                  <a:t>Conditions: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40 knots, Re=2.3M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dirty="0"/>
                  <a:t>Lift Predictions &gt; experiments before stall, drag under-predicted at low AOA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dirty="0"/>
                  <a:t>Little sensitivity to medium grid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dirty="0"/>
                  <a:t>Iterative convergence showed low and high frequency oscillations at higher AOA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B42C76-B016-5654-9FB2-571DD8BDA6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2720" y="1010087"/>
                <a:ext cx="11484480" cy="1938472"/>
              </a:xfrm>
              <a:blipFill>
                <a:blip r:embed="rId5"/>
                <a:stretch>
                  <a:fillRect l="-331" t="-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31E0F-4543-1E95-3137-B035D4001D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EAA665-7F94-4630-9CCF-1DF7E39660B7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677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F0A0D-6FC2-DF09-D237-CE168D3F7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393E8-F63F-EA17-0CE0-073D54AB4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7" y="266700"/>
            <a:ext cx="11580284" cy="622300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4D4DA-D052-B943-4B81-C5F3205B11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EAA665-7F94-4630-9CCF-1DF7E39660B7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330859-F8F4-EC73-490D-F9DD8F4A2D91}"/>
              </a:ext>
            </a:extLst>
          </p:cNvPr>
          <p:cNvSpPr txBox="1"/>
          <p:nvPr/>
        </p:nvSpPr>
        <p:spPr>
          <a:xfrm>
            <a:off x="306917" y="1112219"/>
            <a:ext cx="11142961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solidFill>
                  <a:schemeClr val="bg2"/>
                </a:solidFill>
              </a:rPr>
              <a:t>Background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solidFill>
                  <a:schemeClr val="bg2"/>
                </a:solidFill>
              </a:rPr>
              <a:t>Automated Mesh Generation with EPOGS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/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solidFill>
                  <a:schemeClr val="bg2"/>
                </a:solidFill>
              </a:rPr>
              <a:t>Computational Methodology</a:t>
            </a:r>
          </a:p>
          <a:p>
            <a:endParaRPr lang="en-US" sz="2000" dirty="0">
              <a:solidFill>
                <a:schemeClr val="bg2"/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/>
              <a:t>Post-Test CFD Results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RANS with Rotor Disk Model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Adaption and URANS with Rotor Disk Model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DDES with Resolved Blades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/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solidFill>
                  <a:schemeClr val="bg2"/>
                </a:solidFill>
              </a:rPr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4163016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7B0E6-0DE0-2F85-50D7-6415948F5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C68DB-FAEF-10E7-12D7-9D5C55315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Mesh Refinement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A8E2F-7CE3-51FF-2484-EDDA42BE6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708197"/>
            <a:ext cx="6072553" cy="3441606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/>
              <a:t>Configuration: Clean wing, nacelles, and actuator disks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Adaption Strategies: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500M, 350M, 200M nodes (7, 5, 3 X original grid)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2-3 levels of refinement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AMR in refinement boxes around wing and nacelles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Near body refinement restrictions: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/>
              <a:t>All body-fitted grids (L&gt;30)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/>
              <a:t>Trailing edge body fitted grids (L&gt;30)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Combination with URANS (in progress)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01C10-879A-45C0-D528-982FEA2F1B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EAA665-7F94-4630-9CCF-1DF7E39660B7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6FA77B-DD81-5D03-8CA8-CD1AC0BF5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451" y="1279250"/>
            <a:ext cx="5277749" cy="47233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E38ED25-A235-63AC-48CE-F7C4C30F1F3D}"/>
              </a:ext>
            </a:extLst>
          </p:cNvPr>
          <p:cNvSpPr txBox="1"/>
          <p:nvPr/>
        </p:nvSpPr>
        <p:spPr>
          <a:xfrm>
            <a:off x="10046458" y="5412909"/>
            <a:ext cx="2145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Q-Criterion (0.03)</a:t>
            </a:r>
          </a:p>
          <a:p>
            <a:r>
              <a:rPr lang="en-US" sz="1400" i="1" dirty="0"/>
              <a:t>2-Level AMR</a:t>
            </a:r>
          </a:p>
        </p:txBody>
      </p:sp>
    </p:spTree>
    <p:extLst>
      <p:ext uri="{BB962C8B-B14F-4D97-AF65-F5344CB8AC3E}">
        <p14:creationId xmlns:p14="http://schemas.microsoft.com/office/powerpoint/2010/main" val="2438749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1EB06-12E8-1857-0D35-516CCF8CA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Mesh Refinement: Wake Resolution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ontent Placeholder 14">
                <a:extLst>
                  <a:ext uri="{FF2B5EF4-FFF2-40B4-BE49-F238E27FC236}">
                    <a16:creationId xmlns:a16="http://schemas.microsoft.com/office/drawing/2014/main" id="{89BBB6F6-A68B-CE9D-7E10-026399FC44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2772" y="1192656"/>
                <a:ext cx="10972799" cy="1337892"/>
              </a:xfrm>
            </p:spPr>
            <p:txBody>
              <a:bodyPr/>
              <a:lstStyle/>
              <a:p>
                <a:pPr>
                  <a:buFont typeface="Wingdings" pitchFamily="2" charset="2"/>
                  <a:buChar char="Ø"/>
                </a:pPr>
                <a:r>
                  <a:rPr lang="en-US" dirty="0"/>
                  <a:t>Conditions: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/>
                  <a:t> = 20 knots,Rey=2.4M, 4000 RPM, AOA=0 (Test #257)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dirty="0"/>
                  <a:t>RANS, 2-level AMR with 500M nodes in refinement boxes and body fitted grids (L&gt;30)</a:t>
                </a:r>
              </a:p>
            </p:txBody>
          </p:sp>
        </mc:Choice>
        <mc:Fallback>
          <p:sp>
            <p:nvSpPr>
              <p:cNvPr id="15" name="Content Placeholder 14">
                <a:extLst>
                  <a:ext uri="{FF2B5EF4-FFF2-40B4-BE49-F238E27FC236}">
                    <a16:creationId xmlns:a16="http://schemas.microsoft.com/office/drawing/2014/main" id="{89BBB6F6-A68B-CE9D-7E10-026399FC44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2772" y="1192656"/>
                <a:ext cx="10972799" cy="1337892"/>
              </a:xfrm>
              <a:blipFill>
                <a:blip r:embed="rId3"/>
                <a:stretch>
                  <a:fillRect l="-347" t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EC44A-25AA-4D7F-9EEE-C3D779332B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EAA665-7F94-4630-9CCF-1DF7E39660B7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2D67C1-38DC-F009-A55F-CAABF259AB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624" b="7678"/>
          <a:stretch>
            <a:fillRect/>
          </a:stretch>
        </p:blipFill>
        <p:spPr>
          <a:xfrm>
            <a:off x="267788" y="2333234"/>
            <a:ext cx="5760720" cy="35194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3D036A-677A-3CF9-587F-CC87AE136A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112" t="322" r="6861" b="-322"/>
          <a:stretch>
            <a:fillRect/>
          </a:stretch>
        </p:blipFill>
        <p:spPr>
          <a:xfrm>
            <a:off x="6028508" y="2333234"/>
            <a:ext cx="5760720" cy="3519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8943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90202-0601-E1B3-9FFC-2F32FA282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Mesh Refinement: Iterative Convergence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C2FC2-0973-8C9F-8C2C-FE9716B9AB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EAA665-7F94-4630-9CCF-1DF7E39660B7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ontent Placeholder 14">
                <a:extLst>
                  <a:ext uri="{FF2B5EF4-FFF2-40B4-BE49-F238E27FC236}">
                    <a16:creationId xmlns:a16="http://schemas.microsoft.com/office/drawing/2014/main" id="{5BEB2627-488F-3803-2676-DAFE735564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6917" y="1173119"/>
                <a:ext cx="11186716" cy="2206258"/>
              </a:xfrm>
            </p:spPr>
            <p:txBody>
              <a:bodyPr/>
              <a:lstStyle/>
              <a:p>
                <a:pPr>
                  <a:buFont typeface="Wingdings" pitchFamily="2" charset="2"/>
                  <a:buChar char="Ø"/>
                </a:pPr>
                <a:r>
                  <a:rPr lang="en-US" dirty="0"/>
                  <a:t>Flow conditions: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40 knots,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= 0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dirty="0"/>
                  <a:t>, Re=2.4M, 4000 RPM (test #257)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dirty="0"/>
                  <a:t>URANS shows slow large amplitude oscillations (wake unsteadiness)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dirty="0"/>
                  <a:t>RANS with 2-level AMR, 350M nodes matches the experiment very well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dirty="0"/>
                  <a:t>Optimization of AMR parameters (size, levels, restrictions) </a:t>
                </a:r>
                <a:r>
                  <a:rPr lang="en-US" b="1" dirty="0"/>
                  <a:t>in progress</a:t>
                </a:r>
              </a:p>
            </p:txBody>
          </p:sp>
        </mc:Choice>
        <mc:Fallback>
          <p:sp>
            <p:nvSpPr>
              <p:cNvPr id="19" name="Content Placeholder 14">
                <a:extLst>
                  <a:ext uri="{FF2B5EF4-FFF2-40B4-BE49-F238E27FC236}">
                    <a16:creationId xmlns:a16="http://schemas.microsoft.com/office/drawing/2014/main" id="{5BEB2627-488F-3803-2676-DAFE735564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6917" y="1173119"/>
                <a:ext cx="11186716" cy="2206258"/>
              </a:xfrm>
              <a:blipFill>
                <a:blip r:embed="rId3"/>
                <a:stretch>
                  <a:fillRect l="-341" t="-5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E693F6B8-CA55-368B-9B0C-0FB00A015E43}"/>
              </a:ext>
            </a:extLst>
          </p:cNvPr>
          <p:cNvGrpSpPr/>
          <p:nvPr/>
        </p:nvGrpSpPr>
        <p:grpSpPr>
          <a:xfrm>
            <a:off x="230166" y="3497908"/>
            <a:ext cx="11721103" cy="2966686"/>
            <a:chOff x="230166" y="3497908"/>
            <a:chExt cx="11721103" cy="2966686"/>
          </a:xfrm>
        </p:grpSpPr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50D7B4B3-4C8A-F6D2-A13D-74CA55827C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89859" y="3498111"/>
              <a:ext cx="4361410" cy="2966483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FC742698-B15F-22DD-D324-EF4D8A200B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95347" y="3497908"/>
              <a:ext cx="4278736" cy="2956299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39B1CEC-C809-DE26-E345-B7F983DCC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0166" y="3516573"/>
              <a:ext cx="4278736" cy="2918967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BA0F7AC-3D22-866B-8A60-87C5ADAC132B}"/>
                </a:ext>
              </a:extLst>
            </p:cNvPr>
            <p:cNvSpPr txBox="1"/>
            <p:nvPr/>
          </p:nvSpPr>
          <p:spPr>
            <a:xfrm>
              <a:off x="3306580" y="5563452"/>
              <a:ext cx="11039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RANS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46A0B44-6DFE-10A8-DB58-999BDBFB93AE}"/>
                </a:ext>
              </a:extLst>
            </p:cNvPr>
            <p:cNvSpPr txBox="1"/>
            <p:nvPr/>
          </p:nvSpPr>
          <p:spPr>
            <a:xfrm>
              <a:off x="6981458" y="5563452"/>
              <a:ext cx="10668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URANS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E067D77-B453-C7EC-9728-A5E331F3FD4B}"/>
                </a:ext>
              </a:extLst>
            </p:cNvPr>
            <p:cNvSpPr txBox="1"/>
            <p:nvPr/>
          </p:nvSpPr>
          <p:spPr>
            <a:xfrm>
              <a:off x="10122195" y="5557449"/>
              <a:ext cx="16784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RANS+AMR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FAF0E27-A120-E96D-8DB0-CF7A7E5BD353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64029" y="4885156"/>
              <a:ext cx="11074315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50C2A47B-D232-C605-8D13-4B1409A37D78}"/>
              </a:ext>
            </a:extLst>
          </p:cNvPr>
          <p:cNvSpPr txBox="1"/>
          <p:nvPr/>
        </p:nvSpPr>
        <p:spPr>
          <a:xfrm>
            <a:off x="746113" y="4945582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Experiment</a:t>
            </a:r>
          </a:p>
        </p:txBody>
      </p: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3DAF197F-4336-FC9E-53D8-79CE45FE7E48}"/>
              </a:ext>
            </a:extLst>
          </p:cNvPr>
          <p:cNvGraphicFramePr>
            <a:graphicFrameLocks noGrp="1"/>
          </p:cNvGraphicFramePr>
          <p:nvPr/>
        </p:nvGraphicFramePr>
        <p:xfrm>
          <a:off x="4518837" y="3207430"/>
          <a:ext cx="7269887" cy="736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04977">
                  <a:extLst>
                    <a:ext uri="{9D8B030D-6E8A-4147-A177-3AD203B41FA5}">
                      <a16:colId xmlns:a16="http://schemas.microsoft.com/office/drawing/2014/main" val="3966888231"/>
                    </a:ext>
                  </a:extLst>
                </a:gridCol>
                <a:gridCol w="1520456">
                  <a:extLst>
                    <a:ext uri="{9D8B030D-6E8A-4147-A177-3AD203B41FA5}">
                      <a16:colId xmlns:a16="http://schemas.microsoft.com/office/drawing/2014/main" val="2406158238"/>
                    </a:ext>
                  </a:extLst>
                </a:gridCol>
                <a:gridCol w="1212111">
                  <a:extLst>
                    <a:ext uri="{9D8B030D-6E8A-4147-A177-3AD203B41FA5}">
                      <a16:colId xmlns:a16="http://schemas.microsoft.com/office/drawing/2014/main" val="3815468786"/>
                    </a:ext>
                  </a:extLst>
                </a:gridCol>
                <a:gridCol w="1932343">
                  <a:extLst>
                    <a:ext uri="{9D8B030D-6E8A-4147-A177-3AD203B41FA5}">
                      <a16:colId xmlns:a16="http://schemas.microsoft.com/office/drawing/2014/main" val="2374937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URANS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RANS+AMR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168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Δ(CFD-Experiment)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42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1999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BEBD4-3E54-A41A-4096-D7688B4EB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Mesh Refinement: Load Coefficients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D8DCA6-F5BB-BC44-3575-2995FA4161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3284" y="1136724"/>
                <a:ext cx="11968716" cy="1468253"/>
              </a:xfrm>
            </p:spPr>
            <p:txBody>
              <a:bodyPr/>
              <a:lstStyle/>
              <a:p>
                <a:pPr>
                  <a:buFont typeface="Wingdings" pitchFamily="2" charset="2"/>
                  <a:buChar char="Ø"/>
                </a:pPr>
                <a:r>
                  <a:rPr lang="en-US" dirty="0"/>
                  <a:t>Conditions: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/>
                  <a:t> = 20 knots, Re=2.45M, 4000 RPM (test #242)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dirty="0"/>
                  <a:t>RANS with 2-level AMR, 500M nodes significantly improves predictions of drag and lift at higher AOA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D8DCA6-F5BB-BC44-3575-2995FA416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3284" y="1136724"/>
                <a:ext cx="11968716" cy="1468253"/>
              </a:xfrm>
              <a:blipFill>
                <a:blip r:embed="rId2"/>
                <a:stretch>
                  <a:fillRect l="-318" t="-8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D6DC3-6BD6-EFDB-89BF-BD6764716A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EAA665-7F94-4630-9CCF-1DF7E39660B7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66D2FE-3EDD-0648-C8FE-D7CE74F70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64" y="2072766"/>
            <a:ext cx="5513736" cy="4114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6A1C2C9-4F4A-999B-BDD1-0F628A6089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72766"/>
            <a:ext cx="5505787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0744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13498-1565-2636-513C-F495F1775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B2446-EBD9-F532-5BA8-B72213764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7" y="266700"/>
            <a:ext cx="11580284" cy="622300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38BC2-FCA7-EAD8-AE4F-A7792B5D9D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EAA665-7F94-4630-9CCF-1DF7E39660B7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F34379-7939-7C1F-30C5-F4359DDA1486}"/>
              </a:ext>
            </a:extLst>
          </p:cNvPr>
          <p:cNvSpPr txBox="1"/>
          <p:nvPr/>
        </p:nvSpPr>
        <p:spPr>
          <a:xfrm>
            <a:off x="306917" y="1112219"/>
            <a:ext cx="11142961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solidFill>
                  <a:schemeClr val="bg2"/>
                </a:solidFill>
              </a:rPr>
              <a:t>Background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solidFill>
                  <a:schemeClr val="bg2"/>
                </a:solidFill>
              </a:rPr>
              <a:t>Automated Mesh Generation with EPOGS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/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solidFill>
                  <a:schemeClr val="bg2"/>
                </a:solidFill>
              </a:rPr>
              <a:t>Computational Methodology</a:t>
            </a:r>
          </a:p>
          <a:p>
            <a:endParaRPr lang="en-US" sz="2000" dirty="0">
              <a:solidFill>
                <a:schemeClr val="bg2"/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/>
              <a:t>Post-Test CFD Results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RANS with Rotor Disk Model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Adaption and URANS with Rotor Disk Model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DDES with Resolved Blades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/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solidFill>
                  <a:schemeClr val="bg2"/>
                </a:solidFill>
              </a:rPr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987354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BC2BF-B75D-E92C-C20E-DC98B820D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D82A1F2-EDCD-B860-9026-0AEF93486D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72" t="9591" r="9678" b="3889"/>
          <a:stretch>
            <a:fillRect/>
          </a:stretch>
        </p:blipFill>
        <p:spPr>
          <a:xfrm>
            <a:off x="5805118" y="1888249"/>
            <a:ext cx="5117425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DA3DF4-D5DE-158E-4F63-E005207CE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7" y="266700"/>
            <a:ext cx="11580284" cy="622300"/>
          </a:xfrm>
        </p:spPr>
        <p:txBody>
          <a:bodyPr/>
          <a:lstStyle/>
          <a:p>
            <a:r>
              <a:rPr lang="en-US" dirty="0"/>
              <a:t>DDES Loads Convergence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3B342-F910-35CE-AFE1-0497185863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EAA665-7F94-4630-9CCF-1DF7E39660B7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596BEBC-C23F-C9BE-AD7D-17AABECB7835}"/>
                  </a:ext>
                </a:extLst>
              </p:cNvPr>
              <p:cNvSpPr txBox="1"/>
              <p:nvPr/>
            </p:nvSpPr>
            <p:spPr>
              <a:xfrm>
                <a:off x="306917" y="1050153"/>
                <a:ext cx="10651596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sz="2000" dirty="0"/>
                  <a:t>Conditions: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40 knots,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000" dirty="0"/>
                  <a:t> = 0, 15, and 45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000" dirty="0"/>
                  <a:t>, collective = 27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000" dirty="0"/>
                  <a:t>, RPM = 4000, Re=2.41e6</a:t>
                </a:r>
              </a:p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sz="2000" dirty="0"/>
                  <a:t>No wake adaption in these runs, cases with adaption are currently running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596BEBC-C23F-C9BE-AD7D-17AABECB78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17" y="1050153"/>
                <a:ext cx="10651596" cy="1323439"/>
              </a:xfrm>
              <a:prstGeom prst="rect">
                <a:avLst/>
              </a:prstGeom>
              <a:blipFill>
                <a:blip r:embed="rId3"/>
                <a:stretch>
                  <a:fillRect l="-476" t="-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FE8889FD-16D6-D027-9875-77E11D6C6D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721" t="5891" r="9926" b="7352"/>
          <a:stretch>
            <a:fillRect/>
          </a:stretch>
        </p:blipFill>
        <p:spPr>
          <a:xfrm>
            <a:off x="8651471" y="1711872"/>
            <a:ext cx="2626129" cy="12311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32655DD-A390-FF5F-9CBB-717E7CB2FE6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272" t="9591" r="9678" b="3889"/>
          <a:stretch>
            <a:fillRect/>
          </a:stretch>
        </p:blipFill>
        <p:spPr>
          <a:xfrm>
            <a:off x="497305" y="2015332"/>
            <a:ext cx="5117425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483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66487-C2DF-D2A5-29EE-7BD38E8D5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CC48F-C45F-AA93-4B56-F5F5559EE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7" y="266700"/>
            <a:ext cx="11580284" cy="622300"/>
          </a:xfrm>
        </p:spPr>
        <p:txBody>
          <a:bodyPr/>
          <a:lstStyle/>
          <a:p>
            <a:r>
              <a:rPr lang="en-US" dirty="0"/>
              <a:t>DDES Loads Comparison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A2603-0924-3155-8C27-4536119E02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EAA665-7F94-4630-9CCF-1DF7E39660B7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18E80CC-6886-2B37-A158-2CDD2722FB7D}"/>
                  </a:ext>
                </a:extLst>
              </p:cNvPr>
              <p:cNvSpPr txBox="1"/>
              <p:nvPr/>
            </p:nvSpPr>
            <p:spPr>
              <a:xfrm>
                <a:off x="306916" y="1050153"/>
                <a:ext cx="11135783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sz="2000" dirty="0"/>
                  <a:t>DDES values are averaged over the last 3 revolutions</a:t>
                </a:r>
              </a:p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sz="2000" dirty="0"/>
                  <a:t>DDES over-predicts lift relative to RANS and does a better job at predicting the lift 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000" dirty="0"/>
                  <a:t> = 45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US" sz="2000" dirty="0"/>
              </a:p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sz="2000" dirty="0"/>
                  <a:t>DDES is predicting more thrust at the lower angles of attack and more drag at the higher angle of attack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18E80CC-6886-2B37-A158-2CDD2722F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16" y="1050153"/>
                <a:ext cx="11135783" cy="1938992"/>
              </a:xfrm>
              <a:prstGeom prst="rect">
                <a:avLst/>
              </a:prstGeom>
              <a:blipFill>
                <a:blip r:embed="rId2"/>
                <a:stretch>
                  <a:fillRect l="-456" t="-1299" r="-1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3268CE30-9D1B-5BB2-6816-10313986AD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33" t="10059" r="9677" b="3889"/>
          <a:stretch>
            <a:fillRect/>
          </a:stretch>
        </p:blipFill>
        <p:spPr>
          <a:xfrm>
            <a:off x="5874807" y="2015332"/>
            <a:ext cx="5207388" cy="4572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9D83BF-6B5A-F631-0913-E1F51595D4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33" t="10059" r="9677" b="3889"/>
          <a:stretch>
            <a:fillRect/>
          </a:stretch>
        </p:blipFill>
        <p:spPr>
          <a:xfrm>
            <a:off x="749301" y="2015332"/>
            <a:ext cx="5207388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0455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0EC74-42AE-1CA0-59B6-743282466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08BBC-37EF-BA89-C08C-05EB0FB31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7" y="266700"/>
            <a:ext cx="11580284" cy="622300"/>
          </a:xfrm>
        </p:spPr>
        <p:txBody>
          <a:bodyPr/>
          <a:lstStyle/>
          <a:p>
            <a:r>
              <a:rPr lang="en-US" dirty="0"/>
              <a:t>DDES with AMR Loads Convergence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C3DA78-8DBE-33D7-80CD-151D37B5EA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EAA665-7F94-4630-9CCF-1DF7E39660B7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79936B3-C63C-CDA1-3B80-BA358169B63B}"/>
                  </a:ext>
                </a:extLst>
              </p:cNvPr>
              <p:cNvSpPr txBox="1"/>
              <p:nvPr/>
            </p:nvSpPr>
            <p:spPr>
              <a:xfrm>
                <a:off x="306917" y="1050153"/>
                <a:ext cx="10651596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sz="2000" dirty="0"/>
                  <a:t>Conditions: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40 knots,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000" dirty="0"/>
                  <a:t> = 0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000" dirty="0"/>
                  <a:t>, collective = 27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000" dirty="0"/>
                  <a:t>, RPM = 4000, Re=2.41e6</a:t>
                </a:r>
              </a:p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sz="2000" dirty="0"/>
                  <a:t>Used 3 levels of adaption, applied to the near-body box meshes and off-body grids, limited the mesh to 500e6 cells (4x larger than original)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79936B3-C63C-CDA1-3B80-BA358169B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17" y="1050153"/>
                <a:ext cx="10651596" cy="1631216"/>
              </a:xfrm>
              <a:prstGeom prst="rect">
                <a:avLst/>
              </a:prstGeom>
              <a:blipFill>
                <a:blip r:embed="rId2"/>
                <a:stretch>
                  <a:fillRect l="-476" t="-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9E80C0CF-4D36-19B3-92DB-99CCD002B7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49" t="8889" r="9678" b="3889"/>
          <a:stretch>
            <a:fillRect/>
          </a:stretch>
        </p:blipFill>
        <p:spPr>
          <a:xfrm>
            <a:off x="5632715" y="2015332"/>
            <a:ext cx="5113037" cy="4572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ED8768-983D-127D-CFEA-88C664E795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49" t="8889" r="9678" b="3889"/>
          <a:stretch>
            <a:fillRect/>
          </a:stretch>
        </p:blipFill>
        <p:spPr>
          <a:xfrm>
            <a:off x="519678" y="2015332"/>
            <a:ext cx="5113037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8758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F61A4-DDBB-5622-EE81-38508BBBC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C937853B-AF5D-8B4C-118D-C9AF7EC43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2328" y="3428841"/>
            <a:ext cx="3653190" cy="32461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104F4C-EC2A-9A9F-B98F-2D796D7CB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072" y="3428998"/>
            <a:ext cx="3657600" cy="32500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4DFC6E-8E26-0EBE-FB9E-9B5FCCB51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3429000"/>
            <a:ext cx="3657600" cy="325003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DCDBAAD-BF60-11AC-8ACD-E8758E0EE4D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06917" y="266700"/>
                <a:ext cx="11580284" cy="622300"/>
              </a:xfrm>
            </p:spPr>
            <p:txBody>
              <a:bodyPr/>
              <a:lstStyle/>
              <a:p>
                <a:r>
                  <a:rPr lang="en-US" dirty="0"/>
                  <a:t>Loads Comparisons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= 0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DCDBAAD-BF60-11AC-8ACD-E8758E0EE4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06917" y="266700"/>
                <a:ext cx="11580284" cy="622300"/>
              </a:xfrm>
              <a:blipFill>
                <a:blip r:embed="rId5"/>
                <a:stretch>
                  <a:fillRect l="-1095" t="-2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535CC-6FEC-8FDD-489E-FC047E9B1C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EAA665-7F94-4630-9CCF-1DF7E39660B7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716E24B-4C16-5D66-65EC-1DA12304E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193430"/>
              </p:ext>
            </p:extLst>
          </p:nvPr>
        </p:nvGraphicFramePr>
        <p:xfrm>
          <a:off x="492072" y="985518"/>
          <a:ext cx="7580895" cy="2392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16179">
                  <a:extLst>
                    <a:ext uri="{9D8B030D-6E8A-4147-A177-3AD203B41FA5}">
                      <a16:colId xmlns:a16="http://schemas.microsoft.com/office/drawing/2014/main" val="3032433401"/>
                    </a:ext>
                  </a:extLst>
                </a:gridCol>
                <a:gridCol w="1632416">
                  <a:extLst>
                    <a:ext uri="{9D8B030D-6E8A-4147-A177-3AD203B41FA5}">
                      <a16:colId xmlns:a16="http://schemas.microsoft.com/office/drawing/2014/main" val="402540981"/>
                    </a:ext>
                  </a:extLst>
                </a:gridCol>
                <a:gridCol w="1399942">
                  <a:extLst>
                    <a:ext uri="{9D8B030D-6E8A-4147-A177-3AD203B41FA5}">
                      <a16:colId xmlns:a16="http://schemas.microsoft.com/office/drawing/2014/main" val="646512777"/>
                    </a:ext>
                  </a:extLst>
                </a:gridCol>
                <a:gridCol w="1609958">
                  <a:extLst>
                    <a:ext uri="{9D8B030D-6E8A-4147-A177-3AD203B41FA5}">
                      <a16:colId xmlns:a16="http://schemas.microsoft.com/office/drawing/2014/main" val="4108745033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9293002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Lift (</a:t>
                      </a:r>
                      <a:r>
                        <a:rPr lang="en-US" dirty="0" err="1"/>
                        <a:t>lbs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%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Drag (</a:t>
                      </a:r>
                      <a:r>
                        <a:rPr lang="en-US" dirty="0" err="1"/>
                        <a:t>lbs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% Error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575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Experiment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17.84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-54.55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576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21.30583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-44.2211189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18.93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349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16.32215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-60.50856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201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Adapted DDES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16.76769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-60.42259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493139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2924100F-D415-E90B-EB47-2FF781E2AC7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242" t="5604" r="8492" b="1642"/>
          <a:stretch>
            <a:fillRect/>
          </a:stretch>
        </p:blipFill>
        <p:spPr>
          <a:xfrm>
            <a:off x="8170332" y="1318258"/>
            <a:ext cx="3657601" cy="17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7116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3137D-2EE2-0EAC-0D7B-FF4884587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4FC4B5AF-935D-6073-40DB-92E3BC7F53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870" r="5083"/>
          <a:stretch>
            <a:fillRect/>
          </a:stretch>
        </p:blipFill>
        <p:spPr>
          <a:xfrm>
            <a:off x="8081433" y="1445116"/>
            <a:ext cx="3657600" cy="43891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01D07B-3655-83D9-5CB3-45E6BD6F9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7" y="266700"/>
            <a:ext cx="11580284" cy="622300"/>
          </a:xfrm>
        </p:spPr>
        <p:txBody>
          <a:bodyPr/>
          <a:lstStyle/>
          <a:p>
            <a:r>
              <a:rPr lang="en-US" dirty="0"/>
              <a:t>Surface CP and Mach Slices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6EA33-B0D5-8EA0-5895-4440484282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EAA665-7F94-4630-9CCF-1DF7E39660B7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ED31B2-5B30-7FC4-7E18-125FAEED4F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381" r="5529"/>
          <a:stretch>
            <a:fillRect/>
          </a:stretch>
        </p:blipFill>
        <p:spPr>
          <a:xfrm>
            <a:off x="4267200" y="1447625"/>
            <a:ext cx="3657600" cy="43866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090F23-55EC-9FA3-2D12-31180603C2A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381" r="5529"/>
          <a:stretch>
            <a:fillRect/>
          </a:stretch>
        </p:blipFill>
        <p:spPr>
          <a:xfrm>
            <a:off x="452967" y="1447625"/>
            <a:ext cx="3657600" cy="43866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9FCB1DD-7314-FE3B-5CA8-FB6533C00A43}"/>
              </a:ext>
            </a:extLst>
          </p:cNvPr>
          <p:cNvSpPr txBox="1"/>
          <p:nvPr/>
        </p:nvSpPr>
        <p:spPr>
          <a:xfrm>
            <a:off x="1868833" y="5834236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CCE031-6932-5A5C-5DCA-311ACCA6161F}"/>
              </a:ext>
            </a:extLst>
          </p:cNvPr>
          <p:cNvSpPr txBox="1"/>
          <p:nvPr/>
        </p:nvSpPr>
        <p:spPr>
          <a:xfrm>
            <a:off x="5526433" y="5834236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DDES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D1947C-F874-831D-285C-6AC5629CAF43}"/>
              </a:ext>
            </a:extLst>
          </p:cNvPr>
          <p:cNvSpPr txBox="1"/>
          <p:nvPr/>
        </p:nvSpPr>
        <p:spPr>
          <a:xfrm>
            <a:off x="9036969" y="5834236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Adapted DDES</a:t>
            </a:r>
          </a:p>
        </p:txBody>
      </p:sp>
    </p:spTree>
    <p:extLst>
      <p:ext uri="{BB962C8B-B14F-4D97-AF65-F5344CB8AC3E}">
        <p14:creationId xmlns:p14="http://schemas.microsoft.com/office/powerpoint/2010/main" val="17100304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38975-D1E5-4136-FCAA-B373DB5AE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6D995-3860-7F72-89FB-67789BBFE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7" y="266700"/>
            <a:ext cx="11580284" cy="622300"/>
          </a:xfrm>
        </p:spPr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94C62-3DCA-D5BA-032F-190F7EE18B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EAA665-7F94-4630-9CCF-1DF7E39660B7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F6335C-AA68-D0DF-81D0-35F6B83A8EF1}"/>
              </a:ext>
            </a:extLst>
          </p:cNvPr>
          <p:cNvSpPr txBox="1"/>
          <p:nvPr/>
        </p:nvSpPr>
        <p:spPr>
          <a:xfrm>
            <a:off x="306917" y="1112219"/>
            <a:ext cx="11142961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RANS with Rotor Disk Model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Trends in the loads are similar to the experiment while the flow remains attached but not after separation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Does a poor job of predicting the angle or magnitude of maximum lift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Improves across whole alpha sweep with AMR, especially in the post-stall region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DDES with Resolved Blades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More closely matches experimental loads than RANS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Does a better job of matching the proprotor thrust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AMR provides a major qualitative improvement in resolving the tip vortices and wake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Lessons Learned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Accurately capturing the wake is key to predicting the loads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High angles of attack are a challenge to capture accurately with RANS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EPOGS + Overflow with AMR is a reasonable first-pass for this type of problem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Resolved blade cases better capture the physics of the problem but are sensitive to the turbulence model (NQT = 102 instead of 104)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117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2E29D-D510-9ED9-AEC9-AFCA4C513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CD725-7947-64AA-DDB1-4783733CD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7" y="266700"/>
            <a:ext cx="11580284" cy="622300"/>
          </a:xfrm>
        </p:spPr>
        <p:txBody>
          <a:bodyPr/>
          <a:lstStyle/>
          <a:p>
            <a:r>
              <a:rPr lang="en-US" dirty="0"/>
              <a:t>Acknowledgements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47140-AD31-759F-44FE-AC780412A8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EAA665-7F94-4630-9CCF-1DF7E39660B7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39FA02-D55E-863E-FC0D-60B342302B00}"/>
              </a:ext>
            </a:extLst>
          </p:cNvPr>
          <p:cNvSpPr txBox="1"/>
          <p:nvPr/>
        </p:nvSpPr>
        <p:spPr>
          <a:xfrm>
            <a:off x="306917" y="1112219"/>
            <a:ext cx="1114296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Funding for this work was provided by the Subsonic Vehicle Technologies (SVT) project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Computing resources were provided by the NASA Advanced Supercomputing Facility (NAS)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Dr. Joseph </a:t>
            </a:r>
            <a:r>
              <a:rPr lang="en-US" sz="2000" dirty="0" err="1"/>
              <a:t>Derlaga</a:t>
            </a:r>
            <a:r>
              <a:rPr lang="en-US" sz="2000" dirty="0"/>
              <a:t> for answering our many questions about Overflow, the Rotor Disk Model, and numerical stability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Brandon Litherland for his help creating the CFD matrix, providing the model geometries, and answering our questions about the experiment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Darby Vicker for help setting up </a:t>
            </a:r>
            <a:r>
              <a:rPr lang="en-US" sz="2000" dirty="0" err="1"/>
              <a:t>Overlst</a:t>
            </a:r>
            <a:r>
              <a:rPr lang="en-US" sz="2000" dirty="0"/>
              <a:t>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Brian Allan for technical leadership</a:t>
            </a:r>
          </a:p>
          <a:p>
            <a:endParaRPr lang="en-US" sz="2000" dirty="0"/>
          </a:p>
          <a:p>
            <a:pPr marL="342900" indent="-342900">
              <a:buFont typeface="Wingdings" pitchFamily="2" charset="2"/>
              <a:buChar char="Ø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515583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32710E3-EEC2-3557-D215-EB253A5FB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DA866-8DFD-4400-2AF9-83B82CFEF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7" y="266700"/>
            <a:ext cx="11580284" cy="622300"/>
          </a:xfrm>
        </p:spPr>
        <p:txBody>
          <a:bodyPr/>
          <a:lstStyle/>
          <a:p>
            <a:r>
              <a:rPr lang="en-US" dirty="0"/>
              <a:t>Component Buil-up Study - 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960D2-A679-2211-C45E-10E621E3FA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EAA665-7F94-4630-9CCF-1DF7E39660B7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F739066-45D5-7D67-715C-7DC68C9A2C8F}"/>
                  </a:ext>
                </a:extLst>
              </p:cNvPr>
              <p:cNvSpPr txBox="1"/>
              <p:nvPr/>
            </p:nvSpPr>
            <p:spPr>
              <a:xfrm>
                <a:off x="306916" y="993003"/>
                <a:ext cx="10651596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sz="2000" dirty="0"/>
                  <a:t>Following what was done in the experiment, simulations were done of the clean wing, clean wing + nacelles, and clean wing + nacelles + proprotors</a:t>
                </a:r>
              </a:p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sz="2000" dirty="0"/>
                  <a:t>Conditions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20 knots,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= 0 - 90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US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F739066-45D5-7D67-715C-7DC68C9A2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16" y="993003"/>
                <a:ext cx="10651596" cy="1569660"/>
              </a:xfrm>
              <a:prstGeom prst="rect">
                <a:avLst/>
              </a:prstGeom>
              <a:blipFill>
                <a:blip r:embed="rId2"/>
                <a:stretch>
                  <a:fillRect l="-476" t="-2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D270DC5-F75E-FD57-DD35-0D177EE5A9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97" b="2070"/>
          <a:stretch>
            <a:fillRect/>
          </a:stretch>
        </p:blipFill>
        <p:spPr>
          <a:xfrm rot="5400000">
            <a:off x="1563423" y="3427095"/>
            <a:ext cx="4114801" cy="18167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33E88D-BDE3-1C29-1839-C814D55423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297" b="2070"/>
          <a:stretch>
            <a:fillRect/>
          </a:stretch>
        </p:blipFill>
        <p:spPr>
          <a:xfrm rot="5400000">
            <a:off x="4038600" y="3427095"/>
            <a:ext cx="4114800" cy="18167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398D4A-CD0A-FD98-818A-49530A6F0AA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297" b="2070"/>
          <a:stretch>
            <a:fillRect/>
          </a:stretch>
        </p:blipFill>
        <p:spPr>
          <a:xfrm rot="5400000">
            <a:off x="6513776" y="3427095"/>
            <a:ext cx="4114800" cy="181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8667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B97DF71-5531-9246-C639-BE0425BFA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2AFDE5C-960C-56F3-EA09-C0AD6A6F1B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48" t="9048" r="6029" b="1111"/>
          <a:stretch>
            <a:fillRect/>
          </a:stretch>
        </p:blipFill>
        <p:spPr>
          <a:xfrm>
            <a:off x="5942466" y="2019300"/>
            <a:ext cx="5185909" cy="4572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81DEFD-A1C3-793B-7958-A7B53A898A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48" t="9048" r="6029" b="1111"/>
          <a:stretch>
            <a:fillRect/>
          </a:stretch>
        </p:blipFill>
        <p:spPr>
          <a:xfrm>
            <a:off x="756557" y="2019300"/>
            <a:ext cx="5185909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4CA4BD-2521-FB16-FEA2-E9F6F1E9C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7" y="266700"/>
            <a:ext cx="11580284" cy="622300"/>
          </a:xfrm>
        </p:spPr>
        <p:txBody>
          <a:bodyPr/>
          <a:lstStyle/>
          <a:p>
            <a:r>
              <a:rPr lang="en-US" dirty="0"/>
              <a:t>Component Buil-up Study – Lift and Drag Comparisons (WN)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09CA1-8BAB-C486-8916-35EF259914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EAA665-7F94-4630-9CCF-1DF7E39660B7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F349C2-BDDC-BCAA-B7E2-0057C066F3A1}"/>
              </a:ext>
            </a:extLst>
          </p:cNvPr>
          <p:cNvSpPr txBox="1"/>
          <p:nvPr/>
        </p:nvSpPr>
        <p:spPr>
          <a:xfrm>
            <a:off x="306917" y="1050153"/>
            <a:ext cx="1065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Simulations are overpredicting lift and drag across whole alpha sweep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Maximum lift is occurring earlier in the CFD and there is not as much lift lost post-</a:t>
            </a:r>
            <a:r>
              <a:rPr lang="en-US" sz="2000" dirty="0" err="1"/>
              <a:t>clmax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54825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2BE0C04-E074-2497-B6F7-C73AAB1E1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EB3D4-92E6-F739-25C3-BCA306259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7" y="266700"/>
            <a:ext cx="11580284" cy="622300"/>
          </a:xfrm>
        </p:spPr>
        <p:txBody>
          <a:bodyPr/>
          <a:lstStyle/>
          <a:p>
            <a:r>
              <a:rPr lang="en-US" dirty="0"/>
              <a:t>Component Buil-up Study – Lift and Drag Comparisons (WNR)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3EF57-0E25-DDAD-DBDB-1537C9F5CF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EAA665-7F94-4630-9CCF-1DF7E39660B7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50F41F-1E14-3247-04BA-9A3A9D9C03B5}"/>
              </a:ext>
            </a:extLst>
          </p:cNvPr>
          <p:cNvSpPr txBox="1"/>
          <p:nvPr/>
        </p:nvSpPr>
        <p:spPr>
          <a:xfrm>
            <a:off x="306917" y="1050153"/>
            <a:ext cx="106515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dirty="0"/>
              <a:t>CFD does a decent job predicting when stall and maximum lift occur but a bad job at predicting the magnitude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dirty="0"/>
              <a:t>Thrust is under predicted for most of the alpha sweep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333356-C2C2-7771-5516-880763F831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5" t="9524" r="6906" b="1111"/>
          <a:stretch>
            <a:fillRect/>
          </a:stretch>
        </p:blipFill>
        <p:spPr>
          <a:xfrm>
            <a:off x="753287" y="2015332"/>
            <a:ext cx="5189179" cy="4572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52D5A8-1E9B-9BDF-A612-CC54570A62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24" t="9524" r="6876" b="1111"/>
          <a:stretch>
            <a:fillRect/>
          </a:stretch>
        </p:blipFill>
        <p:spPr>
          <a:xfrm>
            <a:off x="5942466" y="2015332"/>
            <a:ext cx="5189179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431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B45067C-00C1-CB9E-FFF1-FE0D2D221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286C979-F876-F447-18F8-352E5DE9ED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25" t="10000" r="6240" b="1111"/>
          <a:stretch>
            <a:fillRect/>
          </a:stretch>
        </p:blipFill>
        <p:spPr>
          <a:xfrm>
            <a:off x="7816664" y="3793353"/>
            <a:ext cx="3362379" cy="29260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651ABF-3BE4-FAB4-9E20-6ADD7A032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7" y="266700"/>
            <a:ext cx="11580284" cy="622300"/>
          </a:xfrm>
        </p:spPr>
        <p:txBody>
          <a:bodyPr/>
          <a:lstStyle/>
          <a:p>
            <a:r>
              <a:rPr lang="en-US" dirty="0"/>
              <a:t>Component Buil-up Study – Component Deltas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611A8-8DAD-E794-ECF4-18D2DDB26F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EAA665-7F94-4630-9CCF-1DF7E39660B7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42F185-48CE-7128-BFED-FE0AB3231A0F}"/>
              </a:ext>
            </a:extLst>
          </p:cNvPr>
          <p:cNvSpPr txBox="1"/>
          <p:nvPr/>
        </p:nvSpPr>
        <p:spPr>
          <a:xfrm>
            <a:off x="356196" y="2563059"/>
            <a:ext cx="395025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dirty="0"/>
              <a:t>Nacelle increment is not being accurately captured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dirty="0"/>
              <a:t>Rotor contributions are showing similar trends in the deltas but the magnitudes are significantly different for the drag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dirty="0"/>
              <a:t>Conclusion: These RANS runs are not doing well at capturing the component effects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9F5419-471B-4FEF-D131-0A5FE9A2D8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25" t="10000" r="6240" b="1111"/>
          <a:stretch>
            <a:fillRect/>
          </a:stretch>
        </p:blipFill>
        <p:spPr>
          <a:xfrm>
            <a:off x="4355728" y="929641"/>
            <a:ext cx="3362380" cy="29260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6C0058-5DC2-A013-FE27-464C3124B1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25" t="10000" r="6240" b="1111"/>
          <a:stretch>
            <a:fillRect/>
          </a:stretch>
        </p:blipFill>
        <p:spPr>
          <a:xfrm>
            <a:off x="4355729" y="3855721"/>
            <a:ext cx="3362378" cy="29260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7595E98-2447-9577-93A0-30C70FA8E8E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925" t="10000" r="6240" b="1111"/>
          <a:stretch>
            <a:fillRect/>
          </a:stretch>
        </p:blipFill>
        <p:spPr>
          <a:xfrm>
            <a:off x="7816664" y="1050153"/>
            <a:ext cx="3362380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054087"/>
      </p:ext>
    </p:extLst>
  </p:cSld>
  <p:clrMapOvr>
    <a:masterClrMapping/>
  </p:clrMapOvr>
</p:sld>
</file>

<file path=ppt/theme/theme1.xml><?xml version="1.0" encoding="utf-8"?>
<a:theme xmlns:a="http://schemas.openxmlformats.org/drawingml/2006/main" name="NASA_Template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Helvetica"/>
        <a:ea typeface="ＭＳ Ｐゴシック"/>
        <a:cs typeface="ＭＳ Ｐゴシック"/>
      </a:majorFont>
      <a:minorFont>
        <a:latin typeface="Helvetica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Black" pitchFamily="-108" charset="0"/>
            <a:ea typeface="ＭＳ Ｐゴシック" pitchFamily="-108" charset="-128"/>
            <a:cs typeface="ＭＳ Ｐゴシック" pitchFamily="-10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Black" pitchFamily="-108" charset="0"/>
            <a:ea typeface="ＭＳ Ｐゴシック" pitchFamily="-108" charset="-128"/>
            <a:cs typeface="ＭＳ Ｐゴシック" pitchFamily="-108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FDPlan_v1" id="{EA161BAF-91A2-A044-BEB5-C6BBC0EAECA5}" vid="{3A49B13F-2A2B-FE41-A054-ECED4E029D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46B91DA38CE346B66EC96EFF3A73EA" ma:contentTypeVersion="0" ma:contentTypeDescription="Create a new document." ma:contentTypeScope="" ma:versionID="fb88b7c70385144930820129189288d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80DDACB-1441-4657-B9AE-37A3606B9D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8983DEA-6EAF-4CE8-AC60-29AFFBDE26D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319A34E-957F-4517-9C8A-EA98EAC4F33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NASA_Template</Template>
  <TotalTime>35013</TotalTime>
  <Words>1904</Words>
  <Application>Microsoft Macintosh PowerPoint</Application>
  <PresentationFormat>Widescreen</PresentationFormat>
  <Paragraphs>349</Paragraphs>
  <Slides>33</Slides>
  <Notes>14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Aptos</vt:lpstr>
      <vt:lpstr>Arial</vt:lpstr>
      <vt:lpstr>Cambria Math</vt:lpstr>
      <vt:lpstr>Helvetica</vt:lpstr>
      <vt:lpstr>Wingdings</vt:lpstr>
      <vt:lpstr>NASA_Template</vt:lpstr>
      <vt:lpstr>Computational Results for the Tiltwing Test Rig using Overflow</vt:lpstr>
      <vt:lpstr>Outline</vt:lpstr>
      <vt:lpstr>Background</vt:lpstr>
      <vt:lpstr>Wind Tunnel Test Overview</vt:lpstr>
      <vt:lpstr>Outline</vt:lpstr>
      <vt:lpstr>Mesh Generation using EPOGS</vt:lpstr>
      <vt:lpstr>Example Surface Meshes</vt:lpstr>
      <vt:lpstr>Outline</vt:lpstr>
      <vt:lpstr>Computational Methods</vt:lpstr>
      <vt:lpstr>Sample Residual Convergence Plots</vt:lpstr>
      <vt:lpstr>Outline</vt:lpstr>
      <vt:lpstr>RANS With Rotor Disk</vt:lpstr>
      <vt:lpstr>Free Stream Variation Study – Lift and Drag Comparisons</vt:lpstr>
      <vt:lpstr>Collective Variation Study – Lift and Drag Comparisons</vt:lpstr>
      <vt:lpstr>Hysteresis</vt:lpstr>
      <vt:lpstr>Manual Mesh Refinement</vt:lpstr>
      <vt:lpstr>Outline</vt:lpstr>
      <vt:lpstr>Adaptive Mesh Refinement</vt:lpstr>
      <vt:lpstr>Adaptive Mesh Refinement: Wake Resolution</vt:lpstr>
      <vt:lpstr>Adaptive Mesh Refinement: Iterative Convergence</vt:lpstr>
      <vt:lpstr>Adaptive Mesh Refinement: Load Coefficients</vt:lpstr>
      <vt:lpstr>Outline</vt:lpstr>
      <vt:lpstr>DDES Loads Convergence</vt:lpstr>
      <vt:lpstr>DDES Loads Comparison</vt:lpstr>
      <vt:lpstr>DDES with AMR Loads Convergence</vt:lpstr>
      <vt:lpstr>Loads Comparisons for α = 0° </vt:lpstr>
      <vt:lpstr>Surface CP and Mach Slices</vt:lpstr>
      <vt:lpstr>Conclusions</vt:lpstr>
      <vt:lpstr>Acknowledgements</vt:lpstr>
      <vt:lpstr>Component Buil-up Study - Introduction</vt:lpstr>
      <vt:lpstr>Component Buil-up Study – Lift and Drag Comparisons (WN)</vt:lpstr>
      <vt:lpstr>Component Buil-up Study – Lift and Drag Comparisons (WNR)</vt:lpstr>
      <vt:lpstr>Component Buil-up Study – Component Deltas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Pandya, Shishir A. (ARC-TNA)</dc:creator>
  <cp:lastModifiedBy>Jensen, James C. (ARC-TNA)</cp:lastModifiedBy>
  <cp:revision>255</cp:revision>
  <dcterms:created xsi:type="dcterms:W3CDTF">2024-10-24T15:41:58Z</dcterms:created>
  <dcterms:modified xsi:type="dcterms:W3CDTF">2026-09-24T05:11:43Z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0x010100E446B91DA38CE346B66EC96EFF3A73EA</vt:lpwstr>
  </property>
</Properties>
</file>