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12D034-062B-ED37-73A7-4A99C34054E9}" name="Sasaki, TATSURO" initials="TS" userId="S::tps5781@psu.edu::a9913986-6a41-4859-9a4e-3ea845a01b30" providerId="AD"/>
  <p188:author id="{64BE32BF-7DDF-529F-1A28-AE689DF6C0A8}" name="Gupta, Nitesh" initials="NG" userId="S::nfg5255@psu.edu::afd8ae94-e6d5-4e30-af00-6a261bec5f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z, Robert Francis" userId="2557437c-fdc3-40d0-8fb8-b2beb59b9b8a" providerId="ADAL" clId="{8E6D3BC2-5BBF-4690-A298-8F053D5D1BF2}"/>
    <pc:docChg chg="modSld">
      <pc:chgData name="Kunz, Robert Francis" userId="2557437c-fdc3-40d0-8fb8-b2beb59b9b8a" providerId="ADAL" clId="{8E6D3BC2-5BBF-4690-A298-8F053D5D1BF2}" dt="2026-09-22T19:01:44.613" v="2" actId="164"/>
      <pc:docMkLst>
        <pc:docMk/>
      </pc:docMkLst>
      <pc:sldChg chg="modSp">
        <pc:chgData name="Kunz, Robert Francis" userId="2557437c-fdc3-40d0-8fb8-b2beb59b9b8a" providerId="ADAL" clId="{8E6D3BC2-5BBF-4690-A298-8F053D5D1BF2}" dt="2026-09-22T19:00:59.358" v="1"/>
        <pc:sldMkLst>
          <pc:docMk/>
          <pc:sldMk cId="1462303149" sldId="264"/>
        </pc:sldMkLst>
        <pc:spChg chg="mod">
          <ac:chgData name="Kunz, Robert Francis" userId="2557437c-fdc3-40d0-8fb8-b2beb59b9b8a" providerId="ADAL" clId="{8E6D3BC2-5BBF-4690-A298-8F053D5D1BF2}" dt="2026-09-22T19:00:59.358" v="1"/>
          <ac:spMkLst>
            <pc:docMk/>
            <pc:sldMk cId="1462303149" sldId="264"/>
            <ac:spMk id="8" creationId="{B06D6E6D-0969-42FC-BBFC-510F1A815E5F}"/>
          </ac:spMkLst>
        </pc:spChg>
      </pc:sldChg>
      <pc:sldChg chg="addSp modSp">
        <pc:chgData name="Kunz, Robert Francis" userId="2557437c-fdc3-40d0-8fb8-b2beb59b9b8a" providerId="ADAL" clId="{8E6D3BC2-5BBF-4690-A298-8F053D5D1BF2}" dt="2026-09-22T19:01:44.613" v="2" actId="164"/>
        <pc:sldMkLst>
          <pc:docMk/>
          <pc:sldMk cId="1648441804" sldId="268"/>
        </pc:sldMkLst>
        <pc:spChg chg="mod">
          <ac:chgData name="Kunz, Robert Francis" userId="2557437c-fdc3-40d0-8fb8-b2beb59b9b8a" providerId="ADAL" clId="{8E6D3BC2-5BBF-4690-A298-8F053D5D1BF2}" dt="2026-09-22T19:01:44.613" v="2" actId="164"/>
          <ac:spMkLst>
            <pc:docMk/>
            <pc:sldMk cId="1648441804" sldId="268"/>
            <ac:spMk id="10" creationId="{0E6EE266-055F-2196-DDEB-33F4E3D1030E}"/>
          </ac:spMkLst>
        </pc:spChg>
        <pc:spChg chg="mod">
          <ac:chgData name="Kunz, Robert Francis" userId="2557437c-fdc3-40d0-8fb8-b2beb59b9b8a" providerId="ADAL" clId="{8E6D3BC2-5BBF-4690-A298-8F053D5D1BF2}" dt="2026-09-22T19:00:59.358" v="1"/>
          <ac:spMkLst>
            <pc:docMk/>
            <pc:sldMk cId="1648441804" sldId="268"/>
            <ac:spMk id="12" creationId="{6294A3D8-53A5-1B88-F6E6-50BE736B61DF}"/>
          </ac:spMkLst>
        </pc:spChg>
        <pc:grpChg chg="add mod">
          <ac:chgData name="Kunz, Robert Francis" userId="2557437c-fdc3-40d0-8fb8-b2beb59b9b8a" providerId="ADAL" clId="{8E6D3BC2-5BBF-4690-A298-8F053D5D1BF2}" dt="2026-09-22T19:01:44.613" v="2" actId="164"/>
          <ac:grpSpMkLst>
            <pc:docMk/>
            <pc:sldMk cId="1648441804" sldId="268"/>
            <ac:grpSpMk id="15" creationId="{92C3C461-953E-0F40-6D60-529442D5CC45}"/>
          </ac:grpSpMkLst>
        </pc:grpChg>
        <pc:picChg chg="mod">
          <ac:chgData name="Kunz, Robert Francis" userId="2557437c-fdc3-40d0-8fb8-b2beb59b9b8a" providerId="ADAL" clId="{8E6D3BC2-5BBF-4690-A298-8F053D5D1BF2}" dt="2026-09-22T19:01:44.613" v="2" actId="164"/>
          <ac:picMkLst>
            <pc:docMk/>
            <pc:sldMk cId="1648441804" sldId="268"/>
            <ac:picMk id="7" creationId="{32609542-81E1-9DD7-A4F5-54AEC7EB0F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This presentation focuses on the overset technology that made the IDDES practical. The central question is how to place LES-level resolution only where the intermittent tip-vortex pressure minima are created and convected.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presentation moves from the physical problem to the composite-grid architecture, then separates the responsibilities of SUGGAR++ and DiRTlib before assessing accuracy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PoF manuscript, Abstract and Introduction; thesis, Chapter 1. The measured inception occurred downstream of the trailing edge and was intermittent.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PoF manuscript, Section 4 and Figure 2. Overset refinement concentrates the cost in the tip vortex and wake while retaining suitable grids for the tunnel and hydrofoil walls.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PoF manuscript, Sections 3.4 and 4; thesis, Section 2.4.1. IDDES retains near-wall RANS while embedded Cartesian grids support resolved turbulence in the vortex.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PoF manuscript, Figure 2 and Table 1. Separate structured components retain their internal block connectivity; overset interpolation joins tunnel, hydrofoil, and vortex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domain connectivity information, or DCI, defines excluded points, intergrid-boundary points, and donor interpolation data. Source: Noack et al., AIAA 2009-3992; Celeritas SUGGAR++ overset-process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PoF manuscript, Section 3.4; thesis, Section 2.4.1; Noack, Boger, Kunz, and Carrica, “SUGGAR++: An improved general overset grid assembly capability,” AIAA 2009-3992, doi:10.2514/6.2009-3992.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PoF manuscript, Section 3.4; Noack, “DiRTlib: A Library to Add an Overset Capability to Your Flow Solver,” AIAA 2005-5116. DiRTlib separates overset communication and interpolation from the solver’s physics and linear-solver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current hydrofoil configuration is static, so SUGGAR++ generates connectivity during preprocessing. DiRTlib applies that connectivity during the time-accurate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PoF manuscript, Figure 3; thesis, Figure 2.5. The orange surface grid and nested Cartesian blocks remain independent components after 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PoF manuscript, Table 1 and Section 4. Cell dimensions differ by exactly 2:1 between nested vortex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PoF manuscript, Sections 4 and 5.1; Figure 7. The near-wall mesh could not be refined independently of the IDDES behavior because overly fine tangential spacing triggered modeled-stress depletion.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PoF manuscript, Sections 3.4 and 4, Figure 4, Table 2. The worst-case CFL was approximately 0.87 near the trailing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PoF manuscript, Figure 4. Interface placement and time step selection must be considered together because each 2:1 grid transition changes the local CFL and interpolation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PoF manuscript, Figures 8 and 9. Grid boundaries remain visible in resolved-TKE measures, including a rotated imprint as flow turns through the vortex.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PoF manuscript, Sections 5.2–5.4 and Figure 10. Core-center Δ/η was 10–14 downstream and 13–18.6 near the trailing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PoF manuscript, Sections 5.5, 6.2, and 6.4; Figures 13 and 19–23. Predicted C_L = 0.402 ± 0.012 versus measured C_L = 0.388 ± 0.003.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talk abstract; PoF manuscript, Conclusions. The main limitations include interface signatures, reduced vortex wandering, underpredicted turbulent stresses, and the remaining modeled contribution in the vortex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message: the overset system was not merely a meshing convenience. It was the enabling technology that placed adequate resolution in the small region controlling cavitation inception while retaining a practical overall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172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FD648D3-80FB-6246-9942-F676252E6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9721" y="1720736"/>
            <a:ext cx="9144000" cy="648392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1" name="Picture 8"/>
          <p:cNvPicPr>
            <a:picLocks noChangeAspect="1"/>
          </p:cNvPicPr>
          <p:nvPr/>
        </p:nvPicPr>
        <p:blipFill>
          <a:blip r:embed="rId3"/>
          <a:srcRect l="8221" t="18171" r="8052" b="20014"/>
          <a:stretch>
            <a:fillRect/>
          </a:stretch>
        </p:blipFill>
        <p:spPr>
          <a:xfrm>
            <a:off x="10828" y="0"/>
            <a:ext cx="2173856" cy="74187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5C9CF-691A-794B-8A8B-1D66E406E6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09510"/>
            <a:ext cx="4114800" cy="365125"/>
          </a:xfrm>
        </p:spPr>
        <p:txBody>
          <a:bodyPr/>
          <a:lstStyle/>
          <a:p>
            <a:endParaRPr/>
          </a:p>
        </p:txBody>
      </p:sp>
      <p:pic>
        <p:nvPicPr>
          <p:cNvPr id="1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153" y="77280"/>
            <a:ext cx="906132" cy="9061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5"/>
          <p:cNvPicPr>
            <a:picLocks noChangeAspect="1"/>
          </p:cNvPicPr>
          <p:nvPr/>
        </p:nvPicPr>
        <p:blipFill rotWithShape="1">
          <a:blip r:embed="rId2"/>
          <a:srcRect t="88740"/>
          <a:stretch/>
        </p:blipFill>
        <p:spPr>
          <a:xfrm>
            <a:off x="5414" y="6310423"/>
            <a:ext cx="12181172" cy="5475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1134" y="1060252"/>
            <a:ext cx="11867706" cy="511691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</p:txBody>
      </p:sp>
      <p:pic>
        <p:nvPicPr>
          <p:cNvPr id="1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396" y="6177168"/>
            <a:ext cx="1761191" cy="8140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6DB35-C7FE-1924-34E7-88A10C4773F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07587" y="6401647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C4039-0F04-FF7C-B35B-058012AA77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58326" y="640164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buNone/>
              <a:defRPr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fld id="{78E8486B-599C-4418-8D7C-8CE66CBA0871}" type="slidenum">
              <a:t>‹#›</a:t>
            </a:fld>
            <a:endParaRPr/>
          </a:p>
        </p:txBody>
      </p:sp>
      <p:sp>
        <p:nvSpPr>
          <p:cNvPr id="2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34" y="136525"/>
            <a:ext cx="11867707" cy="69336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5394" y="38941"/>
            <a:ext cx="906132" cy="9061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0656E-DA2F-C14C-BF10-2FC3587B4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995" y="1102428"/>
            <a:ext cx="11858846" cy="516014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A5E7B941-CE32-1D43-B287-BCB25BBF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34" y="136525"/>
            <a:ext cx="11867707" cy="69336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9A574F-D83B-0D55-FBDE-A862BBEBC05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3200" kern="1200" baseline="0">
          <a:solidFill>
            <a:schemeClr val="accent1"/>
          </a:solidFill>
          <a:latin typeface="Calibri"/>
          <a:ea typeface="Calibri"/>
          <a:cs typeface="Calibri"/>
        </a:defRPr>
      </a:lvl1pPr>
    </p:titleStyle>
    <p:bodyStyle>
      <a:lvl1pPr marL="342900" indent="-342900" algn="l" defTabSz="914400">
        <a:lnSpc>
          <a:spcPct val="90000"/>
        </a:lnSpc>
        <a:spcBef>
          <a:spcPts val="1000"/>
        </a:spcBef>
        <a:buClr>
          <a:srgbClr val="C00000"/>
        </a:buClr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1pPr>
      <a:lvl2pPr marL="800100" indent="-342900" algn="l" defTabSz="914400">
        <a:lnSpc>
          <a:spcPct val="90000"/>
        </a:lnSpc>
        <a:spcBef>
          <a:spcPts val="500"/>
        </a:spcBef>
        <a:buClr>
          <a:srgbClr val="C00000"/>
        </a:buClr>
        <a:buFont typeface="Courier New"/>
        <a:buChar char="o"/>
        <a:defRPr sz="2000" kern="1200">
          <a:solidFill>
            <a:schemeClr val="tx1"/>
          </a:solidFill>
          <a:latin typeface="Calibri"/>
          <a:ea typeface="Calibri"/>
          <a:cs typeface="Calibri"/>
        </a:defRPr>
      </a:lvl2pPr>
      <a:lvl3pPr marL="1200150" indent="-285750" algn="l" defTabSz="914400">
        <a:lnSpc>
          <a:spcPct val="90000"/>
        </a:lnSpc>
        <a:spcBef>
          <a:spcPts val="500"/>
        </a:spcBef>
        <a:buClr>
          <a:srgbClr val="C00000"/>
        </a:buClr>
        <a:buFont typeface="Wingdings"/>
        <a:buChar char="Ø"/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57350" indent="-285750" algn="l" defTabSz="914400">
        <a:lnSpc>
          <a:spcPct val="90000"/>
        </a:lnSpc>
        <a:spcBef>
          <a:spcPts val="500"/>
        </a:spcBef>
        <a:buClr>
          <a:srgbClr val="C00000"/>
        </a:buClr>
        <a:buFont typeface="Arial"/>
        <a:buChar char="•"/>
        <a:defRPr sz="16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114550" indent="-285750" algn="l" defTabSz="914400">
        <a:lnSpc>
          <a:spcPct val="90000"/>
        </a:lnSpc>
        <a:spcBef>
          <a:spcPts val="500"/>
        </a:spcBef>
        <a:buClr>
          <a:srgbClr val="C00000"/>
        </a:buClr>
        <a:buFont typeface="Arial"/>
        <a:buChar char="•"/>
        <a:defRPr sz="16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1746909-AA07-DF57-A514-BC0448192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979" y="1925467"/>
            <a:ext cx="9897244" cy="1007514"/>
          </a:xfrm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sz="2800">
                <a:latin typeface="Calibri"/>
                <a:ea typeface="Calibri"/>
                <a:cs typeface="Calibri"/>
              </a:rPr>
              <a:t>Application of High-Order Embedded Refinement Zones to IDDES Prediction of Tip-Vortex Cavitation Inception Using SUGGAR++/DiRTlib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532D0-8784-4EB7-A41F-8F50E60AAC0E}"/>
              </a:ext>
            </a:extLst>
          </p:cNvPr>
          <p:cNvSpPr>
            <a:spLocks noGrp="1"/>
          </p:cNvSpPr>
          <p:nvPr/>
        </p:nvSpPr>
        <p:spPr>
          <a:xfrm>
            <a:off x="1061114" y="3296307"/>
            <a:ext cx="10063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bg1"/>
                </a:solidFill>
                <a:latin typeface="Arial"/>
                <a:ea typeface="Arial"/>
                <a:cs typeface="Arial"/>
              </a:rPr>
              <a:t>Jeremy Koncoski, David Boger, Robert Kunz</a:t>
            </a:r>
          </a:p>
          <a:p>
            <a:pPr algn="ctr">
              <a:buNone/>
            </a:pPr>
            <a:r>
              <a:rPr sz="1600" b="0" i="0" u="none">
                <a:solidFill>
                  <a:schemeClr val="bg1"/>
                </a:solidFill>
                <a:latin typeface="NimbusRomNo9L-Regu"/>
                <a:ea typeface="NimbusRomNo9L-Regu"/>
                <a:cs typeface="NimbusRomNo9L-Regu"/>
              </a:rPr>
              <a:t>Applied Research Laboratory and Department of Mechanical Engineering, Pennsylvania State University</a:t>
            </a:r>
            <a:endParaRPr sz="2000" b="0" i="0" u="none" baseline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677" y="4681102"/>
            <a:ext cx="1019317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0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2325C-6610-49F5-6229-A162123BE6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8E8486B-599C-4418-8D7C-8CE66CBA0871}" type="slidenum">
              <a:rPr/>
              <a:t>2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378A87-F78D-697D-F87A-689873BF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Overview</a:t>
            </a: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045943-7169-40F7-A3F6-4C985D4D89C7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99060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Tip-vortex cavitation inception and its resolution requirements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Why embedded overset refinement was selected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SUGGAR++ domain assembly and </a:t>
            </a:r>
            <a:r>
              <a:rPr sz="2800" dirty="0" err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DiRTlib</a:t>
            </a:r>
            <a:r>
              <a:rPr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interpolation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Interface behavior, validation, and remaining limitations</a:t>
            </a:r>
          </a:p>
        </p:txBody>
      </p:sp>
    </p:spTree>
    <p:extLst>
      <p:ext uri="{BB962C8B-B14F-4D97-AF65-F5344CB8AC3E}">
        <p14:creationId xmlns:p14="http://schemas.microsoft.com/office/powerpoint/2010/main" val="207253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Tip-vortex cavitation inception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2283" y="1381125"/>
            <a:ext cx="10367433" cy="29527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2F6E07-D8A6-4982-8B0E-E512298B3B54}"/>
              </a:ext>
            </a:extLst>
          </p:cNvPr>
          <p:cNvSpPr>
            <a:spLocks noGrp="1"/>
          </p:cNvSpPr>
          <p:nvPr/>
        </p:nvSpPr>
        <p:spPr>
          <a:xfrm>
            <a:off x="566928" y="4476750"/>
            <a:ext cx="11265408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Inception follows rare instantaneous pressure minima rather than the mean vortex pressure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RANS cannot represent the intermittent turbulent structures that control those minima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Wall-resolved LES at Re</a:t>
            </a:r>
            <a:r>
              <a:rPr sz="2000" baseline="-25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= 1.3 × 10⁶ would be prohibitively expensive</a:t>
            </a:r>
          </a:p>
        </p:txBody>
      </p:sp>
    </p:spTree>
    <p:extLst>
      <p:ext uri="{BB962C8B-B14F-4D97-AF65-F5344CB8AC3E}">
        <p14:creationId xmlns:p14="http://schemas.microsoft.com/office/powerpoint/2010/main" val="34189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Why embedded overset refinement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234531"/>
            <a:ext cx="7143750" cy="44841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671BB6-C320-4D73-B1F5-AB2178D32D8C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3524250" cy="419481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The tunnel and hydrofoil require body-fitted near-wall grids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The vortex core benefits from uniform Cartesian cells and low numerical dissipation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Only a small fraction of the tunnel controls cavitation inception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Overset assembly decouples local resolution from the body-fitted topology</a:t>
            </a:r>
          </a:p>
        </p:txBody>
      </p:sp>
    </p:spTree>
    <p:extLst>
      <p:ext uri="{BB962C8B-B14F-4D97-AF65-F5344CB8AC3E}">
        <p14:creationId xmlns:p14="http://schemas.microsoft.com/office/powerpoint/2010/main" val="49135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IDDES and overset division of labor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69373" y="869632"/>
            <a:ext cx="4868003" cy="51187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961B47-B63F-43BA-8189-33F3D8D92651}"/>
              </a:ext>
            </a:extLst>
          </p:cNvPr>
          <p:cNvSpPr>
            <a:spLocks noGrp="1"/>
          </p:cNvSpPr>
          <p:nvPr/>
        </p:nvSpPr>
        <p:spPr>
          <a:xfrm>
            <a:off x="809625" y="1428750"/>
            <a:ext cx="4191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Body-fitted hydrofoil grid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C429F2-A23C-4D67-B303-7674FF7B1B32}"/>
              </a:ext>
            </a:extLst>
          </p:cNvPr>
          <p:cNvSpPr>
            <a:spLocks noGrp="1"/>
          </p:cNvSpPr>
          <p:nvPr/>
        </p:nvSpPr>
        <p:spPr>
          <a:xfrm>
            <a:off x="1000125" y="2047875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Sublayer-resolved RANS with y⁺ ≤ 1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Chordwise spacing selected to avoid modeled-stress depletion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A6AC7-4EF3-4C2E-9EB4-687D2761719F}"/>
              </a:ext>
            </a:extLst>
          </p:cNvPr>
          <p:cNvSpPr>
            <a:spLocks noGrp="1"/>
          </p:cNvSpPr>
          <p:nvPr/>
        </p:nvSpPr>
        <p:spPr>
          <a:xfrm>
            <a:off x="809625" y="3714750"/>
            <a:ext cx="4191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Cartesian vortex grids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EAC40-A7A4-473F-A554-20CE5669D216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4095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LES-resolved tip vortex and wake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Central-biased differencing with nested 2:1 refinement</a:t>
            </a:r>
          </a:p>
        </p:txBody>
      </p:sp>
    </p:spTree>
    <p:extLst>
      <p:ext uri="{BB962C8B-B14F-4D97-AF65-F5344CB8AC3E}">
        <p14:creationId xmlns:p14="http://schemas.microsoft.com/office/powerpoint/2010/main" val="81762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Composite-grid architecture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8875" y="1005527"/>
            <a:ext cx="6895681" cy="43284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5D3107-53E0-4B95-884E-BB962D73787B}"/>
              </a:ext>
            </a:extLst>
          </p:cNvPr>
          <p:cNvSpPr>
            <a:spLocks noGrp="1"/>
          </p:cNvSpPr>
          <p:nvPr/>
        </p:nvSpPr>
        <p:spPr>
          <a:xfrm>
            <a:off x="857251" y="5132832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4CC6B-BDE8-4844-B40F-E4C4B17CA126}"/>
              </a:ext>
            </a:extLst>
          </p:cNvPr>
          <p:cNvSpPr>
            <a:spLocks noGrp="1"/>
          </p:cNvSpPr>
          <p:nvPr/>
        </p:nvSpPr>
        <p:spPr>
          <a:xfrm>
            <a:off x="292779" y="5628634"/>
            <a:ext cx="3968495" cy="69336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lang="en-US"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rincipal grid families</a:t>
            </a:r>
          </a:p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Tunnel, hydrofoil, vortex refinement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0B8E48-23B2-4CA5-8A57-BE09055CD746}"/>
              </a:ext>
            </a:extLst>
          </p:cNvPr>
          <p:cNvSpPr>
            <a:spLocks noGrp="1"/>
          </p:cNvSpPr>
          <p:nvPr/>
        </p:nvSpPr>
        <p:spPr>
          <a:xfrm>
            <a:off x="4524376" y="5132832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315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60111-AB2B-4C1B-A740-C3EC1B1F6E5F}"/>
              </a:ext>
            </a:extLst>
          </p:cNvPr>
          <p:cNvSpPr>
            <a:spLocks noGrp="1"/>
          </p:cNvSpPr>
          <p:nvPr/>
        </p:nvSpPr>
        <p:spPr>
          <a:xfrm>
            <a:off x="4262437" y="5628634"/>
            <a:ext cx="3667127" cy="69336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Cartesian refinement levels</a:t>
            </a:r>
          </a:p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Coarse, medium, fine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A7FC27-1D94-4938-B522-A23429818C63}"/>
              </a:ext>
            </a:extLst>
          </p:cNvPr>
          <p:cNvSpPr>
            <a:spLocks noGrp="1"/>
          </p:cNvSpPr>
          <p:nvPr/>
        </p:nvSpPr>
        <p:spPr>
          <a:xfrm>
            <a:off x="8191500" y="5132832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9830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E98300"/>
                </a:solidFill>
                <a:latin typeface="Calibri"/>
                <a:ea typeface="Calibri"/>
                <a:cs typeface="Calibri"/>
              </a:rPr>
              <a:t>522M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C0DE9E-EE68-453B-B34A-2247733BDD5E}"/>
              </a:ext>
            </a:extLst>
          </p:cNvPr>
          <p:cNvSpPr>
            <a:spLocks noGrp="1"/>
          </p:cNvSpPr>
          <p:nvPr/>
        </p:nvSpPr>
        <p:spPr>
          <a:xfrm>
            <a:off x="8189175" y="5628634"/>
            <a:ext cx="3143250" cy="636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ctive cells after trimming</a:t>
            </a:r>
          </a:p>
        </p:txBody>
      </p:sp>
    </p:spTree>
    <p:extLst>
      <p:ext uri="{BB962C8B-B14F-4D97-AF65-F5344CB8AC3E}">
        <p14:creationId xmlns:p14="http://schemas.microsoft.com/office/powerpoint/2010/main" val="1452121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dirty="0"/>
              <a:t>Overset assembly</a:t>
            </a:r>
          </a:p>
        </p:txBody>
      </p:sp>
      <p:sp>
        <p:nvSpPr>
          <p:cNvPr id="3" name="Background grid">
            <a:extLst>
              <a:ext uri="{FF2B5EF4-FFF2-40B4-BE49-F238E27FC236}">
                <a16:creationId xmlns:a16="http://schemas.microsoft.com/office/drawing/2014/main" id="{8CDB3996-D5F8-4E66-AAC4-6567C79B465A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EAF5FB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Background grid</a:t>
            </a:r>
          </a:p>
        </p:txBody>
      </p:sp>
      <p:sp>
        <p:nvSpPr>
          <p:cNvPr id="4" name="Body-fitted grid">
            <a:extLst>
              <a:ext uri="{FF2B5EF4-FFF2-40B4-BE49-F238E27FC236}">
                <a16:creationId xmlns:a16="http://schemas.microsoft.com/office/drawing/2014/main" id="{898C9C9F-004A-4EBD-B58E-080029504E7F}"/>
              </a:ext>
            </a:extLst>
          </p:cNvPr>
          <p:cNvSpPr>
            <a:spLocks noGrp="1"/>
          </p:cNvSpPr>
          <p:nvPr/>
        </p:nvSpPr>
        <p:spPr>
          <a:xfrm>
            <a:off x="2619375" y="2238375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3E6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7A3D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3D00"/>
                </a:solidFill>
                <a:latin typeface="Calibri"/>
                <a:ea typeface="Calibri"/>
                <a:cs typeface="Calibri"/>
              </a:rPr>
              <a:t>Body-fitted grid</a:t>
            </a:r>
          </a:p>
        </p:txBody>
      </p:sp>
      <p:sp>
        <p:nvSpPr>
          <p:cNvPr id="5" name="Refinement grid">
            <a:extLst>
              <a:ext uri="{FF2B5EF4-FFF2-40B4-BE49-F238E27FC236}">
                <a16:creationId xmlns:a16="http://schemas.microsoft.com/office/drawing/2014/main" id="{69A79A27-9596-4DA9-8CA7-29568240753D}"/>
              </a:ext>
            </a:extLst>
          </p:cNvPr>
          <p:cNvSpPr>
            <a:spLocks noGrp="1"/>
          </p:cNvSpPr>
          <p:nvPr/>
        </p:nvSpPr>
        <p:spPr>
          <a:xfrm>
            <a:off x="4381500" y="295275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154F2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4F2B"/>
                </a:solidFill>
                <a:latin typeface="Calibri"/>
                <a:ea typeface="Calibri"/>
                <a:cs typeface="Calibri"/>
              </a:rPr>
              <a:t>Refinement grid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C47089-9F64-4F02-A28C-C36090FCDD9A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Hole points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2C226E-77BC-47E2-B042-8488832AA5F5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Excluded from the flow solve where another grid or solid owns the region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545BF1-7B0F-44B9-8F03-171FC267D252}"/>
              </a:ext>
            </a:extLst>
          </p:cNvPr>
          <p:cNvSpPr>
            <a:spLocks noGrp="1"/>
          </p:cNvSpPr>
          <p:nvPr/>
        </p:nvSpPr>
        <p:spPr>
          <a:xfrm>
            <a:off x="8096250" y="314325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943"/>
          </a:bodyPr>
          <a:lstStyle/>
          <a:p>
            <a:pPr>
              <a:defRPr sz="2025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Fringe or receptor points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969EB9-5546-40F4-B92A-4533E4D2717C}"/>
              </a:ext>
            </a:extLst>
          </p:cNvPr>
          <p:cNvSpPr>
            <a:spLocks noGrp="1"/>
          </p:cNvSpPr>
          <p:nvPr/>
        </p:nvSpPr>
        <p:spPr>
          <a:xfrm>
            <a:off x="8096250" y="3667125"/>
            <a:ext cx="3416046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Receive interpolated solution values from donor cells on an overlapping component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1B2DB9-33D8-413E-B3C2-C61897921BDA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9525000" cy="685800"/>
          </a:xfrm>
          <a:prstGeom prst="roundRect">
            <a:avLst>
              <a:gd name="adj" fmla="val 11111"/>
            </a:avLst>
          </a:prstGeom>
          <a:solidFill>
            <a:srgbClr val="001E44"/>
          </a:solidFill>
          <a:ln w="0">
            <a:solidFill>
              <a:srgbClr val="001E44"/>
            </a:solidFill>
          </a:ln>
        </p:spPr>
        <p:txBody>
          <a:bodyPr anchor="ctr">
            <a:normAutofit/>
          </a:bodyPr>
          <a:lstStyle/>
          <a:p>
            <a:pPr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DCI = hole status + receptor locations + donor stencils and weights</a:t>
            </a:r>
          </a:p>
        </p:txBody>
      </p:sp>
    </p:spTree>
    <p:extLst>
      <p:ext uri="{BB962C8B-B14F-4D97-AF65-F5344CB8AC3E}">
        <p14:creationId xmlns:p14="http://schemas.microsoft.com/office/powerpoint/2010/main" val="123727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SUGGAR++ constructs the domain connectivity</a:t>
            </a:r>
          </a:p>
        </p:txBody>
      </p:sp>
      <p:sp>
        <p:nvSpPr>
          <p:cNvPr id="3" name="Component grids">
            <a:extLst>
              <a:ext uri="{FF2B5EF4-FFF2-40B4-BE49-F238E27FC236}">
                <a16:creationId xmlns:a16="http://schemas.microsoft.com/office/drawing/2014/main" id="{70745210-A5F9-4E15-B9C8-F3C7D6B064F5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E8EEF4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Component grids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D43E70E-D8CD-4458-93D1-3D4B0B07B49D}"/>
              </a:ext>
            </a:extLst>
          </p:cNvPr>
          <p:cNvSpPr>
            <a:spLocks noGrp="1"/>
          </p:cNvSpPr>
          <p:nvPr/>
        </p:nvSpPr>
        <p:spPr>
          <a:xfrm>
            <a:off x="2952750" y="2047875"/>
            <a:ext cx="571500" cy="323850"/>
          </a:xfrm>
          <a:prstGeom prst="rightArrow">
            <a:avLst/>
          </a:prstGeom>
          <a:solidFill>
            <a:srgbClr val="009CDE"/>
          </a:solidFill>
          <a:ln w="0">
            <a:solidFill>
              <a:srgbClr val="009C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Hole cutting">
            <a:extLst>
              <a:ext uri="{FF2B5EF4-FFF2-40B4-BE49-F238E27FC236}">
                <a16:creationId xmlns:a16="http://schemas.microsoft.com/office/drawing/2014/main" id="{5455A65D-DA9C-4353-93A2-1F5D41DB48E0}"/>
              </a:ext>
            </a:extLst>
          </p:cNvPr>
          <p:cNvSpPr>
            <a:spLocks noGrp="1"/>
          </p:cNvSpPr>
          <p:nvPr/>
        </p:nvSpPr>
        <p:spPr>
          <a:xfrm>
            <a:off x="3667125" y="171450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FFF3E6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7A3D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3D00"/>
                </a:solidFill>
                <a:latin typeface="Calibri"/>
                <a:ea typeface="Calibri"/>
                <a:cs typeface="Calibri"/>
              </a:rPr>
              <a:t>Hole cutting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EE80664-9E90-4FFE-96C0-2F9748E3436F}"/>
              </a:ext>
            </a:extLst>
          </p:cNvPr>
          <p:cNvSpPr>
            <a:spLocks noGrp="1"/>
          </p:cNvSpPr>
          <p:nvPr/>
        </p:nvSpPr>
        <p:spPr>
          <a:xfrm>
            <a:off x="5953125" y="2047875"/>
            <a:ext cx="571500" cy="323850"/>
          </a:xfrm>
          <a:prstGeom prst="rightArrow">
            <a:avLst/>
          </a:prstGeom>
          <a:solidFill>
            <a:srgbClr val="009CDE"/>
          </a:solidFill>
          <a:ln w="0">
            <a:solidFill>
              <a:srgbClr val="009C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Donor search">
            <a:extLst>
              <a:ext uri="{FF2B5EF4-FFF2-40B4-BE49-F238E27FC236}">
                <a16:creationId xmlns:a16="http://schemas.microsoft.com/office/drawing/2014/main" id="{69BC207B-DD6F-480C-B209-4206AE211CD0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EAF7EF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154F2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4F2B"/>
                </a:solidFill>
                <a:latin typeface="Calibri"/>
                <a:ea typeface="Calibri"/>
                <a:cs typeface="Calibri"/>
              </a:rPr>
              <a:t>Donor search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1C017C6-32E3-487E-BCC7-C07CBD07EE5E}"/>
              </a:ext>
            </a:extLst>
          </p:cNvPr>
          <p:cNvSpPr>
            <a:spLocks noGrp="1"/>
          </p:cNvSpPr>
          <p:nvPr/>
        </p:nvSpPr>
        <p:spPr>
          <a:xfrm>
            <a:off x="8953500" y="2047875"/>
            <a:ext cx="571500" cy="323850"/>
          </a:xfrm>
          <a:prstGeom prst="rightArrow">
            <a:avLst/>
          </a:prstGeom>
          <a:solidFill>
            <a:srgbClr val="009CDE"/>
          </a:solidFill>
          <a:ln w="0">
            <a:solidFill>
              <a:srgbClr val="009C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DCI output">
            <a:extLst>
              <a:ext uri="{FF2B5EF4-FFF2-40B4-BE49-F238E27FC236}">
                <a16:creationId xmlns:a16="http://schemas.microsoft.com/office/drawing/2014/main" id="{275404AA-8415-4366-8048-F685F2380DC4}"/>
              </a:ext>
            </a:extLst>
          </p:cNvPr>
          <p:cNvSpPr>
            <a:spLocks noGrp="1"/>
          </p:cNvSpPr>
          <p:nvPr/>
        </p:nvSpPr>
        <p:spPr>
          <a:xfrm>
            <a:off x="9667875" y="1714500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001E44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DCI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D1332-062A-436E-B576-EA880C0062B5}"/>
              </a:ext>
            </a:extLst>
          </p:cNvPr>
          <p:cNvSpPr>
            <a:spLocks noGrp="1"/>
          </p:cNvSpPr>
          <p:nvPr/>
        </p:nvSpPr>
        <p:spPr>
          <a:xfrm>
            <a:off x="1095375" y="3381375"/>
            <a:ext cx="9906000" cy="2476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Finds donor cells for every fringe point and ranks suitable donors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Builds interpolation stencils consistent with the requested inviscid order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Minimizes overlap to reduce interpolated regions and active-cell cost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Supports efficient searches for uniform and stretched Cartesian grids</a:t>
            </a:r>
          </a:p>
        </p:txBody>
      </p:sp>
    </p:spTree>
    <p:extLst>
      <p:ext uri="{BB962C8B-B14F-4D97-AF65-F5344CB8AC3E}">
        <p14:creationId xmlns:p14="http://schemas.microsoft.com/office/powerpoint/2010/main" val="1238672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DiRTlib executes intergrid interpolation</a:t>
            </a:r>
          </a:p>
        </p:txBody>
      </p:sp>
      <p:sp>
        <p:nvSpPr>
          <p:cNvPr id="3" name="Flow solver arrays">
            <a:extLst>
              <a:ext uri="{FF2B5EF4-FFF2-40B4-BE49-F238E27FC236}">
                <a16:creationId xmlns:a16="http://schemas.microsoft.com/office/drawing/2014/main" id="{DA64A9CA-2F02-4DF9-9DFF-67AEA2E2D89B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2571750" cy="1000125"/>
          </a:xfrm>
          <a:prstGeom prst="roundRect">
            <a:avLst>
              <a:gd name="adj" fmla="val 7619"/>
            </a:avLst>
          </a:prstGeom>
          <a:solidFill>
            <a:srgbClr val="E8EEF4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Flow solver arrays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AFFB24D-CAF9-4E81-B64D-3A6E3365F8E2}"/>
              </a:ext>
            </a:extLst>
          </p:cNvPr>
          <p:cNvSpPr>
            <a:spLocks noGrp="1"/>
          </p:cNvSpPr>
          <p:nvPr/>
        </p:nvSpPr>
        <p:spPr>
          <a:xfrm>
            <a:off x="3762375" y="2047875"/>
            <a:ext cx="666750" cy="323850"/>
          </a:xfrm>
          <a:prstGeom prst="rightArrow">
            <a:avLst/>
          </a:prstGeom>
          <a:solidFill>
            <a:srgbClr val="009CDE"/>
          </a:solidFill>
          <a:ln w="0">
            <a:solidFill>
              <a:srgbClr val="009C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DiRTlib">
            <a:extLst>
              <a:ext uri="{FF2B5EF4-FFF2-40B4-BE49-F238E27FC236}">
                <a16:creationId xmlns:a16="http://schemas.microsoft.com/office/drawing/2014/main" id="{7AD419B7-FBC7-4967-9870-5BD982BDD2AB}"/>
              </a:ext>
            </a:extLst>
          </p:cNvPr>
          <p:cNvSpPr>
            <a:spLocks noGrp="1"/>
          </p:cNvSpPr>
          <p:nvPr/>
        </p:nvSpPr>
        <p:spPr>
          <a:xfrm>
            <a:off x="4667250" y="1524000"/>
            <a:ext cx="2857500" cy="1381125"/>
          </a:xfrm>
          <a:prstGeom prst="roundRect">
            <a:avLst>
              <a:gd name="adj" fmla="val 5517"/>
            </a:avLst>
          </a:prstGeom>
          <a:solidFill>
            <a:srgbClr val="001E44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DiRTlib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3FF8C61-7B9F-4F33-ACB7-A2FFEBE80DC3}"/>
              </a:ext>
            </a:extLst>
          </p:cNvPr>
          <p:cNvSpPr>
            <a:spLocks noGrp="1"/>
          </p:cNvSpPr>
          <p:nvPr/>
        </p:nvSpPr>
        <p:spPr>
          <a:xfrm>
            <a:off x="7762875" y="2047875"/>
            <a:ext cx="666750" cy="323850"/>
          </a:xfrm>
          <a:prstGeom prst="rightArrow">
            <a:avLst/>
          </a:prstGeom>
          <a:solidFill>
            <a:srgbClr val="009CDE"/>
          </a:solidFill>
          <a:ln w="0">
            <a:solidFill>
              <a:srgbClr val="009C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eptor values">
            <a:extLst>
              <a:ext uri="{FF2B5EF4-FFF2-40B4-BE49-F238E27FC236}">
                <a16:creationId xmlns:a16="http://schemas.microsoft.com/office/drawing/2014/main" id="{799F6BE9-229A-4590-8D3D-53B00FF08C6B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571750" cy="1000125"/>
          </a:xfrm>
          <a:prstGeom prst="roundRect">
            <a:avLst>
              <a:gd name="adj" fmla="val 7619"/>
            </a:avLst>
          </a:prstGeom>
          <a:solidFill>
            <a:srgbClr val="E8EEF4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Receptor values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6D6E6D-0969-42FC-BBFC-510F1A815E5F}"/>
              </a:ext>
            </a:extLst>
          </p:cNvPr>
          <p:cNvSpPr>
            <a:spLocks noGrp="1"/>
          </p:cNvSpPr>
          <p:nvPr/>
        </p:nvSpPr>
        <p:spPr>
          <a:xfrm>
            <a:off x="4810125" y="304800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44"/>
          </a:bodyPr>
          <a:lstStyle/>
          <a:p>
            <a:pPr>
              <a:defRPr sz="1800" b="1">
                <a:solidFill>
                  <a:srgbClr val="009CDE"/>
                </a:solidFill>
                <a:latin typeface="Calibri"/>
                <a:ea typeface="Calibri"/>
                <a:cs typeface="Calibri"/>
              </a:defRPr>
            </a:pPr>
            <a:r>
              <a:rPr sz="1800" b="1" dirty="0">
                <a:solidFill>
                  <a:srgbClr val="009CDE"/>
                </a:solidFill>
                <a:latin typeface="Calibri"/>
                <a:ea typeface="Calibri"/>
                <a:cs typeface="Calibri"/>
              </a:rPr>
              <a:t>Uses the SUGGAR++ DCI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5BAA44-B320-43A0-9F94-0CB4693C39F4}"/>
              </a:ext>
            </a:extLst>
          </p:cNvPr>
          <p:cNvSpPr>
            <a:spLocks noGrp="1"/>
          </p:cNvSpPr>
          <p:nvPr/>
        </p:nvSpPr>
        <p:spPr>
          <a:xfrm>
            <a:off x="603504" y="3810000"/>
            <a:ext cx="10397871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Encapsulates donor gathering, communication, interpolation, and receptor scattering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Keeps overset operations solver neutral and limits changes to the flow solver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Interpolates the dependent variables at each solver update using the precomputed connectivity</a:t>
            </a:r>
            <a:endParaRPr sz="2000" dirty="0">
              <a:solidFill>
                <a:srgbClr val="20202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2303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Static overset workflow used in the IDDES</a:t>
            </a:r>
          </a:p>
        </p:txBody>
      </p:sp>
      <p:sp>
        <p:nvSpPr>
          <p:cNvPr id="3" name="Tunnel, hydrofoil, and vortex grids">
            <a:extLst>
              <a:ext uri="{FF2B5EF4-FFF2-40B4-BE49-F238E27FC236}">
                <a16:creationId xmlns:a16="http://schemas.microsoft.com/office/drawing/2014/main" id="{DB9E8E3E-7421-4314-9DD1-05D11EC93E31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2428875" cy="1047750"/>
          </a:xfrm>
          <a:prstGeom prst="roundRect">
            <a:avLst>
              <a:gd name="adj" fmla="val 7273"/>
            </a:avLst>
          </a:prstGeom>
          <a:solidFill>
            <a:srgbClr val="E8EEF4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Tunnel, hydrofoil, and vortex grids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1B357F1-B077-4ED2-A9F6-F5703E729681}"/>
              </a:ext>
            </a:extLst>
          </p:cNvPr>
          <p:cNvSpPr>
            <a:spLocks noGrp="1"/>
          </p:cNvSpPr>
          <p:nvPr/>
        </p:nvSpPr>
        <p:spPr>
          <a:xfrm>
            <a:off x="3143250" y="1885950"/>
            <a:ext cx="523875" cy="323850"/>
          </a:xfrm>
          <a:prstGeom prst="rightArrow">
            <a:avLst/>
          </a:prstGeom>
          <a:solidFill>
            <a:srgbClr val="009CDE"/>
          </a:solidFill>
          <a:ln w="0">
            <a:solidFill>
              <a:srgbClr val="009C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SUGGAR++ assembly">
            <a:extLst>
              <a:ext uri="{FF2B5EF4-FFF2-40B4-BE49-F238E27FC236}">
                <a16:creationId xmlns:a16="http://schemas.microsoft.com/office/drawing/2014/main" id="{FA550F65-E897-4236-9E72-9BA9F435780C}"/>
              </a:ext>
            </a:extLst>
          </p:cNvPr>
          <p:cNvSpPr>
            <a:spLocks noGrp="1"/>
          </p:cNvSpPr>
          <p:nvPr/>
        </p:nvSpPr>
        <p:spPr>
          <a:xfrm>
            <a:off x="3857625" y="152400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FFF3E6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7A3D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3D00"/>
                </a:solidFill>
                <a:latin typeface="Calibri"/>
                <a:ea typeface="Calibri"/>
                <a:cs typeface="Calibri"/>
              </a:rPr>
              <a:t>SUGGAR++ assembly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FA83723-D201-42D6-92BB-E9A93957572A}"/>
              </a:ext>
            </a:extLst>
          </p:cNvPr>
          <p:cNvSpPr>
            <a:spLocks noGrp="1"/>
          </p:cNvSpPr>
          <p:nvPr/>
        </p:nvSpPr>
        <p:spPr>
          <a:xfrm>
            <a:off x="6143625" y="1885950"/>
            <a:ext cx="523875" cy="323850"/>
          </a:xfrm>
          <a:prstGeom prst="rightArrow">
            <a:avLst/>
          </a:prstGeom>
          <a:solidFill>
            <a:srgbClr val="009CDE"/>
          </a:solidFill>
          <a:ln w="0">
            <a:solidFill>
              <a:srgbClr val="009C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DCI">
            <a:extLst>
              <a:ext uri="{FF2B5EF4-FFF2-40B4-BE49-F238E27FC236}">
                <a16:creationId xmlns:a16="http://schemas.microsoft.com/office/drawing/2014/main" id="{E3EF902E-0C7D-4D0C-9BE4-CC86697095F2}"/>
              </a:ext>
            </a:extLst>
          </p:cNvPr>
          <p:cNvSpPr>
            <a:spLocks noGrp="1"/>
          </p:cNvSpPr>
          <p:nvPr/>
        </p:nvSpPr>
        <p:spPr>
          <a:xfrm>
            <a:off x="6858000" y="1524000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EAF7EF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154F2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4F2B"/>
                </a:solidFill>
                <a:latin typeface="Calibri"/>
                <a:ea typeface="Calibri"/>
                <a:cs typeface="Calibri"/>
              </a:rPr>
              <a:t>DCI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AF99E9A-94DA-4B8A-9D07-7E1E326ABA7C}"/>
              </a:ext>
            </a:extLst>
          </p:cNvPr>
          <p:cNvSpPr>
            <a:spLocks noGrp="1"/>
          </p:cNvSpPr>
          <p:nvPr/>
        </p:nvSpPr>
        <p:spPr>
          <a:xfrm>
            <a:off x="8477250" y="1885950"/>
            <a:ext cx="523875" cy="323850"/>
          </a:xfrm>
          <a:prstGeom prst="rightArrow">
            <a:avLst/>
          </a:prstGeom>
          <a:solidFill>
            <a:srgbClr val="009CDE"/>
          </a:solidFill>
          <a:ln w="0">
            <a:solidFill>
              <a:srgbClr val="009C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Flow solver + DiRTlib">
            <a:extLst>
              <a:ext uri="{FF2B5EF4-FFF2-40B4-BE49-F238E27FC236}">
                <a16:creationId xmlns:a16="http://schemas.microsoft.com/office/drawing/2014/main" id="{0043FBB1-810E-4EB1-8C69-E997C8A1426E}"/>
              </a:ext>
            </a:extLst>
          </p:cNvPr>
          <p:cNvSpPr>
            <a:spLocks noGrp="1"/>
          </p:cNvSpPr>
          <p:nvPr/>
        </p:nvSpPr>
        <p:spPr>
          <a:xfrm>
            <a:off x="9191625" y="1524000"/>
            <a:ext cx="2381250" cy="1047750"/>
          </a:xfrm>
          <a:prstGeom prst="roundRect">
            <a:avLst>
              <a:gd name="adj" fmla="val 7273"/>
            </a:avLst>
          </a:prstGeom>
          <a:solidFill>
            <a:srgbClr val="001E44"/>
          </a:solidFill>
          <a:ln w="14288">
            <a:solidFill>
              <a:srgbClr val="8CA5BD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Flow solver + DiRTlib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5DFD9D-145E-4160-A4E2-5E14C15FE95A}"/>
              </a:ext>
            </a:extLst>
          </p:cNvPr>
          <p:cNvSpPr>
            <a:spLocks noGrp="1"/>
          </p:cNvSpPr>
          <p:nvPr/>
        </p:nvSpPr>
        <p:spPr>
          <a:xfrm>
            <a:off x="7239000" y="3287574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Each physical time step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348AD-9B64-4310-852A-CFB596257FEE}"/>
              </a:ext>
            </a:extLst>
          </p:cNvPr>
          <p:cNvSpPr>
            <a:spLocks noGrp="1"/>
          </p:cNvSpPr>
          <p:nvPr/>
        </p:nvSpPr>
        <p:spPr>
          <a:xfrm>
            <a:off x="6619875" y="3857624"/>
            <a:ext cx="4762500" cy="217741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Advance the block-implicit finite-volume equations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Exchange dependent variables across overset interfaces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Converge dual-time iterations, then accumulate statistics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3C6BBC-85C5-4536-AD69-6E977B9F5EF7}"/>
              </a:ext>
            </a:extLst>
          </p:cNvPr>
          <p:cNvSpPr>
            <a:spLocks noGrp="1"/>
          </p:cNvSpPr>
          <p:nvPr/>
        </p:nvSpPr>
        <p:spPr>
          <a:xfrm>
            <a:off x="1095375" y="3286125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One-time preprocessing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85C09C-8088-47EA-852C-F64369FD7993}"/>
              </a:ext>
            </a:extLst>
          </p:cNvPr>
          <p:cNvSpPr>
            <a:spLocks noGrp="1"/>
          </p:cNvSpPr>
          <p:nvPr/>
        </p:nvSpPr>
        <p:spPr>
          <a:xfrm>
            <a:off x="1000125" y="3857625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Trim inactive cells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Select donor stencils and weights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Write connectivity for the static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60168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Trimmed composite grid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01244" y="1095375"/>
            <a:ext cx="4846262" cy="50958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BE150F-F692-4D8D-A25D-39CBC6C4C61B}"/>
              </a:ext>
            </a:extLst>
          </p:cNvPr>
          <p:cNvSpPr>
            <a:spLocks noGrp="1"/>
          </p:cNvSpPr>
          <p:nvPr/>
        </p:nvSpPr>
        <p:spPr>
          <a:xfrm>
            <a:off x="7900416" y="1571625"/>
            <a:ext cx="3577209" cy="3429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Tunnel background grid surrounds the hydrofoil and embedded Cartesian zones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The hydrofoil component retains wall-normal clustering and surface alignment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Overset trimming removes inactive cells while preserving sufficient overlap</a:t>
            </a:r>
          </a:p>
        </p:txBody>
      </p:sp>
    </p:spTree>
    <p:extLst>
      <p:ext uri="{BB962C8B-B14F-4D97-AF65-F5344CB8AC3E}">
        <p14:creationId xmlns:p14="http://schemas.microsoft.com/office/powerpoint/2010/main" val="2138627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Three nested vortex-refinement levels</a:t>
            </a:r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val="3522570728"/>
              </p:ext>
            </p:extLst>
          </p:nvPr>
        </p:nvGraphicFramePr>
        <p:xfrm>
          <a:off x="253174" y="1381125"/>
          <a:ext cx="6905625" cy="37147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001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Active cells</a:t>
                      </a:r>
                    </a:p>
                  </a:txBody>
                  <a:tcPr>
                    <a:solidFill>
                      <a:srgbClr val="001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Δ/c</a:t>
                      </a:r>
                    </a:p>
                  </a:txBody>
                  <a:tcPr>
                    <a:solidFill>
                      <a:srgbClr val="001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Downstream extent</a:t>
                      </a:r>
                    </a:p>
                  </a:txBody>
                  <a:tcPr>
                    <a:solidFill>
                      <a:srgbClr val="001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9.0M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Full 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Hydrofoil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10.8M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≤ 0.005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Body fitted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Coarse vortex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300M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2.0c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Medium vortex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46M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0.00125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1.5c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Fine vortex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156M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0.000625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1.25c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37737" y="1381124"/>
            <a:ext cx="4748330" cy="29805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353E4C-EEC8-40FB-8A78-7249FF28DB08}"/>
              </a:ext>
            </a:extLst>
          </p:cNvPr>
          <p:cNvSpPr>
            <a:spLocks noGrp="1"/>
          </p:cNvSpPr>
          <p:nvPr/>
        </p:nvSpPr>
        <p:spPr>
          <a:xfrm>
            <a:off x="7810500" y="4199772"/>
            <a:ext cx="3818763" cy="69336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64"/>
          </a:bodyPr>
          <a:lstStyle/>
          <a:p>
            <a:pPr>
              <a:defRPr sz="1950" b="1">
                <a:solidFill>
                  <a:srgbClr val="009CDE"/>
                </a:solidFill>
                <a:latin typeface="Calibri"/>
                <a:ea typeface="Calibri"/>
                <a:cs typeface="Calibri"/>
              </a:defRPr>
            </a:pPr>
            <a:r>
              <a:rPr b="1" dirty="0">
                <a:solidFill>
                  <a:srgbClr val="009CDE"/>
                </a:solidFill>
                <a:latin typeface="Calibri"/>
                <a:ea typeface="Calibri"/>
                <a:cs typeface="Calibri"/>
              </a:rPr>
              <a:t>Each level halves the cell dimension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7C122D-9A1A-4E70-BFB5-92CBAB93704D}"/>
              </a:ext>
            </a:extLst>
          </p:cNvPr>
          <p:cNvSpPr>
            <a:spLocks noGrp="1"/>
          </p:cNvSpPr>
          <p:nvPr/>
        </p:nvSpPr>
        <p:spPr>
          <a:xfrm>
            <a:off x="7810500" y="5027981"/>
            <a:ext cx="4188341" cy="119908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The finest block follows vortex formation and extends through the experimental measurement region.</a:t>
            </a:r>
          </a:p>
        </p:txBody>
      </p:sp>
    </p:spTree>
    <p:extLst>
      <p:ext uri="{BB962C8B-B14F-4D97-AF65-F5344CB8AC3E}">
        <p14:creationId xmlns:p14="http://schemas.microsoft.com/office/powerpoint/2010/main" val="2078754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dirty="0"/>
              <a:t>Grid design criteria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5235" y="959459"/>
            <a:ext cx="6554168" cy="28248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D9E7FE-9930-4543-B350-9BED7DAFE275}"/>
              </a:ext>
            </a:extLst>
          </p:cNvPr>
          <p:cNvSpPr>
            <a:spLocks noGrp="1"/>
          </p:cNvSpPr>
          <p:nvPr/>
        </p:nvSpPr>
        <p:spPr>
          <a:xfrm>
            <a:off x="460621" y="1384238"/>
            <a:ext cx="4762500" cy="3667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RANS estimates targeted </a:t>
            </a:r>
            <a:r>
              <a:rPr sz="2000" dirty="0" err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λ</a:t>
            </a:r>
            <a:r>
              <a:rPr sz="2000" baseline="-25000" dirty="0" err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2000" dirty="0" err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h</a:t>
            </a:r>
            <a:r>
              <a:rPr sz="2000" baseline="-25000" dirty="0" err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max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≥ 2 near the vortex core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Approximately 60 cells resolve the vortex core at the measurement planes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Hydrofoil y⁺ ≤ 1 supports sublayer-resolved RANS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Excessive surface refinement was rejected after modeled-stress depletion reduced lift by about 20%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AED1D0-84E0-4F8E-AC5D-FF7D77300786}"/>
              </a:ext>
            </a:extLst>
          </p:cNvPr>
          <p:cNvSpPr>
            <a:spLocks noGrp="1"/>
          </p:cNvSpPr>
          <p:nvPr/>
        </p:nvSpPr>
        <p:spPr>
          <a:xfrm>
            <a:off x="741799" y="5498376"/>
            <a:ext cx="11450201" cy="69336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73"/>
          </a:bodyPr>
          <a:lstStyle/>
          <a:p>
            <a:pPr>
              <a:defRPr sz="180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Resolution planning balanced DES shielding, turbulence resolution, and overset-interface placement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C3C461-953E-0F40-6D60-529442D5CC45}"/>
              </a:ext>
            </a:extLst>
          </p:cNvPr>
          <p:cNvGrpSpPr/>
          <p:nvPr/>
        </p:nvGrpSpPr>
        <p:grpSpPr>
          <a:xfrm>
            <a:off x="6221166" y="4829050"/>
            <a:ext cx="4644779" cy="628738"/>
            <a:chOff x="6221166" y="4829050"/>
            <a:chExt cx="4644779" cy="6287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609542-81E1-9DD7-A4F5-54AEC7EB0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51206" y="4829050"/>
              <a:ext cx="1714739" cy="62873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6EE266-055F-2196-DDEB-33F4E3D1030E}"/>
                </a:ext>
              </a:extLst>
            </p:cNvPr>
            <p:cNvSpPr txBox="1"/>
            <p:nvPr/>
          </p:nvSpPr>
          <p:spPr>
            <a:xfrm>
              <a:off x="6221166" y="4958753"/>
              <a:ext cx="32369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longitudinal Taylor microscale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294A3D8-53A5-1B88-F6E6-50BE736B61DF}"/>
              </a:ext>
            </a:extLst>
          </p:cNvPr>
          <p:cNvSpPr txBox="1"/>
          <p:nvPr/>
        </p:nvSpPr>
        <p:spPr>
          <a:xfrm>
            <a:off x="5542979" y="3869749"/>
            <a:ext cx="3143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Initial </a:t>
            </a:r>
            <a:r>
              <a:rPr lang="en-US" b="1" dirty="0"/>
              <a:t>coarse vortex-grid</a:t>
            </a:r>
            <a:r>
              <a:rPr lang="en-US" dirty="0"/>
              <a:t> RANS scoping calculation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F7C9E-0044-DA2A-AEE3-EEF2B12AD959}"/>
              </a:ext>
            </a:extLst>
          </p:cNvPr>
          <p:cNvSpPr txBox="1"/>
          <p:nvPr/>
        </p:nvSpPr>
        <p:spPr>
          <a:xfrm>
            <a:off x="8840160" y="3851669"/>
            <a:ext cx="3143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Final </a:t>
            </a:r>
            <a:r>
              <a:rPr lang="en-US" b="1" dirty="0"/>
              <a:t>refined vortex-grid. </a:t>
            </a:r>
            <a:r>
              <a:rPr lang="en-US" dirty="0"/>
              <a:t>Cell dimension is </a:t>
            </a:r>
            <a:r>
              <a:rPr lang="en-US" b="1" dirty="0"/>
              <a:t>¼ of that in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441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Numerical method and time step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1625" y="1382276"/>
            <a:ext cx="5953125" cy="34743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02EEE0-08F3-49E0-84BF-CBE40DCD5EA4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7th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873BD-97E2-4BD2-92B1-3C29B2627EF5}"/>
              </a:ext>
            </a:extLst>
          </p:cNvPr>
          <p:cNvSpPr>
            <a:spLocks noGrp="1"/>
          </p:cNvSpPr>
          <p:nvPr/>
        </p:nvSpPr>
        <p:spPr>
          <a:xfrm>
            <a:off x="512064" y="1933575"/>
            <a:ext cx="2107311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order spatial accuracy</a:t>
            </a:r>
          </a:p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weighted MUSCL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E6DDB6-ECE8-4DED-A2AB-E393D43A758E}"/>
              </a:ext>
            </a:extLst>
          </p:cNvPr>
          <p:cNvSpPr>
            <a:spLocks noGrp="1"/>
          </p:cNvSpPr>
          <p:nvPr/>
        </p:nvSpPr>
        <p:spPr>
          <a:xfrm>
            <a:off x="2952750" y="1381125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2nd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387F09-170C-447C-8A07-ECC200CEB00F}"/>
              </a:ext>
            </a:extLst>
          </p:cNvPr>
          <p:cNvSpPr>
            <a:spLocks noGrp="1"/>
          </p:cNvSpPr>
          <p:nvPr/>
        </p:nvSpPr>
        <p:spPr>
          <a:xfrm>
            <a:off x="2952750" y="1933575"/>
            <a:ext cx="200025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order backward</a:t>
            </a:r>
          </a:p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time integration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1E8F1D-42DE-4E9C-8A25-6B130E510EA3}"/>
              </a:ext>
            </a:extLst>
          </p:cNvPr>
          <p:cNvSpPr>
            <a:spLocks noGrp="1"/>
          </p:cNvSpPr>
          <p:nvPr/>
        </p:nvSpPr>
        <p:spPr>
          <a:xfrm>
            <a:off x="619125" y="3172206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9830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E98300"/>
                </a:solidFill>
                <a:latin typeface="Calibri"/>
                <a:ea typeface="Calibri"/>
                <a:cs typeface="Calibri"/>
              </a:rPr>
              <a:t>3.24 μs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505AFA-CA01-4609-98F2-0D4B307B9B4A}"/>
              </a:ext>
            </a:extLst>
          </p:cNvPr>
          <p:cNvSpPr>
            <a:spLocks noGrp="1"/>
          </p:cNvSpPr>
          <p:nvPr/>
        </p:nvSpPr>
        <p:spPr>
          <a:xfrm>
            <a:off x="619125" y="3724656"/>
            <a:ext cx="200025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physical time step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A4B332-0E66-4878-8A19-70CD6036F7E4}"/>
              </a:ext>
            </a:extLst>
          </p:cNvPr>
          <p:cNvSpPr>
            <a:spLocks noGrp="1"/>
          </p:cNvSpPr>
          <p:nvPr/>
        </p:nvSpPr>
        <p:spPr>
          <a:xfrm>
            <a:off x="2952750" y="3172206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9830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E98300"/>
                </a:solidFill>
                <a:latin typeface="Calibri"/>
                <a:ea typeface="Calibri"/>
                <a:cs typeface="Calibri"/>
              </a:rPr>
              <a:t>0.55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F4811F-B636-4B45-A6F1-8A020BDF1DF7}"/>
              </a:ext>
            </a:extLst>
          </p:cNvPr>
          <p:cNvSpPr>
            <a:spLocks noGrp="1"/>
          </p:cNvSpPr>
          <p:nvPr/>
        </p:nvSpPr>
        <p:spPr>
          <a:xfrm>
            <a:off x="2952750" y="3724656"/>
            <a:ext cx="200025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mean CFL in</a:t>
            </a:r>
          </a:p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the finest grid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DC8A2-C97D-4B38-BD69-6C1DC5044DED}"/>
              </a:ext>
            </a:extLst>
          </p:cNvPr>
          <p:cNvSpPr>
            <a:spLocks noGrp="1"/>
          </p:cNvSpPr>
          <p:nvPr/>
        </p:nvSpPr>
        <p:spPr>
          <a:xfrm>
            <a:off x="714375" y="4810125"/>
            <a:ext cx="10572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Blended central-upwind differencing inside the Cartesian refinement zones limits numerical dissipation while maintaining stability</a:t>
            </a:r>
          </a:p>
        </p:txBody>
      </p:sp>
    </p:spTree>
    <p:extLst>
      <p:ext uri="{BB962C8B-B14F-4D97-AF65-F5344CB8AC3E}">
        <p14:creationId xmlns:p14="http://schemas.microsoft.com/office/powerpoint/2010/main" val="1727286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Overset interfaces create abrupt CFL changes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09446" y="1143000"/>
            <a:ext cx="6773108" cy="39528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4D5E18-0C8E-44D8-93DE-694780363156}"/>
              </a:ext>
            </a:extLst>
          </p:cNvPr>
          <p:cNvSpPr>
            <a:spLocks noGrp="1"/>
          </p:cNvSpPr>
          <p:nvPr/>
        </p:nvSpPr>
        <p:spPr>
          <a:xfrm>
            <a:off x="1285875" y="5191125"/>
            <a:ext cx="4333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2:1 spacing changes produce visible contour steps at overset boundaries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29B43-A749-4A25-B26E-7DEFAF555AC3}"/>
              </a:ext>
            </a:extLst>
          </p:cNvPr>
          <p:cNvSpPr>
            <a:spLocks noGrp="1"/>
          </p:cNvSpPr>
          <p:nvPr/>
        </p:nvSpPr>
        <p:spPr>
          <a:xfrm>
            <a:off x="6572250" y="5191125"/>
            <a:ext cx="4333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The chosen </a:t>
            </a:r>
            <a:r>
              <a:rPr sz="2000" b="1" dirty="0" err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Δt</a:t>
            </a:r>
            <a:r>
              <a:rPr sz="20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 keeps CFL below unity, including the finest vortex block</a:t>
            </a:r>
          </a:p>
        </p:txBody>
      </p:sp>
    </p:spTree>
    <p:extLst>
      <p:ext uri="{BB962C8B-B14F-4D97-AF65-F5344CB8AC3E}">
        <p14:creationId xmlns:p14="http://schemas.microsoft.com/office/powerpoint/2010/main" val="1172937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Resolved turbulence across refinement interfaces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37727" y="972159"/>
            <a:ext cx="6716544" cy="22383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39243" y="3762375"/>
            <a:ext cx="6513513" cy="2095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BAEFF5-0A0C-4F58-B39B-6408AE20CC2E}"/>
              </a:ext>
            </a:extLst>
          </p:cNvPr>
          <p:cNvSpPr>
            <a:spLocks noGrp="1"/>
          </p:cNvSpPr>
          <p:nvPr/>
        </p:nvSpPr>
        <p:spPr>
          <a:xfrm>
            <a:off x="866394" y="3120047"/>
            <a:ext cx="5296662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009CDE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9CDE"/>
                </a:solidFill>
                <a:latin typeface="Calibri"/>
                <a:ea typeface="Calibri"/>
                <a:cs typeface="Calibri"/>
              </a:rPr>
              <a:t>QTKE steps reveal the refinement boundaries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C0CA60-B910-4705-9284-8595DAF27699}"/>
              </a:ext>
            </a:extLst>
          </p:cNvPr>
          <p:cNvSpPr>
            <a:spLocks noGrp="1"/>
          </p:cNvSpPr>
          <p:nvPr/>
        </p:nvSpPr>
        <p:spPr>
          <a:xfrm>
            <a:off x="5660136" y="5815051"/>
            <a:ext cx="588073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009CDE"/>
                </a:solidFill>
                <a:latin typeface="Calibri"/>
                <a:ea typeface="Calibri"/>
                <a:cs typeface="Calibri"/>
              </a:defRPr>
            </a:pPr>
            <a:r>
              <a:rPr sz="2000" b="1" dirty="0" err="1">
                <a:solidFill>
                  <a:srgbClr val="009CDE"/>
                </a:solidFill>
                <a:latin typeface="Calibri"/>
                <a:ea typeface="Calibri"/>
                <a:cs typeface="Calibri"/>
              </a:rPr>
              <a:t>ν</a:t>
            </a:r>
            <a:r>
              <a:rPr lang="en-US" sz="2000" b="1" baseline="-25000" dirty="0" err="1">
                <a:solidFill>
                  <a:srgbClr val="009CDE"/>
                </a:solidFill>
                <a:latin typeface="Calibri"/>
                <a:ea typeface="Calibri"/>
                <a:cs typeface="Calibri"/>
              </a:rPr>
              <a:t>t</a:t>
            </a:r>
            <a:r>
              <a:rPr sz="2000" b="1" dirty="0">
                <a:solidFill>
                  <a:srgbClr val="009CDE"/>
                </a:solidFill>
                <a:latin typeface="Calibri"/>
                <a:ea typeface="Calibri"/>
                <a:cs typeface="Calibri"/>
              </a:rPr>
              <a:t>/ν remains low inside the resolved vortex core</a:t>
            </a:r>
          </a:p>
        </p:txBody>
      </p:sp>
    </p:spTree>
    <p:extLst>
      <p:ext uri="{BB962C8B-B14F-4D97-AF65-F5344CB8AC3E}">
        <p14:creationId xmlns:p14="http://schemas.microsoft.com/office/powerpoint/2010/main" val="880900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Vortex resolution and solution quality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19625" y="1918073"/>
            <a:ext cx="6762750" cy="21646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04692F-B183-44FD-9CAF-4B14F6FBE8C9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56–68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8690-A0F3-4E50-BA9C-70C5F4F2929E}"/>
              </a:ext>
            </a:extLst>
          </p:cNvPr>
          <p:cNvSpPr>
            <a:spLocks noGrp="1"/>
          </p:cNvSpPr>
          <p:nvPr/>
        </p:nvSpPr>
        <p:spPr>
          <a:xfrm>
            <a:off x="619124" y="2028825"/>
            <a:ext cx="3687699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cells across the mean vortex core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0FB7F5-3914-421F-B319-4907782B26B2}"/>
              </a:ext>
            </a:extLst>
          </p:cNvPr>
          <p:cNvSpPr>
            <a:spLocks noGrp="1"/>
          </p:cNvSpPr>
          <p:nvPr/>
        </p:nvSpPr>
        <p:spPr>
          <a:xfrm>
            <a:off x="619125" y="290512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9830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E98300"/>
                </a:solidFill>
                <a:latin typeface="Calibri"/>
                <a:ea typeface="Calibri"/>
                <a:cs typeface="Calibri"/>
              </a:rPr>
              <a:t>3–9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E7D94-38EF-4449-9FE3-734E75438AD9}"/>
              </a:ext>
            </a:extLst>
          </p:cNvPr>
          <p:cNvSpPr>
            <a:spLocks noGrp="1"/>
          </p:cNvSpPr>
          <p:nvPr/>
        </p:nvSpPr>
        <p:spPr>
          <a:xfrm>
            <a:off x="619125" y="3457575"/>
            <a:ext cx="3687698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Δ/η near the vortex-core edge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F97607-5EE4-47F6-B838-F05F102283B3}"/>
              </a:ext>
            </a:extLst>
          </p:cNvPr>
          <p:cNvSpPr>
            <a:spLocks noGrp="1"/>
          </p:cNvSpPr>
          <p:nvPr/>
        </p:nvSpPr>
        <p:spPr>
          <a:xfrm>
            <a:off x="619125" y="43338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9830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E98300"/>
                </a:solidFill>
                <a:latin typeface="Calibri"/>
                <a:ea typeface="Calibri"/>
                <a:cs typeface="Calibri"/>
              </a:rPr>
              <a:t>2.6–4.3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C2A62A-75AF-4839-B5B1-2732DD891547}"/>
              </a:ext>
            </a:extLst>
          </p:cNvPr>
          <p:cNvSpPr>
            <a:spLocks noGrp="1"/>
          </p:cNvSpPr>
          <p:nvPr/>
        </p:nvSpPr>
        <p:spPr>
          <a:xfrm>
            <a:off x="619125" y="488632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peak </a:t>
            </a:r>
            <a:r>
              <a:rPr sz="2000" b="0" dirty="0" err="1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ν</a:t>
            </a:r>
            <a:r>
              <a:rPr lang="en-US" sz="2000" b="0" baseline="-25000" dirty="0" err="1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t</a:t>
            </a: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/ν at the ensemble vortex center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5F077F-5C55-439F-BF42-7ECD6C6760CD}"/>
              </a:ext>
            </a:extLst>
          </p:cNvPr>
          <p:cNvSpPr>
            <a:spLocks noGrp="1"/>
          </p:cNvSpPr>
          <p:nvPr/>
        </p:nvSpPr>
        <p:spPr>
          <a:xfrm>
            <a:off x="4905375" y="5000625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795" lnSpcReduction="10000"/>
          </a:bodyPr>
          <a:lstStyle/>
          <a:p>
            <a:pPr>
              <a:defRPr sz="19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195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The simulation resolves the large energetic motions and models the smallest scales</a:t>
            </a:r>
          </a:p>
        </p:txBody>
      </p:sp>
    </p:spTree>
    <p:extLst>
      <p:ext uri="{BB962C8B-B14F-4D97-AF65-F5344CB8AC3E}">
        <p14:creationId xmlns:p14="http://schemas.microsoft.com/office/powerpoint/2010/main" val="1866343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Validation and cavitation-inception evidence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1847"/>
          <a:stretch>
            <a:fillRect/>
          </a:stretch>
        </p:blipFill>
        <p:spPr>
          <a:xfrm>
            <a:off x="523875" y="1374602"/>
            <a:ext cx="6965061" cy="42516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223DC5-616B-4D20-A130-46D1343D67C1}"/>
              </a:ext>
            </a:extLst>
          </p:cNvPr>
          <p:cNvSpPr>
            <a:spLocks noGrp="1"/>
          </p:cNvSpPr>
          <p:nvPr/>
        </p:nvSpPr>
        <p:spPr>
          <a:xfrm>
            <a:off x="8048625" y="891159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9830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E98300"/>
                </a:solidFill>
                <a:latin typeface="Calibri"/>
                <a:ea typeface="Calibri"/>
                <a:cs typeface="Calibri"/>
              </a:rPr>
              <a:t>3.3%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08EBE-5C83-4A3B-A541-4DAA4E1D7488}"/>
              </a:ext>
            </a:extLst>
          </p:cNvPr>
          <p:cNvSpPr>
            <a:spLocks noGrp="1"/>
          </p:cNvSpPr>
          <p:nvPr/>
        </p:nvSpPr>
        <p:spPr>
          <a:xfrm>
            <a:off x="8048625" y="1443609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difference between predicted and measured mean lift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DCBC35-CF8C-494F-81B7-7E7AFAB1099C}"/>
              </a:ext>
            </a:extLst>
          </p:cNvPr>
          <p:cNvSpPr>
            <a:spLocks noGrp="1"/>
          </p:cNvSpPr>
          <p:nvPr/>
        </p:nvSpPr>
        <p:spPr>
          <a:xfrm>
            <a:off x="8048625" y="2415159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4.4–4.6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C15964-B0C8-453B-B4F1-CB13AF26A679}"/>
              </a:ext>
            </a:extLst>
          </p:cNvPr>
          <p:cNvSpPr>
            <a:spLocks noGrp="1"/>
          </p:cNvSpPr>
          <p:nvPr/>
        </p:nvSpPr>
        <p:spPr>
          <a:xfrm>
            <a:off x="8048625" y="2967609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5B6573"/>
                </a:solidFill>
                <a:latin typeface="Calibri"/>
                <a:ea typeface="Calibri"/>
                <a:cs typeface="Calibri"/>
              </a:rPr>
              <a:t>measured acoustic inception cavitation index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13DDBF-34DF-4602-B809-2FF1D58B15DF}"/>
              </a:ext>
            </a:extLst>
          </p:cNvPr>
          <p:cNvSpPr>
            <a:spLocks noGrp="1"/>
          </p:cNvSpPr>
          <p:nvPr/>
        </p:nvSpPr>
        <p:spPr>
          <a:xfrm>
            <a:off x="7858125" y="4524375"/>
            <a:ext cx="4074795" cy="1285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The IDDES reproduces the principal vortex topology and downstream evolution, then generates intermittent pressure minima consistent with measured inception limits.</a:t>
            </a:r>
          </a:p>
        </p:txBody>
      </p:sp>
    </p:spTree>
    <p:extLst>
      <p:ext uri="{BB962C8B-B14F-4D97-AF65-F5344CB8AC3E}">
        <p14:creationId xmlns:p14="http://schemas.microsoft.com/office/powerpoint/2010/main" val="1753749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6">
            <a:extLst>
              <a:ext uri="{FF2B5EF4-FFF2-40B4-BE49-F238E27FC236}">
                <a16:creationId xmlns:a16="http://schemas.microsoft.com/office/drawing/2014/main" id="{CE9B5B6C-C033-7281-5CD3-F26ED20106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Effectiveness and remaining 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BD9BD3-BA85-4484-BD62-1EA638E5136F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What the overset strategy enabled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789B8-8036-41B5-860D-1B8988730A4B}"/>
              </a:ext>
            </a:extLst>
          </p:cNvPr>
          <p:cNvSpPr>
            <a:spLocks noGrp="1"/>
          </p:cNvSpPr>
          <p:nvPr/>
        </p:nvSpPr>
        <p:spPr>
          <a:xfrm>
            <a:off x="904875" y="2047875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LES-level resolution in the vortex without global tunnel refinement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High-quality Cartesian cells through vortex roll-up and the SPIV planes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 practical 522-million-active-cell calculation at experimental Reynolds number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E21B80-13EF-4F46-9062-AA7DB945C498}"/>
              </a:ext>
            </a:extLst>
          </p:cNvPr>
          <p:cNvSpPr>
            <a:spLocks noGrp="1"/>
          </p:cNvSpPr>
          <p:nvPr/>
        </p:nvSpPr>
        <p:spPr>
          <a:xfrm>
            <a:off x="6429375" y="138112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What still requires care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029A5A-25B4-4C94-BD7A-86FC91777EA7}"/>
              </a:ext>
            </a:extLst>
          </p:cNvPr>
          <p:cNvSpPr>
            <a:spLocks noGrp="1"/>
          </p:cNvSpPr>
          <p:nvPr/>
        </p:nvSpPr>
        <p:spPr>
          <a:xfrm>
            <a:off x="6572250" y="2047875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Interpolation and abrupt 2:1 changes leave signatures in CFL and resolved TKE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IDDES underpredicts downstream turbulence and vortex wandering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Further core refinement would increase both cell count and time-step cost substantially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F1E064-3F31-40B4-9965-7B58BCB0E227}"/>
              </a:ext>
            </a:extLst>
          </p:cNvPr>
          <p:cNvSpPr>
            <a:spLocks noGrp="1"/>
          </p:cNvSpPr>
          <p:nvPr/>
        </p:nvSpPr>
        <p:spPr>
          <a:xfrm>
            <a:off x="1428750" y="5381625"/>
            <a:ext cx="9334500" cy="590550"/>
          </a:xfrm>
          <a:prstGeom prst="roundRect">
            <a:avLst>
              <a:gd name="adj" fmla="val 12903"/>
            </a:avLst>
          </a:prstGeom>
          <a:solidFill>
            <a:srgbClr val="001E44"/>
          </a:solidFill>
          <a:ln w="0">
            <a:solidFill>
              <a:srgbClr val="001E44"/>
            </a:solidFill>
          </a:ln>
        </p:spPr>
        <p:txBody>
          <a:bodyPr anchor="ctr">
            <a:normAutofit fontScale="98062"/>
          </a:bodyPr>
          <a:lstStyle/>
          <a:p>
            <a: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Overset refinement reduced cost without removing the need to quantify interface effects</a:t>
            </a:r>
          </a:p>
        </p:txBody>
      </p:sp>
    </p:spTree>
    <p:extLst>
      <p:ext uri="{BB962C8B-B14F-4D97-AF65-F5344CB8AC3E}">
        <p14:creationId xmlns:p14="http://schemas.microsoft.com/office/powerpoint/2010/main" val="1506615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909EE7-9D85-C288-5FE3-3AB18160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15961-BA53-49A3-80BB-717C1067C943}"/>
              </a:ext>
            </a:extLst>
          </p:cNvPr>
          <p:cNvSpPr>
            <a:spLocks noGrp="1"/>
          </p:cNvSpPr>
          <p:nvPr/>
        </p:nvSpPr>
        <p:spPr>
          <a:xfrm>
            <a:off x="952500" y="1333500"/>
            <a:ext cx="10096500" cy="433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Overset topology separated near-wall RANS requirements from vortex-resolving LES requirements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SUGGAR++ assembled the composite grid and produced high-order domain connectivity information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 err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DiRTlib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applied the connectivity and transferred dependent variables during the solution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Nested 2:1 Cartesian refinement resolved the vortex core while limiting global cost</a:t>
            </a:r>
          </a:p>
          <a:p>
            <a:pPr marL="254000" indent="-127000">
              <a:spcAft>
                <a:spcPts val="1000"/>
              </a:spcAft>
              <a:buClr>
                <a:srgbClr val="C00000"/>
              </a:buClr>
              <a:buChar char="•"/>
              <a:defRPr sz="18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Validation supports the approach, while interface effects and downstream turbulence remain active concerns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DE16EC-F14D-407A-B37D-B30E55165367}"/>
              </a:ext>
            </a:extLst>
          </p:cNvPr>
          <p:cNvSpPr>
            <a:spLocks noGrp="1"/>
          </p:cNvSpPr>
          <p:nvPr/>
        </p:nvSpPr>
        <p:spPr>
          <a:xfrm>
            <a:off x="2002536" y="5294376"/>
            <a:ext cx="8028432" cy="83972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35"/>
          </a:bodyPr>
          <a:lstStyle/>
          <a:p>
            <a:pPr algn="ctr">
              <a:defRPr sz="1725" b="1">
                <a:solidFill>
                  <a:srgbClr val="001E44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1E44"/>
                </a:solidFill>
                <a:latin typeface="Calibri"/>
                <a:ea typeface="Calibri"/>
                <a:cs typeface="Calibri"/>
              </a:rPr>
              <a:t>Embedded overset refinement made a scale-resolving cavitation-inception calculation feasible at laboratory Reynolds number.</a:t>
            </a:r>
          </a:p>
        </p:txBody>
      </p:sp>
    </p:spTree>
    <p:extLst>
      <p:ext uri="{BB962C8B-B14F-4D97-AF65-F5344CB8AC3E}">
        <p14:creationId xmlns:p14="http://schemas.microsoft.com/office/powerpoint/2010/main" val="1514326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 Palette">
      <a:dk1>
        <a:srgbClr val="000000"/>
      </a:dk1>
      <a:lt1>
        <a:srgbClr val="FFFFFF"/>
      </a:lt1>
      <a:dk2>
        <a:srgbClr val="041E41"/>
      </a:dk2>
      <a:lt2>
        <a:srgbClr val="B8D6E6"/>
      </a:lt2>
      <a:accent1>
        <a:srgbClr val="009CDE"/>
      </a:accent1>
      <a:accent2>
        <a:srgbClr val="1E407C"/>
      </a:accent2>
      <a:accent3>
        <a:srgbClr val="A3AAAD"/>
      </a:accent3>
      <a:accent4>
        <a:srgbClr val="83B1D4"/>
      </a:accent4>
      <a:accent5>
        <a:srgbClr val="3EA39E"/>
      </a:accent5>
      <a:accent6>
        <a:srgbClr val="305470"/>
      </a:accent6>
      <a:hlink>
        <a:srgbClr val="64B8B6"/>
      </a:hlink>
      <a:folHlink>
        <a:srgbClr val="7D4C7C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 Palet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PA Palette">
      <a:dk1>
        <a:srgbClr val="000000"/>
      </a:dk1>
      <a:lt1>
        <a:srgbClr val="FFFFFF"/>
      </a:lt1>
      <a:dk2>
        <a:srgbClr val="041E41"/>
      </a:dk2>
      <a:lt2>
        <a:srgbClr val="B8D6E6"/>
      </a:lt2>
      <a:accent1>
        <a:srgbClr val="009CDE"/>
      </a:accent1>
      <a:accent2>
        <a:srgbClr val="1E407C"/>
      </a:accent2>
      <a:accent3>
        <a:srgbClr val="A3AAAD"/>
      </a:accent3>
      <a:accent4>
        <a:srgbClr val="83B1D4"/>
      </a:accent4>
      <a:accent5>
        <a:srgbClr val="3EA39E"/>
      </a:accent5>
      <a:accent6>
        <a:srgbClr val="305470"/>
      </a:accent6>
      <a:hlink>
        <a:srgbClr val="64B8B6"/>
      </a:hlink>
      <a:folHlink>
        <a:srgbClr val="7D4C7C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 Palet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1603</Words>
  <Application>Microsoft Office PowerPoint</Application>
  <DocSecurity>0</DocSecurity>
  <PresentationFormat>Widescreen</PresentationFormat>
  <Paragraphs>183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Overview</vt:lpstr>
      <vt:lpstr>Tip-vortex cavitation inception</vt:lpstr>
      <vt:lpstr>Why embedded overset refinement</vt:lpstr>
      <vt:lpstr>IDDES and overset division of labor</vt:lpstr>
      <vt:lpstr>Composite-grid architecture</vt:lpstr>
      <vt:lpstr>Overset assembly</vt:lpstr>
      <vt:lpstr>SUGGAR++ constructs the domain connectivity</vt:lpstr>
      <vt:lpstr>DiRTlib executes intergrid interpolation</vt:lpstr>
      <vt:lpstr>Static overset workflow used in the IDDES</vt:lpstr>
      <vt:lpstr>Trimmed composite grid</vt:lpstr>
      <vt:lpstr>Three nested vortex-refinement levels</vt:lpstr>
      <vt:lpstr>Grid design criteria</vt:lpstr>
      <vt:lpstr>Numerical method and time step</vt:lpstr>
      <vt:lpstr>Overset interfaces create abrupt CFL changes</vt:lpstr>
      <vt:lpstr>Resolved turbulence across refinement interfaces</vt:lpstr>
      <vt:lpstr>Vortex resolution and solution quality</vt:lpstr>
      <vt:lpstr>Validation and cavitation-inception evidence</vt:lpstr>
      <vt:lpstr>Effectiveness and remaining limitations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Kunz, Robert Francis</cp:lastModifiedBy>
  <cp:revision>2</cp:revision>
  <dcterms:created xsi:type="dcterms:W3CDTF">2026-09-22T18:25:08Z</dcterms:created>
  <dcterms:modified xsi:type="dcterms:W3CDTF">2026-09-28T17:23:50Z</dcterms:modified>
</cp:coreProperties>
</file>